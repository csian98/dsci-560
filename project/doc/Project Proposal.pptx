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7"/>
  </p:notesMasterIdLst>
  <p:sldIdLst>
    <p:sldId id="256" r:id="rId2"/>
    <p:sldId id="257" r:id="rId3"/>
    <p:sldId id="258" r:id="rId4"/>
    <p:sldId id="259" r:id="rId5"/>
    <p:sldId id="260" r:id="rId6"/>
  </p:sldIdLst>
  <p:sldSz cx="9144000" cy="5143500" type="screen16x9"/>
  <p:notesSz cx="6858000" cy="9144000"/>
  <p:embeddedFontLst>
    <p:embeddedFont>
      <p:font typeface="Arimo" panose="020B0604020202020204" pitchFamily="34" charset="0"/>
      <p:regular r:id="rId8"/>
      <p:bold r:id="rId9"/>
      <p:italic r:id="rId10"/>
      <p:boldItalic r:id="rId11"/>
    </p:embeddedFont>
    <p:embeddedFont>
      <p:font typeface="Georgia" panose="02040502050405020303" pitchFamily="18" charset="0"/>
      <p:regular r:id="rId12"/>
      <p:bold r:id="rId13"/>
      <p:italic r:id="rId14"/>
      <p:boldItalic r:id="rId15"/>
    </p:embeddedFont>
    <p:embeddedFont>
      <p:font typeface="Lato" panose="020F0502020204030203" pitchFamily="34" charset="0"/>
      <p:regular r:id="rId16"/>
      <p:bold r:id="rId17"/>
      <p:italic r:id="rId18"/>
      <p:boldItalic r:id="rId19"/>
    </p:embeddedFont>
    <p:embeddedFont>
      <p:font typeface="Raleway" pitchFamily="2" charset="77"/>
      <p:regular r:id="rId20"/>
      <p:bold r:id="rId21"/>
      <p:italic r:id="rId22"/>
      <p:boldItalic r:id="rId2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552"/>
    <p:restoredTop sz="96332"/>
  </p:normalViewPr>
  <p:slideViewPr>
    <p:cSldViewPr snapToGrid="0">
      <p:cViewPr varScale="1">
        <p:scale>
          <a:sx n="171" d="100"/>
          <a:sy n="171" d="100"/>
        </p:scale>
        <p:origin x="400" y="16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font" Target="fonts/font1.fntdata"/><Relationship Id="rId13" Type="http://schemas.openxmlformats.org/officeDocument/2006/relationships/font" Target="fonts/font6.fntdata"/><Relationship Id="rId18" Type="http://schemas.openxmlformats.org/officeDocument/2006/relationships/font" Target="fonts/font11.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14.fntdata"/><Relationship Id="rId7" Type="http://schemas.openxmlformats.org/officeDocument/2006/relationships/notesMaster" Target="notesMasters/notesMaster1.xml"/><Relationship Id="rId12" Type="http://schemas.openxmlformats.org/officeDocument/2006/relationships/font" Target="fonts/font5.fntdata"/><Relationship Id="rId17" Type="http://schemas.openxmlformats.org/officeDocument/2006/relationships/font" Target="fonts/font10.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9.fntdata"/><Relationship Id="rId20" Type="http://schemas.openxmlformats.org/officeDocument/2006/relationships/font" Target="fonts/font1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4.fntdata"/><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font" Target="fonts/font8.fntdata"/><Relationship Id="rId23" Type="http://schemas.openxmlformats.org/officeDocument/2006/relationships/font" Target="fonts/font16.fntdata"/><Relationship Id="rId10" Type="http://schemas.openxmlformats.org/officeDocument/2006/relationships/font" Target="fonts/font3.fntdata"/><Relationship Id="rId19" Type="http://schemas.openxmlformats.org/officeDocument/2006/relationships/font" Target="fonts/font12.fntdata"/><Relationship Id="rId4" Type="http://schemas.openxmlformats.org/officeDocument/2006/relationships/slide" Target="slides/slide3.xml"/><Relationship Id="rId9" Type="http://schemas.openxmlformats.org/officeDocument/2006/relationships/font" Target="fonts/font2.fntdata"/><Relationship Id="rId14" Type="http://schemas.openxmlformats.org/officeDocument/2006/relationships/font" Target="fonts/font7.fntdata"/><Relationship Id="rId22" Type="http://schemas.openxmlformats.org/officeDocument/2006/relationships/font" Target="fonts/font15.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3da6a8b5d02_2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3da6a8b5d02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a:t>Startups seeking funding today have to coordinate with multiple venture capital firms across different venues. However, this process is highly fragmented and inefficient.</a:t>
            </a:r>
            <a:endParaRPr/>
          </a:p>
          <a:p>
            <a:pPr marL="0" lvl="0" indent="0" algn="l" rtl="0">
              <a:lnSpc>
                <a:spcPct val="115000"/>
              </a:lnSpc>
              <a:spcBef>
                <a:spcPts val="1200"/>
              </a:spcBef>
              <a:spcAft>
                <a:spcPts val="0"/>
              </a:spcAft>
              <a:buClr>
                <a:schemeClr val="dk1"/>
              </a:buClr>
              <a:buSzPts val="1100"/>
              <a:buFont typeface="Arial"/>
              <a:buNone/>
            </a:pPr>
            <a:r>
              <a:rPr lang="en"/>
              <a:t>First, there is no centralized platform. Communication and data are scattered across emails, spreadsheets, and tools like Notion, making it difficult to manage and to track interactions effectively.</a:t>
            </a:r>
            <a:endParaRPr/>
          </a:p>
          <a:p>
            <a:pPr marL="0" lvl="0" indent="0" algn="l" rtl="0">
              <a:lnSpc>
                <a:spcPct val="115000"/>
              </a:lnSpc>
              <a:spcBef>
                <a:spcPts val="1200"/>
              </a:spcBef>
              <a:spcAft>
                <a:spcPts val="0"/>
              </a:spcAft>
              <a:buClr>
                <a:schemeClr val="dk1"/>
              </a:buClr>
              <a:buSzPts val="1100"/>
              <a:buFont typeface="Arial"/>
              <a:buNone/>
            </a:pPr>
            <a:r>
              <a:rPr lang="en"/>
              <a:t>Second, the process is very time-inefficient for VCs. Each firm needs to review hundreds, sometimes thousands, of startups, which makes thorough evaluation challenging.</a:t>
            </a:r>
            <a:endParaRPr/>
          </a:p>
          <a:p>
            <a:pPr marL="0" lvl="0" indent="0" algn="l" rtl="0">
              <a:lnSpc>
                <a:spcPct val="115000"/>
              </a:lnSpc>
              <a:spcBef>
                <a:spcPts val="1200"/>
              </a:spcBef>
              <a:spcAft>
                <a:spcPts val="0"/>
              </a:spcAft>
              <a:buClr>
                <a:schemeClr val="dk1"/>
              </a:buClr>
              <a:buSzPts val="1100"/>
              <a:buFont typeface="Arial"/>
              <a:buNone/>
            </a:pPr>
            <a:r>
              <a:rPr lang="en"/>
              <a:t>Third, the process is opaque for founders. They often receive little to no feedback and have no visibility into where they stand in an investor’s decision pipeline. This creates uncertainty and makes it difficult for them to improve or plan their next steps.</a:t>
            </a:r>
            <a:endParaRPr/>
          </a:p>
          <a:p>
            <a:pPr marL="0" lvl="0" indent="0" algn="l" rtl="0">
              <a:lnSpc>
                <a:spcPct val="115000"/>
              </a:lnSpc>
              <a:spcBef>
                <a:spcPts val="1200"/>
              </a:spcBef>
              <a:spcAft>
                <a:spcPts val="1200"/>
              </a:spcAft>
              <a:buNone/>
            </a:pPr>
            <a:r>
              <a:rPr lang="en"/>
              <a:t>Finally, knowledge is not effectively reused. Most deal-related information exists in unstructured formats, leading VCs to rely heavily on intuition rather than systematic insights.</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3da6a8b5d02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3da6a8b5d0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a:t>These challenges are also supported by existing research. For example, prior work highlights that reducing information asymmetry benefits both startups and investors. Other studies show that VC firms often receive hundreds or even thousands of business plans. As a result, they don’t have enough time to do due diligence which makes the investment performance more volatile.</a:t>
            </a:r>
            <a:endParaRPr/>
          </a:p>
          <a:p>
            <a:pPr marL="0" lvl="0" indent="0" algn="l" rtl="0">
              <a:lnSpc>
                <a:spcPct val="115000"/>
              </a:lnSpc>
              <a:spcBef>
                <a:spcPts val="1200"/>
              </a:spcBef>
              <a:spcAft>
                <a:spcPts val="1200"/>
              </a:spcAft>
              <a:buNone/>
            </a:pPr>
            <a:r>
              <a:rPr lang="en"/>
              <a:t>Together, these findings highlight a clear need for a more structured, efficient, and transparent system for VC–founder interaction</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3da6a8b5d02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3da6a8b5d02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3da6a8b5d02_5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3da6a8b5d02_5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We are currently planning a system with three main features.</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 dirty="0"/>
              <a:t>First, it will provide a chat system that makes communication easy between VCs and Startups. (also might think communication between VCs and </a:t>
            </a:r>
            <a:r>
              <a:rPr lang="en" dirty="0" err="1"/>
              <a:t>Investers</a:t>
            </a:r>
            <a:r>
              <a:rPr lang="en"/>
              <a:t>)</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 dirty="0"/>
              <a:t>Second, it will have AI-powered management of startup data, including documents, reports, and quarterly updates for many startups.</a:t>
            </a:r>
            <a:endParaRPr dirty="0"/>
          </a:p>
          <a:p>
            <a:pPr marL="0" lvl="0" indent="0" algn="l" rtl="0">
              <a:spcBef>
                <a:spcPts val="0"/>
              </a:spcBef>
              <a:spcAft>
                <a:spcPts val="0"/>
              </a:spcAft>
              <a:buNone/>
            </a:pPr>
            <a:r>
              <a:rPr lang="en" dirty="0"/>
              <a:t>The system will also monitor each startup’s database in real time and detect anomalies, such as a sudden increase in burn rate.</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 dirty="0"/>
              <a:t>Third, it will use its database and the internet to help find new startups, explore opportunities, review follow-on investments, and plan exit strategies, using a retrieval-augmented generation, or RAG, approach.</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 dirty="0"/>
              <a:t>These three features work together to make VC portfolio management faster, smarter, and more efficient.</a:t>
            </a: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2"/>
        </a:solidFill>
        <a:effectLst/>
      </p:bgPr>
    </p:bg>
    <p:spTree>
      <p:nvGrpSpPr>
        <p:cNvPr id="1"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 name="Google Shape;14;p2"/>
          <p:cNvSpPr txBox="1">
            <a:spLocks noGrp="1"/>
          </p:cNvSpPr>
          <p:nvPr>
            <p:ph type="ctrTitle"/>
          </p:nvPr>
        </p:nvSpPr>
        <p:spPr>
          <a:xfrm>
            <a:off x="729450" y="1322450"/>
            <a:ext cx="7688100" cy="1664700"/>
          </a:xfrm>
          <a:prstGeom prst="rect">
            <a:avLst/>
          </a:prstGeom>
        </p:spPr>
        <p:txBody>
          <a:bodyPr spcFirstLastPara="1" wrap="square" lIns="91425" tIns="91425" rIns="91425" bIns="91425" anchor="t" anchorCtr="0">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a:endParaRPr/>
          </a:p>
        </p:txBody>
      </p:sp>
      <p:sp>
        <p:nvSpPr>
          <p:cNvPr id="15" name="Google Shape;15;p2"/>
          <p:cNvSpPr txBox="1">
            <a:spLocks noGrp="1"/>
          </p:cNvSpPr>
          <p:nvPr>
            <p:ph type="subTitle" idx="1"/>
          </p:nvPr>
        </p:nvSpPr>
        <p:spPr>
          <a:xfrm>
            <a:off x="729627" y="3172900"/>
            <a:ext cx="7688100" cy="5412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16" name="Google Shape;16;p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 name="Google Shape;21;p3"/>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22" name="Google Shape;22;p3"/>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 name="Google Shape;28;p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29" name="Google Shape;29;p4"/>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0" name="Google Shape;30;p4"/>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 name="Google Shape;36;p5"/>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37" name="Google Shape;37;p5"/>
          <p:cNvSpPr txBox="1">
            <a:spLocks noGrp="1"/>
          </p:cNvSpPr>
          <p:nvPr>
            <p:ph type="body" idx="1"/>
          </p:nvPr>
        </p:nvSpPr>
        <p:spPr>
          <a:xfrm>
            <a:off x="729325" y="2078875"/>
            <a:ext cx="37743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8" name="Google Shape;38;p5"/>
          <p:cNvSpPr txBox="1">
            <a:spLocks noGrp="1"/>
          </p:cNvSpPr>
          <p:nvPr>
            <p:ph type="body" idx="2"/>
          </p:nvPr>
        </p:nvSpPr>
        <p:spPr>
          <a:xfrm>
            <a:off x="4643604" y="2078875"/>
            <a:ext cx="37743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9" name="Google Shape;39;p5"/>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 name="Google Shape;45;p6"/>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46" name="Google Shape;46;p6"/>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 name="Google Shape;52;p7"/>
          <p:cNvSpPr txBox="1">
            <a:spLocks noGrp="1"/>
          </p:cNvSpPr>
          <p:nvPr>
            <p:ph type="title"/>
          </p:nvPr>
        </p:nvSpPr>
        <p:spPr>
          <a:xfrm>
            <a:off x="730000" y="1318650"/>
            <a:ext cx="3300900" cy="13815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53" name="Google Shape;53;p7"/>
          <p:cNvSpPr txBox="1">
            <a:spLocks noGrp="1"/>
          </p:cNvSpPr>
          <p:nvPr>
            <p:ph type="body" idx="1"/>
          </p:nvPr>
        </p:nvSpPr>
        <p:spPr>
          <a:xfrm>
            <a:off x="721225" y="2781725"/>
            <a:ext cx="3300900" cy="1597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54" name="Google Shape;54;p7"/>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9" name="Google Shape;59;p8"/>
          <p:cNvSpPr txBox="1">
            <a:spLocks noGrp="1"/>
          </p:cNvSpPr>
          <p:nvPr>
            <p:ph type="title"/>
          </p:nvPr>
        </p:nvSpPr>
        <p:spPr>
          <a:xfrm>
            <a:off x="729450" y="864300"/>
            <a:ext cx="7021200" cy="29850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60" name="Google Shape;60;p8"/>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 name="Google Shape;66;p9"/>
          <p:cNvSpPr txBox="1">
            <a:spLocks noGrp="1"/>
          </p:cNvSpPr>
          <p:nvPr>
            <p:ph type="title"/>
          </p:nvPr>
        </p:nvSpPr>
        <p:spPr>
          <a:xfrm>
            <a:off x="730000" y="1318650"/>
            <a:ext cx="3300900" cy="1687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67" name="Google Shape;67;p9"/>
          <p:cNvSpPr txBox="1">
            <a:spLocks noGrp="1"/>
          </p:cNvSpPr>
          <p:nvPr>
            <p:ph type="subTitle" idx="1"/>
          </p:nvPr>
        </p:nvSpPr>
        <p:spPr>
          <a:xfrm>
            <a:off x="724950" y="3161525"/>
            <a:ext cx="3300900" cy="7590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68" name="Google Shape;68;p9"/>
          <p:cNvSpPr txBox="1">
            <a:spLocks noGrp="1"/>
          </p:cNvSpPr>
          <p:nvPr>
            <p:ph type="body" idx="2"/>
          </p:nvPr>
        </p:nvSpPr>
        <p:spPr>
          <a:xfrm>
            <a:off x="5174225" y="1352625"/>
            <a:ext cx="3374400" cy="3025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69" name="Google Shape;69;p9"/>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0"/>
        <p:cNvGrpSpPr/>
        <p:nvPr/>
      </p:nvGrpSpPr>
      <p:grpSpPr>
        <a:xfrm>
          <a:off x="0" y="0"/>
          <a:ext cx="0" cy="0"/>
          <a:chOff x="0" y="0"/>
          <a:chExt cx="0" cy="0"/>
        </a:xfrm>
      </p:grpSpPr>
      <p:sp>
        <p:nvSpPr>
          <p:cNvPr id="71" name="Google Shape;71;p10"/>
          <p:cNvSpPr txBox="1">
            <a:spLocks noGrp="1"/>
          </p:cNvSpPr>
          <p:nvPr>
            <p:ph type="body" idx="1"/>
          </p:nvPr>
        </p:nvSpPr>
        <p:spPr>
          <a:xfrm>
            <a:off x="724950" y="4372551"/>
            <a:ext cx="7697400" cy="4605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300"/>
              <a:buNone/>
              <a:defRPr/>
            </a:lvl1pPr>
          </a:lstStyle>
          <a:p>
            <a:endParaRPr/>
          </a:p>
        </p:txBody>
      </p:sp>
      <p:sp>
        <p:nvSpPr>
          <p:cNvPr id="72" name="Google Shape;72;p10"/>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7" name="Google Shape;77;p11"/>
          <p:cNvSpPr txBox="1">
            <a:spLocks noGrp="1"/>
          </p:cNvSpPr>
          <p:nvPr>
            <p:ph type="title" hasCustomPrompt="1"/>
          </p:nvPr>
        </p:nvSpPr>
        <p:spPr>
          <a:xfrm>
            <a:off x="729450" y="733950"/>
            <a:ext cx="7688400" cy="12447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a:spLocks noGrp="1"/>
          </p:cNvSpPr>
          <p:nvPr>
            <p:ph type="body" idx="1"/>
          </p:nvPr>
        </p:nvSpPr>
        <p:spPr>
          <a:xfrm>
            <a:off x="729450" y="2272888"/>
            <a:ext cx="7688400" cy="15804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Clr>
                <a:schemeClr val="lt1"/>
              </a:buClr>
              <a:buSzPts val="1300"/>
              <a:buChar char="●"/>
              <a:defRPr>
                <a:solidFill>
                  <a:schemeClr val="lt1"/>
                </a:solidFill>
              </a:defRPr>
            </a:lvl1pPr>
            <a:lvl2pPr marL="914400" lvl="1" indent="-298450">
              <a:spcBef>
                <a:spcPts val="0"/>
              </a:spcBef>
              <a:spcAft>
                <a:spcPts val="0"/>
              </a:spcAft>
              <a:buClr>
                <a:schemeClr val="lt1"/>
              </a:buClr>
              <a:buSzPts val="1100"/>
              <a:buChar char="○"/>
              <a:defRPr>
                <a:solidFill>
                  <a:schemeClr val="lt1"/>
                </a:solidFill>
              </a:defRPr>
            </a:lvl2pPr>
            <a:lvl3pPr marL="1371600" lvl="2" indent="-298450">
              <a:spcBef>
                <a:spcPts val="0"/>
              </a:spcBef>
              <a:spcAft>
                <a:spcPts val="0"/>
              </a:spcAft>
              <a:buClr>
                <a:schemeClr val="lt1"/>
              </a:buClr>
              <a:buSzPts val="1100"/>
              <a:buChar char="■"/>
              <a:defRPr>
                <a:solidFill>
                  <a:schemeClr val="lt1"/>
                </a:solidFill>
              </a:defRPr>
            </a:lvl3pPr>
            <a:lvl4pPr marL="1828800" lvl="3" indent="-298450">
              <a:spcBef>
                <a:spcPts val="0"/>
              </a:spcBef>
              <a:spcAft>
                <a:spcPts val="0"/>
              </a:spcAft>
              <a:buClr>
                <a:schemeClr val="lt1"/>
              </a:buClr>
              <a:buSzPts val="1100"/>
              <a:buChar char="●"/>
              <a:defRPr>
                <a:solidFill>
                  <a:schemeClr val="lt1"/>
                </a:solidFill>
              </a:defRPr>
            </a:lvl4pPr>
            <a:lvl5pPr marL="2286000" lvl="4" indent="-298450">
              <a:spcBef>
                <a:spcPts val="0"/>
              </a:spcBef>
              <a:spcAft>
                <a:spcPts val="0"/>
              </a:spcAft>
              <a:buClr>
                <a:schemeClr val="lt1"/>
              </a:buClr>
              <a:buSzPts val="1100"/>
              <a:buChar char="○"/>
              <a:defRPr>
                <a:solidFill>
                  <a:schemeClr val="lt1"/>
                </a:solidFill>
              </a:defRPr>
            </a:lvl5pPr>
            <a:lvl6pPr marL="2743200" lvl="5" indent="-298450">
              <a:spcBef>
                <a:spcPts val="0"/>
              </a:spcBef>
              <a:spcAft>
                <a:spcPts val="0"/>
              </a:spcAft>
              <a:buClr>
                <a:schemeClr val="lt1"/>
              </a:buClr>
              <a:buSzPts val="1100"/>
              <a:buChar char="■"/>
              <a:defRPr>
                <a:solidFill>
                  <a:schemeClr val="lt1"/>
                </a:solidFill>
              </a:defRPr>
            </a:lvl6pPr>
            <a:lvl7pPr marL="3200400" lvl="6" indent="-298450">
              <a:spcBef>
                <a:spcPts val="0"/>
              </a:spcBef>
              <a:spcAft>
                <a:spcPts val="0"/>
              </a:spcAft>
              <a:buClr>
                <a:schemeClr val="lt1"/>
              </a:buClr>
              <a:buSzPts val="1100"/>
              <a:buChar char="●"/>
              <a:defRPr>
                <a:solidFill>
                  <a:schemeClr val="lt1"/>
                </a:solidFill>
              </a:defRPr>
            </a:lvl7pPr>
            <a:lvl8pPr marL="3657600" lvl="7" indent="-298450">
              <a:spcBef>
                <a:spcPts val="0"/>
              </a:spcBef>
              <a:spcAft>
                <a:spcPts val="0"/>
              </a:spcAft>
              <a:buClr>
                <a:schemeClr val="lt1"/>
              </a:buClr>
              <a:buSzPts val="1100"/>
              <a:buChar char="○"/>
              <a:defRPr>
                <a:solidFill>
                  <a:schemeClr val="lt1"/>
                </a:solidFill>
              </a:defRPr>
            </a:lvl8pPr>
            <a:lvl9pPr marL="4114800" lvl="8" indent="-298450">
              <a:spcBef>
                <a:spcPts val="0"/>
              </a:spcBef>
              <a:spcAft>
                <a:spcPts val="0"/>
              </a:spcAft>
              <a:buClr>
                <a:schemeClr val="lt1"/>
              </a:buClr>
              <a:buSzPts val="1100"/>
              <a:buChar char="■"/>
              <a:defRPr>
                <a:solidFill>
                  <a:schemeClr val="lt1"/>
                </a:solidFill>
              </a:defRPr>
            </a:lvl9pPr>
          </a:lstStyle>
          <a:p>
            <a:endParaRPr/>
          </a:p>
        </p:txBody>
      </p:sp>
      <p:sp>
        <p:nvSpPr>
          <p:cNvPr id="79" name="Google Shape;79;p11"/>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0"/>
        <p:cNvGrpSpPr/>
        <p:nvPr/>
      </p:nvGrpSpPr>
      <p:grpSpPr>
        <a:xfrm>
          <a:off x="0" y="0"/>
          <a:ext cx="0" cy="0"/>
          <a:chOff x="0" y="0"/>
          <a:chExt cx="0" cy="0"/>
        </a:xfrm>
      </p:grpSpPr>
      <p:sp>
        <p:nvSpPr>
          <p:cNvPr id="81" name="Google Shape;81;p1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treamline">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marL="914400" lvl="1"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marL="1371600" lvl="2"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marL="1828800" lvl="3"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marL="2286000" lvl="4"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marL="2743200" lvl="5"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marL="3200400" lvl="6"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marL="3657600" lvl="7"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marL="4114800" lvl="8"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a:endParaRPr/>
          </a:p>
        </p:txBody>
      </p:sp>
      <p:sp>
        <p:nvSpPr>
          <p:cNvPr id="8" name="Google Shape;8;p1"/>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hyperlink" Target="https://www.sciencedirect.com/science/article/abs/pii/S2352673423000215?utm_source=chatgpt.com" TargetMode="External"/><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hyperlink" Target="https://www.nber.org/papers/w33987?utm_source=chatgpt.com" TargetMode="External"/><Relationship Id="rId4" Type="http://schemas.openxmlformats.org/officeDocument/2006/relationships/hyperlink" Target="https://www.sciencedirect.com/science/article/abs/pii/S0883902622000428?utm_source=chatgpt.com" TargetMode="External"/></Relationships>
</file>

<file path=ppt/slides/_rels/slide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7.png"/><Relationship Id="rId7"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9.png"/><Relationship Id="rId5" Type="http://schemas.openxmlformats.org/officeDocument/2006/relationships/image" Target="../media/image2.png"/><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3"/>
          <p:cNvSpPr txBox="1">
            <a:spLocks noGrp="1"/>
          </p:cNvSpPr>
          <p:nvPr>
            <p:ph type="ctrTitle"/>
          </p:nvPr>
        </p:nvSpPr>
        <p:spPr>
          <a:xfrm>
            <a:off x="729450" y="1322450"/>
            <a:ext cx="7688100" cy="1664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VC/Founder Group Chat</a:t>
            </a:r>
            <a:endParaRPr/>
          </a:p>
        </p:txBody>
      </p:sp>
      <p:sp>
        <p:nvSpPr>
          <p:cNvPr id="87" name="Google Shape;87;p13"/>
          <p:cNvSpPr txBox="1">
            <a:spLocks noGrp="1"/>
          </p:cNvSpPr>
          <p:nvPr>
            <p:ph type="subTitle" idx="1"/>
          </p:nvPr>
        </p:nvSpPr>
        <p:spPr>
          <a:xfrm>
            <a:off x="729627" y="3172900"/>
            <a:ext cx="7688100" cy="541200"/>
          </a:xfrm>
          <a:prstGeom prst="rect">
            <a:avLst/>
          </a:prstGeom>
        </p:spPr>
        <p:txBody>
          <a:bodyPr spcFirstLastPara="1" wrap="square" lIns="91425" tIns="91425" rIns="91425" bIns="91425" anchor="t" anchorCtr="0">
            <a:normAutofit/>
          </a:bodyPr>
          <a:lstStyle/>
          <a:p>
            <a:pPr marL="0" lvl="0" indent="0" algn="ctr" rtl="0">
              <a:lnSpc>
                <a:spcPct val="115000"/>
              </a:lnSpc>
              <a:spcBef>
                <a:spcPts val="0"/>
              </a:spcBef>
              <a:spcAft>
                <a:spcPts val="0"/>
              </a:spcAft>
              <a:buNone/>
            </a:pPr>
            <a:r>
              <a:rPr lang="en" sz="1200">
                <a:solidFill>
                  <a:srgbClr val="000000"/>
                </a:solidFill>
                <a:latin typeface="Times New Roman"/>
                <a:ea typeface="Times New Roman"/>
                <a:cs typeface="Times New Roman"/>
                <a:sym typeface="Times New Roman"/>
              </a:rPr>
              <a:t>Group 15: Jeong Hoon Choi, Viraj Bansal, Chih-Yun Pai</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Problem</a:t>
            </a:r>
            <a:endParaRPr/>
          </a:p>
        </p:txBody>
      </p:sp>
      <p:sp>
        <p:nvSpPr>
          <p:cNvPr id="93" name="Google Shape;93;p14"/>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Venture Capital firms looking to invest money into many startups must coordinate across emails, pitch decks, data rooms, and meetings. There are a lot of problems in between:</a:t>
            </a:r>
            <a:endParaRPr/>
          </a:p>
          <a:p>
            <a:pPr marL="457200" lvl="0" indent="-311150" algn="l" rtl="0">
              <a:spcBef>
                <a:spcPts val="1200"/>
              </a:spcBef>
              <a:spcAft>
                <a:spcPts val="0"/>
              </a:spcAft>
              <a:buSzPts val="1300"/>
              <a:buChar char="●"/>
            </a:pPr>
            <a:r>
              <a:rPr lang="en"/>
              <a:t>No centralized platform - emails, spreadsheets, Notion e.t.c</a:t>
            </a:r>
            <a:endParaRPr/>
          </a:p>
          <a:p>
            <a:pPr marL="457200" lvl="0" indent="-311150" algn="l" rtl="0">
              <a:spcBef>
                <a:spcPts val="0"/>
              </a:spcBef>
              <a:spcAft>
                <a:spcPts val="0"/>
              </a:spcAft>
              <a:buSzPts val="1300"/>
              <a:buChar char="●"/>
            </a:pPr>
            <a:r>
              <a:rPr lang="en"/>
              <a:t>Time-inefficient for VCs - hundreds of deals to look at</a:t>
            </a:r>
            <a:endParaRPr/>
          </a:p>
          <a:p>
            <a:pPr marL="457200" lvl="0" indent="-311150" algn="l" rtl="0">
              <a:spcBef>
                <a:spcPts val="0"/>
              </a:spcBef>
              <a:spcAft>
                <a:spcPts val="0"/>
              </a:spcAft>
              <a:buSzPts val="1300"/>
              <a:buChar char="●"/>
            </a:pPr>
            <a:r>
              <a:rPr lang="en"/>
              <a:t>Opacity for founders - no feedback, no visibility into investor pipeline</a:t>
            </a:r>
            <a:endParaRPr/>
          </a:p>
          <a:p>
            <a:pPr marL="457200" lvl="0" indent="-311150" algn="l" rtl="0">
              <a:spcBef>
                <a:spcPts val="0"/>
              </a:spcBef>
              <a:spcAft>
                <a:spcPts val="0"/>
              </a:spcAft>
              <a:buSzPts val="1300"/>
              <a:buChar char="●"/>
            </a:pPr>
            <a:r>
              <a:rPr lang="en"/>
              <a:t>Knowledge not reused for VCs - unstructured data leads to intuitive decision making</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5"/>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Evidence of Problem</a:t>
            </a:r>
            <a:endParaRPr/>
          </a:p>
        </p:txBody>
      </p:sp>
      <p:sp>
        <p:nvSpPr>
          <p:cNvPr id="99" name="Google Shape;99;p15"/>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p>
            <a:pPr marL="457200" lvl="0" indent="-311150" algn="l" rtl="0">
              <a:spcBef>
                <a:spcPts val="0"/>
              </a:spcBef>
              <a:spcAft>
                <a:spcPts val="0"/>
              </a:spcAft>
              <a:buSzPts val="1300"/>
              <a:buChar char="●"/>
            </a:pPr>
            <a:r>
              <a:rPr lang="en" u="sng">
                <a:solidFill>
                  <a:schemeClr val="hlink"/>
                </a:solidFill>
                <a:hlinkClick r:id="rId3"/>
              </a:rPr>
              <a:t>The Inefficiencies of Venture Capital Funding</a:t>
            </a:r>
            <a:endParaRPr/>
          </a:p>
          <a:p>
            <a:pPr marL="914400" lvl="1" indent="-298450" algn="l" rtl="0">
              <a:spcBef>
                <a:spcPts val="0"/>
              </a:spcBef>
              <a:spcAft>
                <a:spcPts val="0"/>
              </a:spcAft>
              <a:buSzPts val="1100"/>
              <a:buChar char="○"/>
            </a:pPr>
            <a:r>
              <a:rPr lang="en"/>
              <a:t>“</a:t>
            </a:r>
            <a:r>
              <a:rPr lang="en" sz="1200">
                <a:solidFill>
                  <a:srgbClr val="1F1F1F"/>
                </a:solidFill>
                <a:latin typeface="Georgia"/>
                <a:ea typeface="Georgia"/>
                <a:cs typeface="Georgia"/>
                <a:sym typeface="Georgia"/>
              </a:rPr>
              <a:t>Reducing the information asymmetry in the partner selection process clearly benefits startups and VC firms”</a:t>
            </a:r>
            <a:endParaRPr/>
          </a:p>
          <a:p>
            <a:pPr marL="457200" lvl="0" indent="-311150" algn="l" rtl="0">
              <a:spcBef>
                <a:spcPts val="0"/>
              </a:spcBef>
              <a:spcAft>
                <a:spcPts val="0"/>
              </a:spcAft>
              <a:buSzPts val="1300"/>
              <a:buChar char="●"/>
            </a:pPr>
            <a:r>
              <a:rPr lang="en" u="sng">
                <a:solidFill>
                  <a:schemeClr val="hlink"/>
                </a:solidFill>
                <a:hlinkClick r:id="rId4"/>
              </a:rPr>
              <a:t>Referral among  VCs and the Length of Due Diligence</a:t>
            </a:r>
            <a:endParaRPr/>
          </a:p>
          <a:p>
            <a:pPr marL="914400" lvl="1" indent="-298450" algn="l" rtl="0">
              <a:spcBef>
                <a:spcPts val="0"/>
              </a:spcBef>
              <a:spcAft>
                <a:spcPts val="0"/>
              </a:spcAft>
              <a:buSzPts val="1100"/>
              <a:buChar char="○"/>
            </a:pPr>
            <a:r>
              <a:rPr lang="en"/>
              <a:t>“... </a:t>
            </a:r>
            <a:r>
              <a:rPr lang="en" sz="1200">
                <a:solidFill>
                  <a:srgbClr val="1F1F1F"/>
                </a:solidFill>
                <a:latin typeface="Georgia"/>
                <a:ea typeface="Georgia"/>
                <a:cs typeface="Georgia"/>
                <a:sym typeface="Georgia"/>
              </a:rPr>
              <a:t>a VC firm will receive hundreds or even thousands of business plans.”</a:t>
            </a:r>
            <a:endParaRPr sz="1200">
              <a:solidFill>
                <a:srgbClr val="1F1F1F"/>
              </a:solidFill>
              <a:latin typeface="Georgia"/>
              <a:ea typeface="Georgia"/>
              <a:cs typeface="Georgia"/>
              <a:sym typeface="Georgia"/>
            </a:endParaRPr>
          </a:p>
          <a:p>
            <a:pPr marL="457200" lvl="0" indent="-311150" algn="l" rtl="0">
              <a:spcBef>
                <a:spcPts val="0"/>
              </a:spcBef>
              <a:spcAft>
                <a:spcPts val="0"/>
              </a:spcAft>
              <a:buSzPts val="1300"/>
              <a:buChar char="●"/>
            </a:pPr>
            <a:r>
              <a:rPr lang="en" u="sng">
                <a:solidFill>
                  <a:schemeClr val="accent5"/>
                </a:solidFill>
                <a:hlinkClick r:id="rId5">
                  <a:extLst>
                    <a:ext uri="{A12FA001-AC4F-418D-AE19-62706E023703}">
                      <ahyp:hlinkClr xmlns:ahyp="http://schemas.microsoft.com/office/drawing/2018/hyperlinkcolor" val="tx"/>
                    </a:ext>
                  </a:extLst>
                </a:hlinkClick>
              </a:rPr>
              <a:t>Due Diligence and the Allocation of Venture Capital</a:t>
            </a:r>
            <a:endParaRPr/>
          </a:p>
          <a:p>
            <a:pPr marL="914400" lvl="1" indent="-298450" algn="l" rtl="0">
              <a:spcBef>
                <a:spcPts val="0"/>
              </a:spcBef>
              <a:spcAft>
                <a:spcPts val="0"/>
              </a:spcAft>
              <a:buSzPts val="1100"/>
              <a:buChar char="○"/>
            </a:pPr>
            <a:r>
              <a:rPr lang="en"/>
              <a:t>“... </a:t>
            </a:r>
            <a:r>
              <a:rPr lang="en" sz="1200">
                <a:solidFill>
                  <a:srgbClr val="000000"/>
                </a:solidFill>
                <a:highlight>
                  <a:srgbClr val="FFFFFF"/>
                </a:highlight>
                <a:latin typeface="Arimo"/>
                <a:ea typeface="Arimo"/>
                <a:cs typeface="Arimo"/>
                <a:sym typeface="Arimo"/>
              </a:rPr>
              <a:t>less due diligence is associated with more volatile investment performance, as VCs allocate capital under greater uncertainty.”</a:t>
            </a:r>
            <a:endParaRPr sz="1200">
              <a:solidFill>
                <a:srgbClr val="1F1F1F"/>
              </a:solidFill>
              <a:latin typeface="Georgia"/>
              <a:ea typeface="Georgia"/>
              <a:cs typeface="Georgia"/>
              <a:sym typeface="Georgi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5" name="Google Shape;105;p16"/>
          <p:cNvSpPr txBox="1">
            <a:spLocks noGrp="1"/>
          </p:cNvSpPr>
          <p:nvPr>
            <p:ph type="title"/>
          </p:nvPr>
        </p:nvSpPr>
        <p:spPr>
          <a:xfrm>
            <a:off x="729450" y="1318650"/>
            <a:ext cx="3842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Business Model</a:t>
            </a:r>
            <a:endParaRPr/>
          </a:p>
        </p:txBody>
      </p:sp>
      <p:sp>
        <p:nvSpPr>
          <p:cNvPr id="106" name="Google Shape;106;p16"/>
          <p:cNvSpPr txBox="1">
            <a:spLocks noGrp="1"/>
          </p:cNvSpPr>
          <p:nvPr>
            <p:ph type="body" idx="1"/>
          </p:nvPr>
        </p:nvSpPr>
        <p:spPr>
          <a:xfrm>
            <a:off x="729450" y="2078875"/>
            <a:ext cx="4723800" cy="2261100"/>
          </a:xfrm>
          <a:prstGeom prst="rect">
            <a:avLst/>
          </a:prstGeom>
        </p:spPr>
        <p:txBody>
          <a:bodyPr spcFirstLastPara="1" wrap="square" lIns="91425" tIns="91425" rIns="91425" bIns="91425" anchor="t" anchorCtr="0">
            <a:noAutofit/>
          </a:bodyPr>
          <a:lstStyle/>
          <a:p>
            <a:pPr marL="0" lvl="0" indent="0" algn="l" rtl="0">
              <a:lnSpc>
                <a:spcPct val="95000"/>
              </a:lnSpc>
              <a:spcBef>
                <a:spcPts val="0"/>
              </a:spcBef>
              <a:spcAft>
                <a:spcPts val="0"/>
              </a:spcAft>
              <a:buSzPts val="852"/>
              <a:buNone/>
            </a:pPr>
            <a:r>
              <a:rPr lang="en" sz="1440" b="1" dirty="0"/>
              <a:t>C</a:t>
            </a:r>
            <a:r>
              <a:rPr lang="en" sz="1622" b="1" dirty="0"/>
              <a:t>ustomers: </a:t>
            </a:r>
            <a:r>
              <a:rPr lang="en" sz="1622" dirty="0"/>
              <a:t>Venture Capital Firms</a:t>
            </a:r>
            <a:endParaRPr sz="1622" dirty="0"/>
          </a:p>
          <a:p>
            <a:pPr marL="0" lvl="0" indent="0" algn="l" rtl="0">
              <a:lnSpc>
                <a:spcPct val="95000"/>
              </a:lnSpc>
              <a:spcBef>
                <a:spcPts val="1200"/>
              </a:spcBef>
              <a:spcAft>
                <a:spcPts val="0"/>
              </a:spcAft>
              <a:buSzPts val="852"/>
              <a:buNone/>
            </a:pPr>
            <a:r>
              <a:rPr lang="en" sz="1622" b="1" dirty="0"/>
              <a:t>Revenue Model: </a:t>
            </a:r>
            <a:r>
              <a:rPr lang="en" sz="1622" dirty="0"/>
              <a:t>Subscription</a:t>
            </a:r>
            <a:endParaRPr sz="1622" dirty="0"/>
          </a:p>
          <a:p>
            <a:pPr marL="457200" lvl="0" indent="-331619" algn="l" rtl="0">
              <a:lnSpc>
                <a:spcPct val="95000"/>
              </a:lnSpc>
              <a:spcBef>
                <a:spcPts val="1200"/>
              </a:spcBef>
              <a:spcAft>
                <a:spcPts val="0"/>
              </a:spcAft>
              <a:buSzPts val="1622"/>
              <a:buChar char="●"/>
            </a:pPr>
            <a:r>
              <a:rPr lang="en" sz="1622" dirty="0"/>
              <a:t>Monthly or annual SaaS pricing per VC firm</a:t>
            </a:r>
            <a:endParaRPr sz="1622" dirty="0"/>
          </a:p>
          <a:p>
            <a:pPr marL="457200" lvl="0" indent="-331619" algn="l" rtl="0">
              <a:lnSpc>
                <a:spcPct val="95000"/>
              </a:lnSpc>
              <a:spcBef>
                <a:spcPts val="0"/>
              </a:spcBef>
              <a:spcAft>
                <a:spcPts val="0"/>
              </a:spcAft>
              <a:buSzPts val="1622"/>
              <a:buChar char="●"/>
            </a:pPr>
            <a:r>
              <a:rPr lang="en" sz="1622" dirty="0"/>
              <a:t>Pricing scales with:</a:t>
            </a:r>
            <a:endParaRPr sz="1622" dirty="0"/>
          </a:p>
          <a:p>
            <a:pPr marL="914400" lvl="1" indent="-331619" algn="l" rtl="0">
              <a:lnSpc>
                <a:spcPct val="95000"/>
              </a:lnSpc>
              <a:spcBef>
                <a:spcPts val="0"/>
              </a:spcBef>
              <a:spcAft>
                <a:spcPts val="0"/>
              </a:spcAft>
              <a:buSzPts val="1622"/>
              <a:buChar char="○"/>
            </a:pPr>
            <a:r>
              <a:rPr lang="en" sz="1622" dirty="0"/>
              <a:t>number of users</a:t>
            </a:r>
            <a:endParaRPr sz="1622" dirty="0"/>
          </a:p>
          <a:p>
            <a:pPr marL="914400" lvl="1" indent="-331619" algn="l" rtl="0">
              <a:lnSpc>
                <a:spcPct val="95000"/>
              </a:lnSpc>
              <a:spcBef>
                <a:spcPts val="0"/>
              </a:spcBef>
              <a:spcAft>
                <a:spcPts val="0"/>
              </a:spcAft>
              <a:buSzPts val="1622"/>
              <a:buChar char="○"/>
            </a:pPr>
            <a:r>
              <a:rPr lang="en" sz="1622" dirty="0"/>
              <a:t>volume of deals analyzed</a:t>
            </a:r>
            <a:endParaRPr sz="1622" dirty="0"/>
          </a:p>
          <a:p>
            <a:pPr marL="914400" lvl="1" indent="-331619" algn="l" rtl="0">
              <a:lnSpc>
                <a:spcPct val="95000"/>
              </a:lnSpc>
              <a:spcBef>
                <a:spcPts val="0"/>
              </a:spcBef>
              <a:spcAft>
                <a:spcPts val="0"/>
              </a:spcAft>
              <a:buSzPts val="1622"/>
              <a:buChar char="○"/>
            </a:pPr>
            <a:r>
              <a:rPr lang="en" sz="1622" dirty="0"/>
              <a:t>storage of documents</a:t>
            </a:r>
            <a:endParaRPr sz="1622" dirty="0"/>
          </a:p>
          <a:p>
            <a:pPr marL="0" lvl="0" indent="0" algn="l" rtl="0">
              <a:lnSpc>
                <a:spcPct val="80000"/>
              </a:lnSpc>
              <a:spcBef>
                <a:spcPts val="1200"/>
              </a:spcBef>
              <a:spcAft>
                <a:spcPts val="1200"/>
              </a:spcAft>
              <a:buSzPts val="852"/>
              <a:buNone/>
            </a:pPr>
            <a:endParaRPr sz="1007" b="1" dirty="0"/>
          </a:p>
        </p:txBody>
      </p:sp>
      <p:grpSp>
        <p:nvGrpSpPr>
          <p:cNvPr id="2" name="Group 1">
            <a:extLst>
              <a:ext uri="{FF2B5EF4-FFF2-40B4-BE49-F238E27FC236}">
                <a16:creationId xmlns:a16="http://schemas.microsoft.com/office/drawing/2014/main" id="{5C96673A-CA13-F4AB-156A-DE3768B29ACD}"/>
              </a:ext>
            </a:extLst>
          </p:cNvPr>
          <p:cNvGrpSpPr/>
          <p:nvPr/>
        </p:nvGrpSpPr>
        <p:grpSpPr>
          <a:xfrm>
            <a:off x="5643200" y="1074613"/>
            <a:ext cx="3289020" cy="4015487"/>
            <a:chOff x="5643200" y="1074613"/>
            <a:chExt cx="3289020" cy="4015487"/>
          </a:xfrm>
        </p:grpSpPr>
        <p:sp>
          <p:nvSpPr>
            <p:cNvPr id="104" name="Google Shape;104;p16"/>
            <p:cNvSpPr/>
            <p:nvPr/>
          </p:nvSpPr>
          <p:spPr>
            <a:xfrm>
              <a:off x="7149020" y="2593288"/>
              <a:ext cx="1783200" cy="8013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pic>
          <p:nvPicPr>
            <p:cNvPr id="107" name="Google Shape;107;p16"/>
            <p:cNvPicPr preferRelativeResize="0"/>
            <p:nvPr/>
          </p:nvPicPr>
          <p:blipFill>
            <a:blip r:embed="rId3">
              <a:alphaModFix/>
            </a:blip>
            <a:stretch>
              <a:fillRect/>
            </a:stretch>
          </p:blipFill>
          <p:spPr>
            <a:xfrm>
              <a:off x="7679920" y="1074613"/>
              <a:ext cx="721375" cy="721375"/>
            </a:xfrm>
            <a:prstGeom prst="rect">
              <a:avLst/>
            </a:prstGeom>
            <a:noFill/>
            <a:ln>
              <a:noFill/>
            </a:ln>
          </p:spPr>
        </p:pic>
        <p:pic>
          <p:nvPicPr>
            <p:cNvPr id="108" name="Google Shape;108;p16" title="icons8-ai-64.png"/>
            <p:cNvPicPr preferRelativeResize="0"/>
            <p:nvPr/>
          </p:nvPicPr>
          <p:blipFill>
            <a:blip r:embed="rId4">
              <a:alphaModFix/>
            </a:blip>
            <a:stretch>
              <a:fillRect/>
            </a:stretch>
          </p:blipFill>
          <p:spPr>
            <a:xfrm>
              <a:off x="7263995" y="2689138"/>
              <a:ext cx="609600" cy="609600"/>
            </a:xfrm>
            <a:prstGeom prst="rect">
              <a:avLst/>
            </a:prstGeom>
            <a:noFill/>
            <a:ln>
              <a:noFill/>
            </a:ln>
          </p:spPr>
        </p:pic>
        <p:sp>
          <p:nvSpPr>
            <p:cNvPr id="109" name="Google Shape;109;p16"/>
            <p:cNvSpPr txBox="1"/>
            <p:nvPr/>
          </p:nvSpPr>
          <p:spPr>
            <a:xfrm>
              <a:off x="7379395" y="1823451"/>
              <a:ext cx="1322400" cy="401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dirty="0">
                  <a:solidFill>
                    <a:schemeClr val="accent1"/>
                  </a:solidFill>
                  <a:latin typeface="Lato"/>
                  <a:ea typeface="Lato"/>
                  <a:cs typeface="Lato"/>
                  <a:sym typeface="Lato"/>
                </a:rPr>
                <a:t>Venture Capital</a:t>
              </a:r>
              <a:endParaRPr sz="1300" dirty="0">
                <a:solidFill>
                  <a:schemeClr val="accent1"/>
                </a:solidFill>
                <a:latin typeface="Lato"/>
                <a:ea typeface="Lato"/>
                <a:cs typeface="Lato"/>
                <a:sym typeface="Lato"/>
              </a:endParaRPr>
            </a:p>
          </p:txBody>
        </p:sp>
        <p:sp>
          <p:nvSpPr>
            <p:cNvPr id="110" name="Google Shape;110;p16"/>
            <p:cNvSpPr/>
            <p:nvPr/>
          </p:nvSpPr>
          <p:spPr>
            <a:xfrm>
              <a:off x="7932595" y="2132638"/>
              <a:ext cx="216000" cy="401700"/>
            </a:xfrm>
            <a:prstGeom prst="down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11" name="Google Shape;111;p16"/>
            <p:cNvSpPr txBox="1"/>
            <p:nvPr/>
          </p:nvSpPr>
          <p:spPr>
            <a:xfrm>
              <a:off x="7403420" y="3410513"/>
              <a:ext cx="1274400" cy="401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dirty="0">
                  <a:solidFill>
                    <a:schemeClr val="accent1"/>
                  </a:solidFill>
                  <a:latin typeface="Lato"/>
                  <a:ea typeface="Lato"/>
                  <a:cs typeface="Lato"/>
                  <a:sym typeface="Lato"/>
                </a:rPr>
                <a:t>AI Group Chat</a:t>
              </a:r>
              <a:endParaRPr sz="1300" dirty="0">
                <a:solidFill>
                  <a:schemeClr val="accent1"/>
                </a:solidFill>
                <a:latin typeface="Lato"/>
                <a:ea typeface="Lato"/>
                <a:cs typeface="Lato"/>
                <a:sym typeface="Lato"/>
              </a:endParaRPr>
            </a:p>
          </p:txBody>
        </p:sp>
        <p:pic>
          <p:nvPicPr>
            <p:cNvPr id="112" name="Google Shape;112;p16"/>
            <p:cNvPicPr preferRelativeResize="0"/>
            <p:nvPr/>
          </p:nvPicPr>
          <p:blipFill>
            <a:blip r:embed="rId5">
              <a:alphaModFix/>
            </a:blip>
            <a:stretch>
              <a:fillRect/>
            </a:stretch>
          </p:blipFill>
          <p:spPr>
            <a:xfrm>
              <a:off x="8148595" y="2689138"/>
              <a:ext cx="721375" cy="721375"/>
            </a:xfrm>
            <a:prstGeom prst="rect">
              <a:avLst/>
            </a:prstGeom>
            <a:noFill/>
            <a:ln>
              <a:noFill/>
            </a:ln>
          </p:spPr>
        </p:pic>
        <p:pic>
          <p:nvPicPr>
            <p:cNvPr id="113" name="Google Shape;113;p16"/>
            <p:cNvPicPr preferRelativeResize="0"/>
            <p:nvPr/>
          </p:nvPicPr>
          <p:blipFill>
            <a:blip r:embed="rId6">
              <a:alphaModFix/>
            </a:blip>
            <a:stretch>
              <a:fillRect/>
            </a:stretch>
          </p:blipFill>
          <p:spPr>
            <a:xfrm>
              <a:off x="5643200" y="2661458"/>
              <a:ext cx="609600" cy="609600"/>
            </a:xfrm>
            <a:prstGeom prst="rect">
              <a:avLst/>
            </a:prstGeom>
            <a:noFill/>
            <a:ln>
              <a:noFill/>
            </a:ln>
          </p:spPr>
        </p:pic>
        <p:sp>
          <p:nvSpPr>
            <p:cNvPr id="114" name="Google Shape;114;p16"/>
            <p:cNvSpPr/>
            <p:nvPr/>
          </p:nvSpPr>
          <p:spPr>
            <a:xfrm>
              <a:off x="6401698" y="2919033"/>
              <a:ext cx="609600" cy="197100"/>
            </a:xfrm>
            <a:prstGeom prst="lef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pic>
          <p:nvPicPr>
            <p:cNvPr id="115" name="Google Shape;115;p16"/>
            <p:cNvPicPr preferRelativeResize="0"/>
            <p:nvPr/>
          </p:nvPicPr>
          <p:blipFill>
            <a:blip r:embed="rId7">
              <a:alphaModFix/>
            </a:blip>
            <a:stretch>
              <a:fillRect/>
            </a:stretch>
          </p:blipFill>
          <p:spPr>
            <a:xfrm>
              <a:off x="6482798" y="2338633"/>
              <a:ext cx="535200" cy="535200"/>
            </a:xfrm>
            <a:prstGeom prst="rect">
              <a:avLst/>
            </a:prstGeom>
            <a:noFill/>
            <a:ln>
              <a:noFill/>
            </a:ln>
          </p:spPr>
        </p:pic>
        <p:sp>
          <p:nvSpPr>
            <p:cNvPr id="116" name="Google Shape;116;p16"/>
            <p:cNvSpPr txBox="1"/>
            <p:nvPr/>
          </p:nvSpPr>
          <p:spPr>
            <a:xfrm>
              <a:off x="5736047" y="3430896"/>
              <a:ext cx="423900" cy="401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chemeClr val="accent1"/>
                  </a:solidFill>
                  <a:latin typeface="Lato"/>
                  <a:ea typeface="Lato"/>
                  <a:cs typeface="Lato"/>
                  <a:sym typeface="Lato"/>
                </a:rPr>
                <a:t>Us</a:t>
              </a:r>
              <a:endParaRPr sz="1300">
                <a:solidFill>
                  <a:schemeClr val="accent1"/>
                </a:solidFill>
                <a:latin typeface="Lato"/>
                <a:ea typeface="Lato"/>
                <a:cs typeface="Lato"/>
                <a:sym typeface="Lato"/>
              </a:endParaRPr>
            </a:p>
          </p:txBody>
        </p:sp>
        <p:pic>
          <p:nvPicPr>
            <p:cNvPr id="117" name="Google Shape;117;p16"/>
            <p:cNvPicPr preferRelativeResize="0"/>
            <p:nvPr/>
          </p:nvPicPr>
          <p:blipFill>
            <a:blip r:embed="rId8">
              <a:alphaModFix/>
            </a:blip>
            <a:stretch>
              <a:fillRect/>
            </a:stretch>
          </p:blipFill>
          <p:spPr>
            <a:xfrm>
              <a:off x="7735822" y="4074180"/>
              <a:ext cx="609600" cy="609618"/>
            </a:xfrm>
            <a:prstGeom prst="rect">
              <a:avLst/>
            </a:prstGeom>
            <a:noFill/>
            <a:ln>
              <a:noFill/>
            </a:ln>
          </p:spPr>
        </p:pic>
        <p:sp>
          <p:nvSpPr>
            <p:cNvPr id="118" name="Google Shape;118;p16"/>
            <p:cNvSpPr txBox="1"/>
            <p:nvPr/>
          </p:nvSpPr>
          <p:spPr>
            <a:xfrm>
              <a:off x="7645375" y="4688400"/>
              <a:ext cx="867600" cy="401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dirty="0">
                  <a:solidFill>
                    <a:schemeClr val="accent1"/>
                  </a:solidFill>
                  <a:latin typeface="Lato"/>
                  <a:ea typeface="Lato"/>
                  <a:cs typeface="Lato"/>
                  <a:sym typeface="Lato"/>
                </a:rPr>
                <a:t>Startups</a:t>
              </a:r>
              <a:endParaRPr sz="1300" dirty="0">
                <a:solidFill>
                  <a:schemeClr val="accent1"/>
                </a:solidFill>
                <a:latin typeface="Lato"/>
                <a:ea typeface="Lato"/>
                <a:cs typeface="Lato"/>
                <a:sym typeface="Lato"/>
              </a:endParaRPr>
            </a:p>
          </p:txBody>
        </p:sp>
        <p:sp>
          <p:nvSpPr>
            <p:cNvPr id="119" name="Google Shape;119;p16"/>
            <p:cNvSpPr/>
            <p:nvPr/>
          </p:nvSpPr>
          <p:spPr>
            <a:xfrm>
              <a:off x="7884200" y="3763775"/>
              <a:ext cx="216000" cy="305700"/>
            </a:xfrm>
            <a:prstGeom prst="up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44" name="Google Shape;144;p17"/>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System Architecture Overview</a:t>
            </a:r>
            <a:endParaRPr/>
          </a:p>
        </p:txBody>
      </p:sp>
      <p:sp>
        <p:nvSpPr>
          <p:cNvPr id="145" name="Google Shape;145;p17"/>
          <p:cNvSpPr txBox="1">
            <a:spLocks noGrp="1"/>
          </p:cNvSpPr>
          <p:nvPr>
            <p:ph type="body" idx="1"/>
          </p:nvPr>
        </p:nvSpPr>
        <p:spPr>
          <a:xfrm>
            <a:off x="182250" y="1972075"/>
            <a:ext cx="5573400" cy="2959800"/>
          </a:xfrm>
          <a:prstGeom prst="rect">
            <a:avLst/>
          </a:prstGeom>
        </p:spPr>
        <p:txBody>
          <a:bodyPr spcFirstLastPara="1" wrap="square" lIns="91425" tIns="91425" rIns="91425" bIns="91425" anchor="t" anchorCtr="0">
            <a:normAutofit fontScale="92500" lnSpcReduction="10000"/>
          </a:bodyPr>
          <a:lstStyle/>
          <a:p>
            <a:pPr marL="457200" lvl="0" indent="-336550" algn="l" rtl="0">
              <a:spcBef>
                <a:spcPts val="0"/>
              </a:spcBef>
              <a:spcAft>
                <a:spcPts val="0"/>
              </a:spcAft>
              <a:buSzPts val="1700"/>
              <a:buChar char="●"/>
            </a:pPr>
            <a:r>
              <a:rPr lang="en" sz="1700" dirty="0"/>
              <a:t>AI-driven Communication &amp; Workflow Automation</a:t>
            </a:r>
            <a:endParaRPr sz="1700" dirty="0"/>
          </a:p>
          <a:p>
            <a:pPr marL="0" lvl="0" indent="0" algn="l" rtl="0">
              <a:spcBef>
                <a:spcPts val="1200"/>
              </a:spcBef>
              <a:spcAft>
                <a:spcPts val="0"/>
              </a:spcAft>
              <a:buNone/>
            </a:pPr>
            <a:r>
              <a:rPr lang="en" sz="1400" dirty="0"/>
              <a:t>Streamlined, chat-based collaboration between VCs and startups with automated reporting and insights</a:t>
            </a:r>
            <a:endParaRPr sz="1700" dirty="0"/>
          </a:p>
          <a:p>
            <a:pPr marL="457200" lvl="0" indent="-336550" algn="l" rtl="0">
              <a:spcBef>
                <a:spcPts val="1200"/>
              </a:spcBef>
              <a:spcAft>
                <a:spcPts val="0"/>
              </a:spcAft>
              <a:buSzPts val="1700"/>
              <a:buChar char="●"/>
            </a:pPr>
            <a:r>
              <a:rPr lang="en" sz="1700" dirty="0"/>
              <a:t>Real-time Portfolio Intelligence &amp; Alert System</a:t>
            </a:r>
            <a:endParaRPr sz="1700" dirty="0"/>
          </a:p>
          <a:p>
            <a:pPr marL="0" lvl="0" indent="0" algn="l" rtl="0">
              <a:spcBef>
                <a:spcPts val="1200"/>
              </a:spcBef>
              <a:spcAft>
                <a:spcPts val="0"/>
              </a:spcAft>
              <a:buNone/>
            </a:pPr>
            <a:r>
              <a:rPr lang="en" sz="1400" dirty="0"/>
              <a:t>Real-time Startup Database Management and Anomaly Detection</a:t>
            </a:r>
            <a:endParaRPr sz="1400" dirty="0"/>
          </a:p>
          <a:p>
            <a:pPr marL="457200" lvl="0" indent="-336550" algn="l" rtl="0">
              <a:spcBef>
                <a:spcPts val="1200"/>
              </a:spcBef>
              <a:spcAft>
                <a:spcPts val="0"/>
              </a:spcAft>
              <a:buSzPts val="1700"/>
              <a:buChar char="●"/>
            </a:pPr>
            <a:r>
              <a:rPr lang="en" sz="1700" dirty="0"/>
              <a:t>Market Intelligence &amp; RAG-based Data Discovery</a:t>
            </a:r>
            <a:endParaRPr sz="1700" dirty="0"/>
          </a:p>
          <a:p>
            <a:pPr marL="0" lvl="0" indent="0" algn="l" rtl="0">
              <a:spcBef>
                <a:spcPts val="1200"/>
              </a:spcBef>
              <a:spcAft>
                <a:spcPts val="1200"/>
              </a:spcAft>
              <a:buNone/>
            </a:pPr>
            <a:r>
              <a:rPr lang="en" sz="1400" dirty="0"/>
              <a:t>AI-powered assistant for opportunity identification, follow-on investment, and exit strategy decision making</a:t>
            </a:r>
            <a:endParaRPr sz="1700" dirty="0"/>
          </a:p>
        </p:txBody>
      </p:sp>
      <p:grpSp>
        <p:nvGrpSpPr>
          <p:cNvPr id="6" name="Group 5">
            <a:extLst>
              <a:ext uri="{FF2B5EF4-FFF2-40B4-BE49-F238E27FC236}">
                <a16:creationId xmlns:a16="http://schemas.microsoft.com/office/drawing/2014/main" id="{8621676C-0EAC-A5EE-5454-53A4056049A8}"/>
              </a:ext>
            </a:extLst>
          </p:cNvPr>
          <p:cNvGrpSpPr/>
          <p:nvPr/>
        </p:nvGrpSpPr>
        <p:grpSpPr>
          <a:xfrm>
            <a:off x="5362325" y="1318650"/>
            <a:ext cx="3922816" cy="3569240"/>
            <a:chOff x="5362325" y="1318650"/>
            <a:chExt cx="3922816" cy="3569240"/>
          </a:xfrm>
        </p:grpSpPr>
        <p:grpSp>
          <p:nvGrpSpPr>
            <p:cNvPr id="124" name="Google Shape;124;p17"/>
            <p:cNvGrpSpPr/>
            <p:nvPr/>
          </p:nvGrpSpPr>
          <p:grpSpPr>
            <a:xfrm>
              <a:off x="5362325" y="1318650"/>
              <a:ext cx="3728500" cy="3421325"/>
              <a:chOff x="5176650" y="1254750"/>
              <a:chExt cx="3728500" cy="3421325"/>
            </a:xfrm>
          </p:grpSpPr>
          <p:grpSp>
            <p:nvGrpSpPr>
              <p:cNvPr id="125" name="Google Shape;125;p17"/>
              <p:cNvGrpSpPr/>
              <p:nvPr/>
            </p:nvGrpSpPr>
            <p:grpSpPr>
              <a:xfrm>
                <a:off x="5176650" y="1254750"/>
                <a:ext cx="3728500" cy="3421325"/>
                <a:chOff x="5176650" y="1254750"/>
                <a:chExt cx="3728500" cy="3421325"/>
              </a:xfrm>
            </p:grpSpPr>
            <p:sp>
              <p:nvSpPr>
                <p:cNvPr id="126" name="Google Shape;126;p17"/>
                <p:cNvSpPr/>
                <p:nvPr/>
              </p:nvSpPr>
              <p:spPr>
                <a:xfrm>
                  <a:off x="5176650" y="3759275"/>
                  <a:ext cx="3150600" cy="916800"/>
                </a:xfrm>
                <a:prstGeom prst="flowChartAlternateProcess">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27" name="Google Shape;127;p17"/>
                <p:cNvSpPr/>
                <p:nvPr/>
              </p:nvSpPr>
              <p:spPr>
                <a:xfrm>
                  <a:off x="8142550" y="2374525"/>
                  <a:ext cx="762600" cy="1300200"/>
                </a:xfrm>
                <a:prstGeom prst="flowChartAlternateProcess">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nvGrpSpPr>
                <p:cNvPr id="128" name="Google Shape;128;p17"/>
                <p:cNvGrpSpPr/>
                <p:nvPr/>
              </p:nvGrpSpPr>
              <p:grpSpPr>
                <a:xfrm>
                  <a:off x="5323275" y="1254750"/>
                  <a:ext cx="3004075" cy="3369337"/>
                  <a:chOff x="5971675" y="1632225"/>
                  <a:chExt cx="3004075" cy="3369337"/>
                </a:xfrm>
              </p:grpSpPr>
              <p:pic>
                <p:nvPicPr>
                  <p:cNvPr id="129" name="Google Shape;129;p17" title="icons8-investor-64.png"/>
                  <p:cNvPicPr preferRelativeResize="0"/>
                  <p:nvPr/>
                </p:nvPicPr>
                <p:blipFill>
                  <a:blip r:embed="rId3">
                    <a:alphaModFix/>
                  </a:blip>
                  <a:stretch>
                    <a:fillRect/>
                  </a:stretch>
                </p:blipFill>
                <p:spPr>
                  <a:xfrm>
                    <a:off x="7110324" y="1632225"/>
                    <a:ext cx="726772" cy="726772"/>
                  </a:xfrm>
                  <a:prstGeom prst="rect">
                    <a:avLst/>
                  </a:prstGeom>
                  <a:noFill/>
                  <a:ln>
                    <a:noFill/>
                  </a:ln>
                </p:spPr>
              </p:pic>
              <p:grpSp>
                <p:nvGrpSpPr>
                  <p:cNvPr id="130" name="Google Shape;130;p17"/>
                  <p:cNvGrpSpPr/>
                  <p:nvPr/>
                </p:nvGrpSpPr>
                <p:grpSpPr>
                  <a:xfrm>
                    <a:off x="5971675" y="4170680"/>
                    <a:ext cx="3004075" cy="830882"/>
                    <a:chOff x="3710200" y="2473605"/>
                    <a:chExt cx="3004075" cy="830882"/>
                  </a:xfrm>
                </p:grpSpPr>
                <p:pic>
                  <p:nvPicPr>
                    <p:cNvPr id="131" name="Google Shape;131;p17" title="icons8-startup-64.png"/>
                    <p:cNvPicPr preferRelativeResize="0"/>
                    <p:nvPr/>
                  </p:nvPicPr>
                  <p:blipFill>
                    <a:blip r:embed="rId4">
                      <a:alphaModFix/>
                    </a:blip>
                    <a:stretch>
                      <a:fillRect/>
                    </a:stretch>
                  </p:blipFill>
                  <p:spPr>
                    <a:xfrm>
                      <a:off x="3710200" y="2473605"/>
                      <a:ext cx="726772" cy="726772"/>
                    </a:xfrm>
                    <a:prstGeom prst="rect">
                      <a:avLst/>
                    </a:prstGeom>
                    <a:noFill/>
                    <a:ln>
                      <a:noFill/>
                    </a:ln>
                  </p:spPr>
                </p:pic>
                <p:pic>
                  <p:nvPicPr>
                    <p:cNvPr id="132" name="Google Shape;132;p17" title="icons8-startup-64.png"/>
                    <p:cNvPicPr preferRelativeResize="0"/>
                    <p:nvPr/>
                  </p:nvPicPr>
                  <p:blipFill>
                    <a:blip r:embed="rId4">
                      <a:alphaModFix/>
                    </a:blip>
                    <a:stretch>
                      <a:fillRect/>
                    </a:stretch>
                  </p:blipFill>
                  <p:spPr>
                    <a:xfrm>
                      <a:off x="4848851" y="2577715"/>
                      <a:ext cx="726772" cy="726772"/>
                    </a:xfrm>
                    <a:prstGeom prst="rect">
                      <a:avLst/>
                    </a:prstGeom>
                    <a:noFill/>
                    <a:ln>
                      <a:noFill/>
                    </a:ln>
                  </p:spPr>
                </p:pic>
                <p:pic>
                  <p:nvPicPr>
                    <p:cNvPr id="133" name="Google Shape;133;p17" title="icons8-startup-64.png"/>
                    <p:cNvPicPr preferRelativeResize="0"/>
                    <p:nvPr/>
                  </p:nvPicPr>
                  <p:blipFill>
                    <a:blip r:embed="rId4">
                      <a:alphaModFix/>
                    </a:blip>
                    <a:stretch>
                      <a:fillRect/>
                    </a:stretch>
                  </p:blipFill>
                  <p:spPr>
                    <a:xfrm>
                      <a:off x="5987503" y="2473605"/>
                      <a:ext cx="726772" cy="726772"/>
                    </a:xfrm>
                    <a:prstGeom prst="rect">
                      <a:avLst/>
                    </a:prstGeom>
                    <a:noFill/>
                    <a:ln>
                      <a:noFill/>
                    </a:ln>
                  </p:spPr>
                </p:pic>
              </p:grpSp>
              <p:pic>
                <p:nvPicPr>
                  <p:cNvPr id="134" name="Google Shape;134;p17" title="icons8-ai-64.png"/>
                  <p:cNvPicPr preferRelativeResize="0"/>
                  <p:nvPr/>
                </p:nvPicPr>
                <p:blipFill>
                  <a:blip r:embed="rId5">
                    <a:alphaModFix/>
                  </a:blip>
                  <a:stretch>
                    <a:fillRect/>
                  </a:stretch>
                </p:blipFill>
                <p:spPr>
                  <a:xfrm>
                    <a:off x="7168913" y="3012100"/>
                    <a:ext cx="609600" cy="609600"/>
                  </a:xfrm>
                  <a:prstGeom prst="rect">
                    <a:avLst/>
                  </a:prstGeom>
                  <a:noFill/>
                  <a:ln>
                    <a:noFill/>
                  </a:ln>
                </p:spPr>
              </p:pic>
            </p:grpSp>
            <p:pic>
              <p:nvPicPr>
                <p:cNvPr id="135" name="Google Shape;135;p17" title="icons8-bank-90.png"/>
                <p:cNvPicPr preferRelativeResize="0"/>
                <p:nvPr/>
              </p:nvPicPr>
              <p:blipFill>
                <a:blip r:embed="rId6">
                  <a:alphaModFix/>
                </a:blip>
                <a:stretch>
                  <a:fillRect/>
                </a:stretch>
              </p:blipFill>
              <p:spPr>
                <a:xfrm>
                  <a:off x="8225550" y="1332050"/>
                  <a:ext cx="508400" cy="508400"/>
                </a:xfrm>
                <a:prstGeom prst="rect">
                  <a:avLst/>
                </a:prstGeom>
                <a:noFill/>
                <a:ln>
                  <a:noFill/>
                </a:ln>
              </p:spPr>
            </p:pic>
            <p:pic>
              <p:nvPicPr>
                <p:cNvPr id="136" name="Google Shape;136;p17" title="icons8-database-100.png"/>
                <p:cNvPicPr preferRelativeResize="0"/>
                <p:nvPr/>
              </p:nvPicPr>
              <p:blipFill>
                <a:blip r:embed="rId7">
                  <a:alphaModFix/>
                </a:blip>
                <a:stretch>
                  <a:fillRect/>
                </a:stretch>
              </p:blipFill>
              <p:spPr>
                <a:xfrm>
                  <a:off x="8253300" y="3026300"/>
                  <a:ext cx="508400" cy="508400"/>
                </a:xfrm>
                <a:prstGeom prst="rect">
                  <a:avLst/>
                </a:prstGeom>
                <a:noFill/>
                <a:ln>
                  <a:noFill/>
                </a:ln>
              </p:spPr>
            </p:pic>
            <p:pic>
              <p:nvPicPr>
                <p:cNvPr id="137" name="Google Shape;137;p17" title="icons8-internet-64.png"/>
                <p:cNvPicPr preferRelativeResize="0"/>
                <p:nvPr/>
              </p:nvPicPr>
              <p:blipFill>
                <a:blip r:embed="rId8">
                  <a:alphaModFix/>
                </a:blip>
                <a:stretch>
                  <a:fillRect/>
                </a:stretch>
              </p:blipFill>
              <p:spPr>
                <a:xfrm>
                  <a:off x="8225550" y="2374513"/>
                  <a:ext cx="563900" cy="563900"/>
                </a:xfrm>
                <a:prstGeom prst="rect">
                  <a:avLst/>
                </a:prstGeom>
                <a:noFill/>
                <a:ln>
                  <a:noFill/>
                </a:ln>
              </p:spPr>
            </p:pic>
          </p:grpSp>
          <p:sp>
            <p:nvSpPr>
              <p:cNvPr id="138" name="Google Shape;138;p17"/>
              <p:cNvSpPr/>
              <p:nvPr/>
            </p:nvSpPr>
            <p:spPr>
              <a:xfrm rot="5400000">
                <a:off x="6526450" y="2188225"/>
                <a:ext cx="599700" cy="167400"/>
              </a:xfrm>
              <a:prstGeom prst="leftRightArrow">
                <a:avLst>
                  <a:gd name="adj1" fmla="val 41977"/>
                  <a:gd name="adj2" fmla="val 52222"/>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9" name="Google Shape;139;p17"/>
              <p:cNvSpPr/>
              <p:nvPr/>
            </p:nvSpPr>
            <p:spPr>
              <a:xfrm rot="10800000">
                <a:off x="7349050" y="2881713"/>
                <a:ext cx="599700" cy="167400"/>
              </a:xfrm>
              <a:prstGeom prst="leftRightArrow">
                <a:avLst>
                  <a:gd name="adj1" fmla="val 41977"/>
                  <a:gd name="adj2" fmla="val 52222"/>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40" name="Google Shape;140;p17"/>
              <p:cNvCxnSpPr/>
              <p:nvPr/>
            </p:nvCxnSpPr>
            <p:spPr>
              <a:xfrm rot="10800000" flipH="1">
                <a:off x="7296546" y="1633036"/>
                <a:ext cx="853800" cy="7800"/>
              </a:xfrm>
              <a:prstGeom prst="straightConnector1">
                <a:avLst/>
              </a:prstGeom>
              <a:noFill/>
              <a:ln w="9525" cap="flat" cmpd="sng">
                <a:solidFill>
                  <a:schemeClr val="dk2"/>
                </a:solidFill>
                <a:prstDash val="solid"/>
                <a:round/>
                <a:headEnd type="none" w="med" len="med"/>
                <a:tailEnd type="triangle" w="med" len="med"/>
              </a:ln>
            </p:spPr>
          </p:cxnSp>
          <p:cxnSp>
            <p:nvCxnSpPr>
              <p:cNvPr id="141" name="Google Shape;141;p17"/>
              <p:cNvCxnSpPr>
                <a:stCxn id="131" idx="0"/>
              </p:cNvCxnSpPr>
              <p:nvPr/>
            </p:nvCxnSpPr>
            <p:spPr>
              <a:xfrm rot="10800000" flipH="1">
                <a:off x="5686661" y="3312605"/>
                <a:ext cx="976800" cy="480600"/>
              </a:xfrm>
              <a:prstGeom prst="straightConnector1">
                <a:avLst/>
              </a:prstGeom>
              <a:noFill/>
              <a:ln w="9525" cap="flat" cmpd="sng">
                <a:solidFill>
                  <a:schemeClr val="dk2"/>
                </a:solidFill>
                <a:prstDash val="solid"/>
                <a:round/>
                <a:headEnd type="none" w="med" len="med"/>
                <a:tailEnd type="triangle" w="med" len="med"/>
              </a:ln>
            </p:spPr>
          </p:cxnSp>
          <p:cxnSp>
            <p:nvCxnSpPr>
              <p:cNvPr id="142" name="Google Shape;142;p17"/>
              <p:cNvCxnSpPr>
                <a:stCxn id="133" idx="0"/>
              </p:cNvCxnSpPr>
              <p:nvPr/>
            </p:nvCxnSpPr>
            <p:spPr>
              <a:xfrm rot="10800000">
                <a:off x="6979364" y="3320105"/>
                <a:ext cx="984600" cy="473100"/>
              </a:xfrm>
              <a:prstGeom prst="straightConnector1">
                <a:avLst/>
              </a:prstGeom>
              <a:noFill/>
              <a:ln w="9525" cap="flat" cmpd="sng">
                <a:solidFill>
                  <a:schemeClr val="dk2"/>
                </a:solidFill>
                <a:prstDash val="solid"/>
                <a:round/>
                <a:headEnd type="none" w="med" len="med"/>
                <a:tailEnd type="triangle" w="med" len="med"/>
              </a:ln>
            </p:spPr>
          </p:cxnSp>
          <p:cxnSp>
            <p:nvCxnSpPr>
              <p:cNvPr id="143" name="Google Shape;143;p17"/>
              <p:cNvCxnSpPr>
                <a:stCxn id="132" idx="0"/>
              </p:cNvCxnSpPr>
              <p:nvPr/>
            </p:nvCxnSpPr>
            <p:spPr>
              <a:xfrm rot="10800000" flipH="1">
                <a:off x="6825313" y="3374115"/>
                <a:ext cx="7800" cy="523200"/>
              </a:xfrm>
              <a:prstGeom prst="straightConnector1">
                <a:avLst/>
              </a:prstGeom>
              <a:noFill/>
              <a:ln w="9525" cap="flat" cmpd="sng">
                <a:solidFill>
                  <a:schemeClr val="dk2"/>
                </a:solidFill>
                <a:prstDash val="solid"/>
                <a:round/>
                <a:headEnd type="none" w="med" len="med"/>
                <a:tailEnd type="triangle" w="med" len="med"/>
              </a:ln>
            </p:spPr>
          </p:cxnSp>
        </p:grpSp>
        <p:sp>
          <p:nvSpPr>
            <p:cNvPr id="2" name="Google Shape;109;p16">
              <a:extLst>
                <a:ext uri="{FF2B5EF4-FFF2-40B4-BE49-F238E27FC236}">
                  <a16:creationId xmlns:a16="http://schemas.microsoft.com/office/drawing/2014/main" id="{8C457371-FB11-4DC3-F1E9-57CAA8FDA06C}"/>
                </a:ext>
              </a:extLst>
            </p:cNvPr>
            <p:cNvSpPr txBox="1"/>
            <p:nvPr/>
          </p:nvSpPr>
          <p:spPr>
            <a:xfrm>
              <a:off x="5936072" y="1936351"/>
              <a:ext cx="1540231" cy="485164"/>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dirty="0">
                  <a:solidFill>
                    <a:schemeClr val="accent1"/>
                  </a:solidFill>
                  <a:latin typeface="Lato"/>
                  <a:ea typeface="Lato"/>
                  <a:cs typeface="Lato"/>
                  <a:sym typeface="Lato"/>
                </a:rPr>
                <a:t>Venture Capital</a:t>
              </a:r>
              <a:endParaRPr sz="1000" dirty="0">
                <a:solidFill>
                  <a:schemeClr val="accent1"/>
                </a:solidFill>
                <a:latin typeface="Lato"/>
                <a:ea typeface="Lato"/>
                <a:cs typeface="Lato"/>
                <a:sym typeface="Lato"/>
              </a:endParaRPr>
            </a:p>
          </p:txBody>
        </p:sp>
        <p:sp>
          <p:nvSpPr>
            <p:cNvPr id="3" name="Google Shape;118;p16">
              <a:extLst>
                <a:ext uri="{FF2B5EF4-FFF2-40B4-BE49-F238E27FC236}">
                  <a16:creationId xmlns:a16="http://schemas.microsoft.com/office/drawing/2014/main" id="{A42D1223-EDA4-19C4-7632-CD854E577A28}"/>
                </a:ext>
              </a:extLst>
            </p:cNvPr>
            <p:cNvSpPr txBox="1"/>
            <p:nvPr/>
          </p:nvSpPr>
          <p:spPr>
            <a:xfrm>
              <a:off x="5457326" y="4486190"/>
              <a:ext cx="867600" cy="401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dirty="0">
                  <a:solidFill>
                    <a:schemeClr val="accent1"/>
                  </a:solidFill>
                  <a:latin typeface="Lato"/>
                  <a:ea typeface="Lato"/>
                  <a:cs typeface="Lato"/>
                  <a:sym typeface="Lato"/>
                </a:rPr>
                <a:t>Startups</a:t>
              </a:r>
              <a:endParaRPr sz="1000" dirty="0">
                <a:solidFill>
                  <a:schemeClr val="accent1"/>
                </a:solidFill>
                <a:latin typeface="Lato"/>
                <a:ea typeface="Lato"/>
                <a:cs typeface="Lato"/>
                <a:sym typeface="Lato"/>
              </a:endParaRPr>
            </a:p>
          </p:txBody>
        </p:sp>
        <p:sp>
          <p:nvSpPr>
            <p:cNvPr id="4" name="Google Shape;111;p16">
              <a:extLst>
                <a:ext uri="{FF2B5EF4-FFF2-40B4-BE49-F238E27FC236}">
                  <a16:creationId xmlns:a16="http://schemas.microsoft.com/office/drawing/2014/main" id="{596B4507-6029-E078-AA35-AB5A8094E39B}"/>
                </a:ext>
              </a:extLst>
            </p:cNvPr>
            <p:cNvSpPr txBox="1"/>
            <p:nvPr/>
          </p:nvSpPr>
          <p:spPr>
            <a:xfrm>
              <a:off x="6061376" y="2957840"/>
              <a:ext cx="1274400" cy="401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dirty="0">
                  <a:solidFill>
                    <a:schemeClr val="accent1"/>
                  </a:solidFill>
                  <a:latin typeface="Lato"/>
                  <a:ea typeface="Lato"/>
                  <a:cs typeface="Lato"/>
                  <a:sym typeface="Lato"/>
                </a:rPr>
                <a:t>AI </a:t>
              </a:r>
              <a:r>
                <a:rPr lang="en-US" sz="1000" dirty="0">
                  <a:solidFill>
                    <a:schemeClr val="accent1"/>
                  </a:solidFill>
                  <a:latin typeface="Lato"/>
                  <a:ea typeface="Lato"/>
                  <a:cs typeface="Lato"/>
                  <a:sym typeface="Lato"/>
                </a:rPr>
                <a:t>Agent</a:t>
              </a:r>
              <a:endParaRPr sz="1000" dirty="0">
                <a:solidFill>
                  <a:schemeClr val="accent1"/>
                </a:solidFill>
                <a:latin typeface="Lato"/>
                <a:ea typeface="Lato"/>
                <a:cs typeface="Lato"/>
                <a:sym typeface="Lato"/>
              </a:endParaRPr>
            </a:p>
          </p:txBody>
        </p:sp>
        <p:sp>
          <p:nvSpPr>
            <p:cNvPr id="5" name="Google Shape;111;p16">
              <a:extLst>
                <a:ext uri="{FF2B5EF4-FFF2-40B4-BE49-F238E27FC236}">
                  <a16:creationId xmlns:a16="http://schemas.microsoft.com/office/drawing/2014/main" id="{F49722E3-CD00-77DF-A891-3942894C3E76}"/>
                </a:ext>
              </a:extLst>
            </p:cNvPr>
            <p:cNvSpPr txBox="1"/>
            <p:nvPr/>
          </p:nvSpPr>
          <p:spPr>
            <a:xfrm>
              <a:off x="7907415" y="2078174"/>
              <a:ext cx="1377726" cy="379672"/>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000" dirty="0">
                  <a:solidFill>
                    <a:schemeClr val="accent1"/>
                  </a:solidFill>
                  <a:latin typeface="Lato"/>
                  <a:ea typeface="Lato"/>
                  <a:cs typeface="Lato"/>
                  <a:sym typeface="Lato"/>
                </a:rPr>
                <a:t>RAG </a:t>
              </a:r>
            </a:p>
            <a:p>
              <a:pPr marL="0" lvl="0" indent="0" algn="l" rtl="0">
                <a:spcBef>
                  <a:spcPts val="0"/>
                </a:spcBef>
                <a:spcAft>
                  <a:spcPts val="0"/>
                </a:spcAft>
                <a:buNone/>
              </a:pPr>
              <a:r>
                <a:rPr lang="en-US" sz="1000" dirty="0">
                  <a:solidFill>
                    <a:schemeClr val="accent1"/>
                  </a:solidFill>
                  <a:latin typeface="Lato"/>
                  <a:ea typeface="Lato"/>
                  <a:cs typeface="Lato"/>
                  <a:sym typeface="Lato"/>
                </a:rPr>
                <a:t>(Local DB/Internet)</a:t>
              </a:r>
              <a:endParaRPr sz="1000" dirty="0">
                <a:solidFill>
                  <a:schemeClr val="accent1"/>
                </a:solidFill>
                <a:latin typeface="Lato"/>
                <a:ea typeface="Lato"/>
                <a:cs typeface="Lato"/>
                <a:sym typeface="Lato"/>
              </a:endParaRPr>
            </a:p>
          </p:txBody>
        </p:sp>
      </p:grpSp>
    </p:spTree>
  </p:cSld>
  <p:clrMapOvr>
    <a:masterClrMapping/>
  </p:clrMapOvr>
</p:sld>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TotalTime>
  <Words>673</Words>
  <Application>Microsoft Macintosh PowerPoint</Application>
  <PresentationFormat>On-screen Show (16:9)</PresentationFormat>
  <Paragraphs>56</Paragraphs>
  <Slides>5</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vt:i4>
      </vt:variant>
    </vt:vector>
  </HeadingPairs>
  <TitlesOfParts>
    <vt:vector size="12" baseType="lpstr">
      <vt:lpstr>Arimo</vt:lpstr>
      <vt:lpstr>Arial</vt:lpstr>
      <vt:lpstr>Lato</vt:lpstr>
      <vt:lpstr>Times New Roman</vt:lpstr>
      <vt:lpstr>Georgia</vt:lpstr>
      <vt:lpstr>Raleway</vt:lpstr>
      <vt:lpstr>Streamline</vt:lpstr>
      <vt:lpstr>VC/Founder Group Chat</vt:lpstr>
      <vt:lpstr>Problem</vt:lpstr>
      <vt:lpstr>Evidence of Problem</vt:lpstr>
      <vt:lpstr>Business Model</vt:lpstr>
      <vt:lpstr>System Architecture Overview</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Microsoft Office User</cp:lastModifiedBy>
  <cp:revision>4</cp:revision>
  <dcterms:modified xsi:type="dcterms:W3CDTF">2026-04-20T03:25:35Z</dcterms:modified>
</cp:coreProperties>
</file>