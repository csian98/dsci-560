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267" r:id="rId3"/>
    <p:sldId id="268" r:id="rId4"/>
    <p:sldId id="258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66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00" y="2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525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765f40160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765f40160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765f40160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765f40160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65f4016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65f4016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112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2513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845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8045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4604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0679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8891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8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3832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681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518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062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39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3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d9seUQkkxCUGM13M0EwLmIvaB4b7zXbk/vie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X0ZTbggO3d3TSp8jzc6kcr5To_yEUI3I/vie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gKa0QmlKL9u5N3c5gDCgEI9vjtGh7-jR/vie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160520" y="1417320"/>
            <a:ext cx="822960" cy="1005840"/>
          </a:xfrm>
          <a:prstGeom prst="triangl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400" kern="0" spc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  AI  INTELLIGENCE</a:t>
            </a:r>
            <a:r>
              <a:rPr lang="en-US" sz="1400" b="1" kern="0" spc="8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931920" y="4069080"/>
            <a:ext cx="128016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6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•  GROUP 15  •  FINAL PRESENTATION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274320"/>
            <a:ext cx="201168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74320"/>
            <a:ext cx="27432" cy="20116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68512" y="274320"/>
            <a:ext cx="201168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42248" y="274320"/>
            <a:ext cx="27432" cy="20116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4841748"/>
            <a:ext cx="201168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4668012"/>
            <a:ext cx="27432" cy="20116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68512" y="4841748"/>
            <a:ext cx="201168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42248" y="4668012"/>
            <a:ext cx="27432" cy="20116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56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  <p:pic>
        <p:nvPicPr>
          <p:cNvPr id="18" name="Google Shape;54;p13" title="ChatGPT Image Apr 20, 2026 at 08_49_35 PM.png">
            <a:extLst>
              <a:ext uri="{FF2B5EF4-FFF2-40B4-BE49-F238E27FC236}">
                <a16:creationId xmlns:a16="http://schemas.microsoft.com/office/drawing/2014/main" id="{82E65D72-FB72-7E02-25D0-03822A8B3B5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499" y="956896"/>
            <a:ext cx="2137001" cy="213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ntroductory 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title="How urgen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//  THE STATUS QUO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Inside a VC partner's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time, attention, and paperwork actually break 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0644" y="1691640"/>
            <a:ext cx="18928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0644" y="1691640"/>
            <a:ext cx="1892808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3524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3524" y="22860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r>
              <a:rPr lang="en-US" sz="32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" y="329184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SPENT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3524" y="35204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companies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10612" y="1691640"/>
            <a:ext cx="18928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10612" y="1691640"/>
            <a:ext cx="1892808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93492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93492" y="22860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</a:t>
            </a:r>
            <a:r>
              <a:rPr lang="en-US" sz="32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793492" y="329184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SPENT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93492" y="35204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new deals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0580" y="1691640"/>
            <a:ext cx="18928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40580" y="1691640"/>
            <a:ext cx="1892808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346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3460" y="22860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9.9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823460" y="329184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STARTUPS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3460" y="35204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per partner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0548" y="1691640"/>
            <a:ext cx="189280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70548" y="1691640"/>
            <a:ext cx="1892808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3428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3428" y="2286000"/>
            <a:ext cx="1527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20-40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53428" y="3291840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3428" y="352044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portco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Gompers, Gornall, Kaplan &amp; Strebulaev (2020); industry benchmarks.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//  THE STATUS QUO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Validated with a practicing VC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9202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repetitive is document handling in your day-to-day work?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3566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INTERVIEW · 03:42 · LIVE RECORDING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1051560"/>
            <a:ext cx="2743200" cy="2743200"/>
          </a:xfrm>
          <a:prstGeom prst="ellipse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81344" y="1106424"/>
            <a:ext cx="2633472" cy="2633472"/>
          </a:xfrm>
          <a:prstGeom prst="ellipse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143000"/>
            <a:ext cx="2560320" cy="2560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78040" y="2103120"/>
            <a:ext cx="640080" cy="640080"/>
          </a:xfrm>
          <a:prstGeom prst="ellipse">
            <a:avLst/>
          </a:prstGeom>
          <a:solidFill>
            <a:srgbClr val="FF6B1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2304288"/>
            <a:ext cx="228600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60720" y="3977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 //  VC PARTNER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760720" y="4206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portfolio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title="Pretty repetitiv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tools cover only a slice of the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dominates relationship CRM — but leaves deal sourcing, portfolio management, and risk gaps open.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840480" cy="288036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840480" cy="54864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Relationship-graph CRM. File storage. Team handoff.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3383280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CC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172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MARKET SIZE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3465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Graph  •  File Storage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0916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CRITICAL WORKFLOWS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057400"/>
            <a:ext cx="3931920" cy="68580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057400"/>
            <a:ext cx="54864" cy="6858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31136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9496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 Sourcing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5394960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only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589520" y="2267712"/>
            <a:ext cx="914400" cy="274320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589520" y="22768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9160" y="2880360"/>
            <a:ext cx="3931920" cy="68580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09160" y="2880360"/>
            <a:ext cx="54864" cy="6858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54096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9496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Managing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8" name="Text 24"/>
          <p:cNvSpPr/>
          <p:nvPr/>
        </p:nvSpPr>
        <p:spPr>
          <a:xfrm>
            <a:off x="5394960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storage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Shape 25"/>
          <p:cNvSpPr/>
          <p:nvPr/>
        </p:nvSpPr>
        <p:spPr>
          <a:xfrm>
            <a:off x="7589520" y="3090672"/>
            <a:ext cx="914400" cy="27432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7589520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709160" y="3703320"/>
            <a:ext cx="3931920" cy="68580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709160" y="3703320"/>
            <a:ext cx="54864" cy="6858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877056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39496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Detection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5" name="Text 30"/>
          <p:cNvSpPr/>
          <p:nvPr/>
        </p:nvSpPr>
        <p:spPr>
          <a:xfrm>
            <a:off x="5394960" y="4050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Shape 31"/>
          <p:cNvSpPr/>
          <p:nvPr/>
        </p:nvSpPr>
        <p:spPr>
          <a:xfrm>
            <a:off x="7589520" y="3913632"/>
            <a:ext cx="914400" cy="27432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589520" y="39227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  <p:pic>
        <p:nvPicPr>
          <p:cNvPr id="40" name="Google Shape;127;p18" descr="Affinity Avis 2026 : Détails, Tarification, &amp; Caractéristiques | G2">
            <a:extLst>
              <a:ext uri="{FF2B5EF4-FFF2-40B4-BE49-F238E27FC236}">
                <a16:creationId xmlns:a16="http://schemas.microsoft.com/office/drawing/2014/main" id="{16915533-AEF7-09BE-ED31-3D2659020B0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784" y="1872712"/>
            <a:ext cx="1687143" cy="844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OUR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Aurora </a:t>
            </a:r>
            <a:r>
              <a:rPr lang="en-US" sz="28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expands every workflow with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CRM to an intelligent layer across sourcing, management, and risk.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4340" y="1645920"/>
            <a:ext cx="2651760" cy="219456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4340" y="1645920"/>
            <a:ext cx="2651760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2940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8860" y="1874520"/>
            <a:ext cx="548640" cy="548640"/>
          </a:xfrm>
          <a:prstGeom prst="ellipse">
            <a:avLst/>
          </a:prstGeom>
          <a:solidFill>
            <a:srgbClr val="121212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732" y="19842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 Sourcing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66294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RAG over web, news &amp; market data to surface opportunities continuously.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66294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External RAG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645920"/>
            <a:ext cx="2651760" cy="219456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46120" y="1645920"/>
            <a:ext cx="2651760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74720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0" y="1874520"/>
            <a:ext cx="548640" cy="548640"/>
          </a:xfrm>
          <a:prstGeom prst="ellipse">
            <a:avLst/>
          </a:prstGeom>
          <a:solidFill>
            <a:srgbClr val="121212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984248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Managing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347472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semantic understanding of investor updates, board materials &amp; ad-hoc reports.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7472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Semantic RAG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57900" y="1645920"/>
            <a:ext cx="2651760" cy="2194560"/>
          </a:xfrm>
          <a:prstGeom prst="rect">
            <a:avLst/>
          </a:prstGeom>
          <a:solidFill>
            <a:schemeClr val="bg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57900" y="1645920"/>
            <a:ext cx="2651760" cy="7315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286500" y="1901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932420" y="1874520"/>
            <a:ext cx="548640" cy="548640"/>
          </a:xfrm>
          <a:prstGeom prst="ellipse">
            <a:avLst/>
          </a:prstGeom>
          <a:solidFill>
            <a:srgbClr val="121212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292" y="1984248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8650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Detection</a:t>
            </a: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27" name="Text 22"/>
          <p:cNvSpPr/>
          <p:nvPr/>
        </p:nvSpPr>
        <p:spPr>
          <a:xfrm>
            <a:off x="62865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risk analysis across portfolio signals, flagging issues before they escalate.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Text 23"/>
          <p:cNvSpPr/>
          <p:nvPr/>
        </p:nvSpPr>
        <p:spPr>
          <a:xfrm>
            <a:off x="6286500" y="3520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Risk AI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1212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85800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 TAM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85800" y="43708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$2B</a:t>
            </a:r>
            <a:r>
              <a:rPr lang="en-US" sz="16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CRM  +  </a:t>
            </a:r>
            <a:r>
              <a:rPr lang="en-US" sz="1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$3B</a:t>
            </a:r>
            <a:r>
              <a:rPr lang="en-US" sz="16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Market Intel  +  </a:t>
            </a:r>
            <a:r>
              <a:rPr lang="en-US" sz="1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$5B</a:t>
            </a:r>
            <a:r>
              <a:rPr lang="en-US" sz="16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 Mgmt  =  </a:t>
            </a:r>
            <a:r>
              <a:rPr lang="en-US" sz="16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ARCHITECTURE ·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Managing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26480" y="713232"/>
            <a:ext cx="2514600" cy="32918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0" y="7223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RAG  +  MEM0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in, contextual answers out — grounded in your firm's own portfolio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18872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 PARTNER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34640" y="2103120"/>
            <a:ext cx="1645920" cy="118872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34640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engine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23560" y="2103120"/>
            <a:ext cx="164592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286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2356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623560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MEM0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543800" y="2103120"/>
            <a:ext cx="1097280" cy="1188720"/>
          </a:xfrm>
          <a:prstGeom prst="rect">
            <a:avLst/>
          </a:prstGeom>
          <a:solidFill>
            <a:srgbClr val="12121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22860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543800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691640" y="2679192"/>
            <a:ext cx="114300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8288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480560" y="2679192"/>
            <a:ext cx="114300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6177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269480" y="2679192"/>
            <a:ext cx="27432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737360" y="3474720"/>
            <a:ext cx="3840480" cy="41148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088" y="354787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194560" y="35661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 //  Updates  ·  Decks  ·  Reports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639312" y="3291840"/>
            <a:ext cx="27432" cy="18288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50292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88720" y="416052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DynamoDB   //   Snowflake: snowflake-arctic-embed-l-v2.0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SOURCING  + 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 Sourcing &amp; Risk Detection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0" y="713232"/>
            <a:ext cx="2057400" cy="329184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7223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+ EXT RAG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memory merged with live web signals to surface deals and flag risks as they emerge.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118872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743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 PARTNER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query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34640" y="2103120"/>
            <a:ext cx="1645920" cy="118872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2743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212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34640" y="2971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23560" y="1828800"/>
            <a:ext cx="164592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057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993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VECTOR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217920" y="2240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memory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623560" y="2788920"/>
            <a:ext cx="164592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3017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2953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RAG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217920" y="32004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News · Market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543800" y="1828800"/>
            <a:ext cx="109728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10312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01000" y="213757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DEALS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543800" y="2788920"/>
            <a:ext cx="1097280" cy="822960"/>
          </a:xfrm>
          <a:prstGeom prst="rect">
            <a:avLst/>
          </a:prstGeom>
          <a:solidFill>
            <a:srgbClr val="121212"/>
          </a:solidFill>
          <a:ln w="12700">
            <a:solidFill>
              <a:srgbClr val="FF8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306324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001000" y="3097696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1691640" y="2679192"/>
            <a:ext cx="114300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18288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4480560" y="2331720"/>
            <a:ext cx="114300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4480560" y="3017520"/>
            <a:ext cx="1143000" cy="27432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7269480" y="2194560"/>
            <a:ext cx="274320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7269480" y="3154680"/>
            <a:ext cx="274320" cy="27432"/>
          </a:xfrm>
          <a:prstGeom prst="rect">
            <a:avLst/>
          </a:prstGeom>
          <a:solidFill>
            <a:srgbClr val="FF8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7"/>
          <p:cNvSpPr/>
          <p:nvPr/>
        </p:nvSpPr>
        <p:spPr>
          <a:xfrm>
            <a:off x="50292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88720" y="416052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DynamoDB   //   Snowflake arctic-embed-l-v2.0   //   Brave Search MCP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managed-AWS stack: React Native frontend, WebSocket sessions routed to Lambda, chat persisted in DynamoDB.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" y="1600200"/>
            <a:ext cx="1965960" cy="228600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600200"/>
            <a:ext cx="54864" cy="22860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088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Native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2743200"/>
            <a:ext cx="365760" cy="1828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Group chat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private chat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group chat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 upload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51176" y="1600200"/>
            <a:ext cx="1965960" cy="228600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51176" y="1600200"/>
            <a:ext cx="54864" cy="22860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34056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76" y="17830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34056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34056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Gateway API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34056" y="2743200"/>
            <a:ext cx="365760" cy="1828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2734056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Maintain WebSocket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 to Lambda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Session data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626864" y="1600200"/>
            <a:ext cx="1965960" cy="228600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626864" y="1600200"/>
            <a:ext cx="54864" cy="22860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09744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4" y="178308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09744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809744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Lambda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809744" y="2743200"/>
            <a:ext cx="365760" cy="1828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4809744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routing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RAG orchestration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invocation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02552" y="1600200"/>
            <a:ext cx="1965960" cy="2286000"/>
          </a:xfrm>
          <a:prstGeom prst="rect">
            <a:avLst/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702552" y="1600200"/>
            <a:ext cx="54864" cy="228600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885432" y="1783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178308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885432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885432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DynamoDB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885432" y="2743200"/>
            <a:ext cx="365760" cy="18288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885432" y="28346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 chat history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Session data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records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459736" y="2606040"/>
            <a:ext cx="73152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535424" y="2606040"/>
            <a:ext cx="73152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6611112" y="2606040"/>
            <a:ext cx="73152" cy="27432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50292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</a:t>
            </a:r>
            <a:r>
              <a:rPr lang="en-US" sz="1000" b="1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FLOW:  </a:t>
            </a: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0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</a:t>
            </a:r>
            <a:r>
              <a:rPr lang="en-US" sz="10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0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r>
              <a:rPr lang="en-US" sz="1000" b="1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altLang="ko-KR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000" b="1" kern="0" spc="4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 REFERENCES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48640" cy="36576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4864" cy="82296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Taj, H. M.</a:t>
            </a: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Venture Capitalists Make Decisions? by Paul Gompers, William Gornall, Steven Kaplan, and Ilya A. Strebulaev — An In-Depth Review.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4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54864" cy="82296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[02]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87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</a:t>
            </a: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— CRM for Private Capital and Relationship Intelligence Platform.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0632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4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affinity.co · Accessed April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8138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54864" cy="822960"/>
          </a:xfrm>
          <a:prstGeom prst="rect">
            <a:avLst/>
          </a:prstGeom>
          <a:solidFill>
            <a:srgbClr val="FF6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[03]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3547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Future</a:t>
            </a:r>
            <a:r>
              <a:rPr lang="en-US" sz="120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794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Capital Market Size, Share, and Forecast Report to 2035.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0233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4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marketresearchfuture.com · Updated April 6,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END OF TRANSMISSION  //  THANK YOU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AURORA  //  VC AI INTELLIGENCE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0" y="482803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DSCI 560  //  GROUP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</TotalTime>
  <Words>702</Words>
  <Application>Microsoft Macintosh PowerPoint</Application>
  <PresentationFormat>On-screen Show (16:9)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Consolas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— VC AI Intelligence</dc:title>
  <dc:subject>PptxGenJS Presentation</dc:subject>
  <dc:creator>DSCI 560 Group 15</dc:creator>
  <cp:lastModifiedBy>E3676</cp:lastModifiedBy>
  <cp:revision>2</cp:revision>
  <dcterms:created xsi:type="dcterms:W3CDTF">2026-04-23T01:33:29Z</dcterms:created>
  <dcterms:modified xsi:type="dcterms:W3CDTF">2026-04-23T05:35:27Z</dcterms:modified>
</cp:coreProperties>
</file>