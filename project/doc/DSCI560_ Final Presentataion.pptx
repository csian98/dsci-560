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39" d="100"/>
          <a:sy n="139" d="100"/>
        </p:scale>
        <p:origin x="176" y="5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765f40160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765f40160_2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02d15f34c_15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e02d15f34c_15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765f40160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765f40160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765f40160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765f40160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765f40160_3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765f40160_3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765f40160_3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765f40160_3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76d9c0321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76d9c0321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76d9c0321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d76d9c0321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765f40160_3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d765f40160_3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02d15f34c_15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e02d15f34c_15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d9seUQkkxCUGM13M0EwLmIvaB4b7zXbk/view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X0ZTbggO3d3TSp8jzc6kcr5To_yEUI3I/view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gKa0QmlKL9u5N3c5gDCgEI9vjtGh7-jR/view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pulse/how-do-venture-capitalists-make-decisions-paul-gompers-taj-xtpcf?utm_source=chatgpt.com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marketresearchfuture.com/reports/venture-capital-market-24699" TargetMode="External"/><Relationship Id="rId4" Type="http://schemas.openxmlformats.org/officeDocument/2006/relationships/hyperlink" Target="https://www.affinity.co/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3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21.png"/><Relationship Id="rId4" Type="http://schemas.openxmlformats.org/officeDocument/2006/relationships/image" Target="../media/image11.png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ChatGPT Image Apr 20, 2026 at 08_49_35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2250" y="1269575"/>
            <a:ext cx="2137001" cy="21370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308542" y="4531220"/>
            <a:ext cx="2526916" cy="4223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1200" dirty="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ci 560: Group 15</a:t>
            </a:r>
            <a:endParaRPr sz="1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introductory vide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5"/>
          <p:cNvGrpSpPr/>
          <p:nvPr/>
        </p:nvGrpSpPr>
        <p:grpSpPr>
          <a:xfrm>
            <a:off x="1884825" y="1124125"/>
            <a:ext cx="3399925" cy="3921350"/>
            <a:chOff x="1884825" y="1124125"/>
            <a:chExt cx="3399925" cy="3921350"/>
          </a:xfrm>
        </p:grpSpPr>
        <p:grpSp>
          <p:nvGrpSpPr>
            <p:cNvPr id="66" name="Google Shape;66;p15"/>
            <p:cNvGrpSpPr/>
            <p:nvPr/>
          </p:nvGrpSpPr>
          <p:grpSpPr>
            <a:xfrm>
              <a:off x="1884825" y="1124125"/>
              <a:ext cx="2212475" cy="3921258"/>
              <a:chOff x="1884825" y="1124125"/>
              <a:chExt cx="2212475" cy="3921258"/>
            </a:xfrm>
          </p:grpSpPr>
          <p:cxnSp>
            <p:nvCxnSpPr>
              <p:cNvPr id="67" name="Google Shape;67;p15"/>
              <p:cNvCxnSpPr>
                <a:stCxn id="68" idx="3"/>
                <a:endCxn id="69" idx="1"/>
              </p:cNvCxnSpPr>
              <p:nvPr/>
            </p:nvCxnSpPr>
            <p:spPr>
              <a:xfrm rot="10800000" flipH="1">
                <a:off x="1884825" y="1597975"/>
                <a:ext cx="1264800" cy="1174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" name="Google Shape;70;p15"/>
              <p:cNvCxnSpPr>
                <a:stCxn id="68" idx="3"/>
                <a:endCxn id="71" idx="1"/>
              </p:cNvCxnSpPr>
              <p:nvPr/>
            </p:nvCxnSpPr>
            <p:spPr>
              <a:xfrm rot="10800000" flipH="1">
                <a:off x="1884825" y="2545975"/>
                <a:ext cx="1264800" cy="22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72" name="Google Shape;72;p15"/>
              <p:cNvGrpSpPr/>
              <p:nvPr/>
            </p:nvGrpSpPr>
            <p:grpSpPr>
              <a:xfrm>
                <a:off x="3000424" y="1124125"/>
                <a:ext cx="1096876" cy="3921258"/>
                <a:chOff x="3000424" y="1124125"/>
                <a:chExt cx="1096876" cy="3921258"/>
              </a:xfrm>
            </p:grpSpPr>
            <p:sp>
              <p:nvSpPr>
                <p:cNvPr id="73" name="Google Shape;73;p15"/>
                <p:cNvSpPr/>
                <p:nvPr/>
              </p:nvSpPr>
              <p:spPr>
                <a:xfrm rot="2700000">
                  <a:off x="3134640" y="4239558"/>
                  <a:ext cx="681368" cy="661852"/>
                </a:xfrm>
                <a:prstGeom prst="plus">
                  <a:avLst>
                    <a:gd name="adj" fmla="val 37612"/>
                  </a:avLst>
                </a:prstGeom>
                <a:solidFill>
                  <a:schemeClr val="dk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4" name="Google Shape;74;p15"/>
                <p:cNvGrpSpPr/>
                <p:nvPr/>
              </p:nvGrpSpPr>
              <p:grpSpPr>
                <a:xfrm>
                  <a:off x="3149500" y="1124125"/>
                  <a:ext cx="947800" cy="2525775"/>
                  <a:chOff x="3149500" y="1124125"/>
                  <a:chExt cx="947800" cy="2525775"/>
                </a:xfrm>
              </p:grpSpPr>
              <p:pic>
                <p:nvPicPr>
                  <p:cNvPr id="69" name="Google Shape;69;p15"/>
                  <p:cNvPicPr preferRelativeResize="0"/>
                  <p:nvPr/>
                </p:nvPicPr>
                <p:blipFill>
                  <a:blip r:embed="rId3">
                    <a:alphaModFix/>
                  </a:blip>
                  <a:stretch>
                    <a:fillRect/>
                  </a:stretch>
                </p:blipFill>
                <p:spPr>
                  <a:xfrm>
                    <a:off x="3149500" y="1124125"/>
                    <a:ext cx="947800" cy="947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71" name="Google Shape;71;p15"/>
                  <p:cNvPicPr preferRelativeResize="0"/>
                  <p:nvPr/>
                </p:nvPicPr>
                <p:blipFill>
                  <a:blip r:embed="rId3">
                    <a:alphaModFix/>
                  </a:blip>
                  <a:stretch>
                    <a:fillRect/>
                  </a:stretch>
                </p:blipFill>
                <p:spPr>
                  <a:xfrm>
                    <a:off x="3149500" y="2071925"/>
                    <a:ext cx="947800" cy="947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grpSp>
                <p:nvGrpSpPr>
                  <p:cNvPr id="75" name="Google Shape;75;p15"/>
                  <p:cNvGrpSpPr/>
                  <p:nvPr/>
                </p:nvGrpSpPr>
                <p:grpSpPr>
                  <a:xfrm>
                    <a:off x="3279900" y="3465400"/>
                    <a:ext cx="687000" cy="184500"/>
                    <a:chOff x="3135500" y="3465400"/>
                    <a:chExt cx="687000" cy="184500"/>
                  </a:xfrm>
                </p:grpSpPr>
                <p:sp>
                  <p:nvSpPr>
                    <p:cNvPr id="76" name="Google Shape;76;p15"/>
                    <p:cNvSpPr/>
                    <p:nvPr/>
                  </p:nvSpPr>
                  <p:spPr>
                    <a:xfrm>
                      <a:off x="3135500" y="3465400"/>
                      <a:ext cx="173700" cy="184500"/>
                    </a:xfrm>
                    <a:prstGeom prst="ellipse">
                      <a:avLst/>
                    </a:prstGeom>
                    <a:solidFill>
                      <a:schemeClr val="dk1"/>
                    </a:solidFill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7" name="Google Shape;77;p15"/>
                    <p:cNvSpPr/>
                    <p:nvPr/>
                  </p:nvSpPr>
                  <p:spPr>
                    <a:xfrm>
                      <a:off x="3392150" y="3465400"/>
                      <a:ext cx="173700" cy="184500"/>
                    </a:xfrm>
                    <a:prstGeom prst="ellipse">
                      <a:avLst/>
                    </a:prstGeom>
                    <a:solidFill>
                      <a:schemeClr val="dk1"/>
                    </a:solidFill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8" name="Google Shape;78;p15"/>
                    <p:cNvSpPr/>
                    <p:nvPr/>
                  </p:nvSpPr>
                  <p:spPr>
                    <a:xfrm>
                      <a:off x="3648800" y="3465400"/>
                      <a:ext cx="173700" cy="184500"/>
                    </a:xfrm>
                    <a:prstGeom prst="ellipse">
                      <a:avLst/>
                    </a:prstGeom>
                    <a:solidFill>
                      <a:schemeClr val="dk1"/>
                    </a:solidFill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</p:grpSp>
        </p:grpSp>
        <p:sp>
          <p:nvSpPr>
            <p:cNvPr id="79" name="Google Shape;79;p15"/>
            <p:cNvSpPr/>
            <p:nvPr/>
          </p:nvSpPr>
          <p:spPr>
            <a:xfrm>
              <a:off x="3899950" y="4001775"/>
              <a:ext cx="1384800" cy="10437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Avg 9.9</a:t>
              </a:r>
              <a:endParaRPr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Startsups</a:t>
              </a:r>
              <a:endParaRPr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80" name="Google Shape;80;p15"/>
          <p:cNvGrpSpPr/>
          <p:nvPr/>
        </p:nvGrpSpPr>
        <p:grpSpPr>
          <a:xfrm>
            <a:off x="4097300" y="698425"/>
            <a:ext cx="4916700" cy="4347050"/>
            <a:chOff x="4097300" y="698425"/>
            <a:chExt cx="4916700" cy="4347050"/>
          </a:xfrm>
        </p:grpSpPr>
        <p:grpSp>
          <p:nvGrpSpPr>
            <p:cNvPr id="81" name="Google Shape;81;p15"/>
            <p:cNvGrpSpPr/>
            <p:nvPr/>
          </p:nvGrpSpPr>
          <p:grpSpPr>
            <a:xfrm>
              <a:off x="4097300" y="698425"/>
              <a:ext cx="4916700" cy="4346959"/>
              <a:chOff x="4097300" y="698425"/>
              <a:chExt cx="4916700" cy="4346959"/>
            </a:xfrm>
          </p:grpSpPr>
          <p:pic>
            <p:nvPicPr>
              <p:cNvPr id="82" name="Google Shape;82;p1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5631500" y="748675"/>
                <a:ext cx="849300" cy="849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3" name="Google Shape;83;p1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5631500" y="1760575"/>
                <a:ext cx="849300" cy="849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4" name="Google Shape;84;p1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5631500" y="2772475"/>
                <a:ext cx="849300" cy="849300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85" name="Google Shape;85;p15"/>
              <p:cNvCxnSpPr>
                <a:stCxn id="69" idx="3"/>
                <a:endCxn id="82" idx="1"/>
              </p:cNvCxnSpPr>
              <p:nvPr/>
            </p:nvCxnSpPr>
            <p:spPr>
              <a:xfrm rot="10800000" flipH="1">
                <a:off x="4097300" y="1173225"/>
                <a:ext cx="1534200" cy="424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" name="Google Shape;86;p15"/>
              <p:cNvCxnSpPr>
                <a:stCxn id="69" idx="3"/>
                <a:endCxn id="83" idx="1"/>
              </p:cNvCxnSpPr>
              <p:nvPr/>
            </p:nvCxnSpPr>
            <p:spPr>
              <a:xfrm>
                <a:off x="4097300" y="1598025"/>
                <a:ext cx="1534200" cy="587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7" name="Google Shape;87;p15"/>
              <p:cNvCxnSpPr>
                <a:stCxn id="69" idx="3"/>
                <a:endCxn id="84" idx="1"/>
              </p:cNvCxnSpPr>
              <p:nvPr/>
            </p:nvCxnSpPr>
            <p:spPr>
              <a:xfrm>
                <a:off x="4097300" y="1598025"/>
                <a:ext cx="1534200" cy="159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8" name="Google Shape;88;p15"/>
              <p:cNvSpPr/>
              <p:nvPr/>
            </p:nvSpPr>
            <p:spPr>
              <a:xfrm rot="2700000">
                <a:off x="5584065" y="4239558"/>
                <a:ext cx="681368" cy="661852"/>
              </a:xfrm>
              <a:prstGeom prst="plus">
                <a:avLst>
                  <a:gd name="adj" fmla="val 37612"/>
                </a:avLst>
              </a:prstGeom>
              <a:solidFill>
                <a:schemeClr val="dk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9" name="Google Shape;89;p15"/>
              <p:cNvGrpSpPr/>
              <p:nvPr/>
            </p:nvGrpSpPr>
            <p:grpSpPr>
              <a:xfrm>
                <a:off x="5712650" y="3766425"/>
                <a:ext cx="687000" cy="184500"/>
                <a:chOff x="3135500" y="3465400"/>
                <a:chExt cx="687000" cy="184500"/>
              </a:xfrm>
            </p:grpSpPr>
            <p:sp>
              <p:nvSpPr>
                <p:cNvPr id="90" name="Google Shape;90;p15"/>
                <p:cNvSpPr/>
                <p:nvPr/>
              </p:nvSpPr>
              <p:spPr>
                <a:xfrm>
                  <a:off x="3135500" y="3465400"/>
                  <a:ext cx="173700" cy="184500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" name="Google Shape;91;p15"/>
                <p:cNvSpPr/>
                <p:nvPr/>
              </p:nvSpPr>
              <p:spPr>
                <a:xfrm>
                  <a:off x="3392150" y="3465400"/>
                  <a:ext cx="173700" cy="184500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" name="Google Shape;92;p15"/>
                <p:cNvSpPr/>
                <p:nvPr/>
              </p:nvSpPr>
              <p:spPr>
                <a:xfrm>
                  <a:off x="3648800" y="3465400"/>
                  <a:ext cx="173700" cy="184500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93" name="Google Shape;93;p15"/>
              <p:cNvSpPr/>
              <p:nvPr/>
            </p:nvSpPr>
            <p:spPr>
              <a:xfrm>
                <a:off x="6534150" y="698425"/>
                <a:ext cx="2435100" cy="9498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 b="1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Investment Update</a:t>
                </a:r>
                <a:endParaRPr sz="1300"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4" name="Google Shape;94;p15"/>
              <p:cNvSpPr/>
              <p:nvPr/>
            </p:nvSpPr>
            <p:spPr>
              <a:xfrm>
                <a:off x="6579175" y="1760575"/>
                <a:ext cx="2380800" cy="9498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 b="1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Board Materials</a:t>
                </a:r>
                <a:endParaRPr sz="1300"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5" name="Google Shape;95;p15"/>
              <p:cNvSpPr/>
              <p:nvPr/>
            </p:nvSpPr>
            <p:spPr>
              <a:xfrm>
                <a:off x="6633200" y="2822725"/>
                <a:ext cx="2380800" cy="9498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 b="1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Ad-hoc Reports</a:t>
                </a:r>
                <a:endParaRPr sz="1300"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96" name="Google Shape;96;p15"/>
            <p:cNvSpPr/>
            <p:nvPr/>
          </p:nvSpPr>
          <p:spPr>
            <a:xfrm>
              <a:off x="6566250" y="4001775"/>
              <a:ext cx="1816800" cy="10437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Avg 20-40</a:t>
              </a:r>
              <a:endParaRPr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Documents Yearly</a:t>
              </a:r>
              <a:endParaRPr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97" name="Google Shape;97;p15"/>
          <p:cNvGrpSpPr/>
          <p:nvPr/>
        </p:nvGrpSpPr>
        <p:grpSpPr>
          <a:xfrm>
            <a:off x="311700" y="1932425"/>
            <a:ext cx="1573125" cy="2501400"/>
            <a:chOff x="311700" y="1932425"/>
            <a:chExt cx="1573125" cy="2501400"/>
          </a:xfrm>
        </p:grpSpPr>
        <p:sp>
          <p:nvSpPr>
            <p:cNvPr id="98" name="Google Shape;98;p15"/>
            <p:cNvSpPr/>
            <p:nvPr/>
          </p:nvSpPr>
          <p:spPr>
            <a:xfrm>
              <a:off x="405863" y="3390125"/>
              <a:ext cx="1384800" cy="10437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One VC Investor</a:t>
              </a:r>
              <a:endParaRPr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68" name="Google Shape;68;p1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11700" y="1932425"/>
              <a:ext cx="1573125" cy="1680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9" name="Google Shape;99;p15"/>
          <p:cNvGrpSpPr/>
          <p:nvPr/>
        </p:nvGrpSpPr>
        <p:grpSpPr>
          <a:xfrm>
            <a:off x="2185194" y="398256"/>
            <a:ext cx="4773608" cy="4346999"/>
            <a:chOff x="3075257" y="378619"/>
            <a:chExt cx="3499200" cy="3186482"/>
          </a:xfrm>
        </p:grpSpPr>
        <p:grpSp>
          <p:nvGrpSpPr>
            <p:cNvPr id="100" name="Google Shape;100;p15"/>
            <p:cNvGrpSpPr/>
            <p:nvPr/>
          </p:nvGrpSpPr>
          <p:grpSpPr>
            <a:xfrm>
              <a:off x="3075257" y="378619"/>
              <a:ext cx="3499200" cy="3186482"/>
              <a:chOff x="3000425" y="922575"/>
              <a:chExt cx="3239400" cy="2949900"/>
            </a:xfrm>
          </p:grpSpPr>
          <p:grpSp>
            <p:nvGrpSpPr>
              <p:cNvPr id="101" name="Google Shape;101;p15"/>
              <p:cNvGrpSpPr/>
              <p:nvPr/>
            </p:nvGrpSpPr>
            <p:grpSpPr>
              <a:xfrm>
                <a:off x="3000425" y="922575"/>
                <a:ext cx="3239400" cy="2949900"/>
                <a:chOff x="3000425" y="922575"/>
                <a:chExt cx="3239400" cy="2949900"/>
              </a:xfrm>
            </p:grpSpPr>
            <p:sp>
              <p:nvSpPr>
                <p:cNvPr id="102" name="Google Shape;102;p15"/>
                <p:cNvSpPr/>
                <p:nvPr/>
              </p:nvSpPr>
              <p:spPr>
                <a:xfrm>
                  <a:off x="3000425" y="922575"/>
                  <a:ext cx="3239400" cy="2949900"/>
                </a:xfrm>
                <a:prstGeom prst="pie">
                  <a:avLst>
                    <a:gd name="adj1" fmla="val 9001254"/>
                    <a:gd name="adj2" fmla="val 16200000"/>
                  </a:avLst>
                </a:prstGeom>
                <a:solidFill>
                  <a:srgbClr val="FFE599"/>
                </a:solidFill>
                <a:ln w="34200" cap="flat" cmpd="sng">
                  <a:solidFill>
                    <a:schemeClr val="dk2"/>
                  </a:solidFill>
                  <a:prstDash val="dashDot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34700" tIns="134700" rIns="134700" bIns="1347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63"/>
                </a:p>
              </p:txBody>
            </p:sp>
            <p:sp>
              <p:nvSpPr>
                <p:cNvPr id="103" name="Google Shape;103;p15"/>
                <p:cNvSpPr/>
                <p:nvPr/>
              </p:nvSpPr>
              <p:spPr>
                <a:xfrm>
                  <a:off x="3254950" y="1932425"/>
                  <a:ext cx="1109700" cy="424800"/>
                </a:xfrm>
                <a:prstGeom prst="rect">
                  <a:avLst/>
                </a:prstGeom>
                <a:solidFill>
                  <a:srgbClr val="FFE599"/>
                </a:solidFill>
                <a:ln w="14075" cap="flat" cmpd="sng">
                  <a:solidFill>
                    <a:srgbClr val="FFE5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34700" tIns="134700" rIns="134700" bIns="13470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916" b="1">
                      <a:solidFill>
                        <a:schemeClr val="dk2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others</a:t>
                  </a:r>
                  <a:endParaRPr sz="1916" b="1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104" name="Google Shape;104;p15"/>
              <p:cNvGrpSpPr/>
              <p:nvPr/>
            </p:nvGrpSpPr>
            <p:grpSpPr>
              <a:xfrm>
                <a:off x="3000425" y="922575"/>
                <a:ext cx="3239400" cy="2949900"/>
                <a:chOff x="3000425" y="922575"/>
                <a:chExt cx="3239400" cy="2949900"/>
              </a:xfrm>
            </p:grpSpPr>
            <p:sp>
              <p:nvSpPr>
                <p:cNvPr id="105" name="Google Shape;105;p15"/>
                <p:cNvSpPr/>
                <p:nvPr/>
              </p:nvSpPr>
              <p:spPr>
                <a:xfrm>
                  <a:off x="3000425" y="922575"/>
                  <a:ext cx="3239400" cy="2949900"/>
                </a:xfrm>
                <a:prstGeom prst="pie">
                  <a:avLst>
                    <a:gd name="adj1" fmla="val 2554239"/>
                    <a:gd name="adj2" fmla="val 9006638"/>
                  </a:avLst>
                </a:prstGeom>
                <a:solidFill>
                  <a:srgbClr val="F1C232"/>
                </a:solidFill>
                <a:ln w="34200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34700" tIns="134700" rIns="134700" bIns="1347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63"/>
                </a:p>
              </p:txBody>
            </p:sp>
            <p:sp>
              <p:nvSpPr>
                <p:cNvPr id="106" name="Google Shape;106;p15"/>
                <p:cNvSpPr/>
                <p:nvPr/>
              </p:nvSpPr>
              <p:spPr>
                <a:xfrm>
                  <a:off x="3254950" y="1932425"/>
                  <a:ext cx="1109700" cy="424800"/>
                </a:xfrm>
                <a:prstGeom prst="rect">
                  <a:avLst/>
                </a:prstGeom>
                <a:solidFill>
                  <a:srgbClr val="FFE599"/>
                </a:solidFill>
                <a:ln w="14075" cap="flat" cmpd="sng">
                  <a:solidFill>
                    <a:srgbClr val="FFE5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34700" tIns="134700" rIns="134700" bIns="13470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916" b="1">
                      <a:solidFill>
                        <a:schemeClr val="dk2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others</a:t>
                  </a:r>
                  <a:endParaRPr sz="1916" b="1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107" name="Google Shape;107;p15"/>
              <p:cNvGrpSpPr/>
              <p:nvPr/>
            </p:nvGrpSpPr>
            <p:grpSpPr>
              <a:xfrm>
                <a:off x="3000425" y="922575"/>
                <a:ext cx="3239400" cy="2949900"/>
                <a:chOff x="3000425" y="922575"/>
                <a:chExt cx="3239400" cy="2949900"/>
              </a:xfrm>
            </p:grpSpPr>
            <p:sp>
              <p:nvSpPr>
                <p:cNvPr id="108" name="Google Shape;108;p15"/>
                <p:cNvSpPr/>
                <p:nvPr/>
              </p:nvSpPr>
              <p:spPr>
                <a:xfrm>
                  <a:off x="3000425" y="922575"/>
                  <a:ext cx="3239400" cy="2949900"/>
                </a:xfrm>
                <a:prstGeom prst="pie">
                  <a:avLst>
                    <a:gd name="adj1" fmla="val 16211336"/>
                    <a:gd name="adj2" fmla="val 2545501"/>
                  </a:avLst>
                </a:prstGeom>
                <a:solidFill>
                  <a:schemeClr val="accent4"/>
                </a:solidFill>
                <a:ln w="4560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34700" tIns="134700" rIns="134700" bIns="1347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63"/>
                </a:p>
              </p:txBody>
            </p:sp>
            <p:sp>
              <p:nvSpPr>
                <p:cNvPr id="109" name="Google Shape;109;p15"/>
                <p:cNvSpPr/>
                <p:nvPr/>
              </p:nvSpPr>
              <p:spPr>
                <a:xfrm>
                  <a:off x="3254950" y="1932425"/>
                  <a:ext cx="1109700" cy="424800"/>
                </a:xfrm>
                <a:prstGeom prst="rect">
                  <a:avLst/>
                </a:prstGeom>
                <a:solidFill>
                  <a:srgbClr val="FFE599"/>
                </a:solidFill>
                <a:ln w="14075" cap="flat" cmpd="sng">
                  <a:solidFill>
                    <a:srgbClr val="FFE59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34700" tIns="134700" rIns="134700" bIns="13470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916" b="1">
                      <a:solidFill>
                        <a:schemeClr val="dk2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others</a:t>
                  </a:r>
                  <a:endParaRPr sz="1916" b="1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10" name="Google Shape;110;p15"/>
                <p:cNvSpPr/>
                <p:nvPr/>
              </p:nvSpPr>
              <p:spPr>
                <a:xfrm>
                  <a:off x="4756085" y="1699440"/>
                  <a:ext cx="1231500" cy="754800"/>
                </a:xfrm>
                <a:prstGeom prst="rect">
                  <a:avLst/>
                </a:prstGeom>
                <a:solidFill>
                  <a:schemeClr val="accent4"/>
                </a:solidFill>
                <a:ln w="1407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34700" tIns="134700" rIns="134700" bIns="13470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916" b="1">
                      <a:solidFill>
                        <a:schemeClr val="dk2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47%</a:t>
                  </a:r>
                  <a:endParaRPr sz="1916" b="1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916" b="1">
                      <a:solidFill>
                        <a:schemeClr val="dk2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Spent working with portfolio</a:t>
                  </a:r>
                  <a:endParaRPr sz="1916" b="1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111" name="Google Shape;111;p15"/>
            <p:cNvSpPr/>
            <p:nvPr/>
          </p:nvSpPr>
          <p:spPr>
            <a:xfrm>
              <a:off x="3942375" y="2516550"/>
              <a:ext cx="1442700" cy="710700"/>
            </a:xfrm>
            <a:prstGeom prst="rect">
              <a:avLst/>
            </a:prstGeom>
            <a:solidFill>
              <a:srgbClr val="F1C232"/>
            </a:solidFill>
            <a:ln w="12975" cap="flat" cmpd="sng">
              <a:solidFill>
                <a:srgbClr val="F1C23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4725" tIns="124725" rIns="124725" bIns="124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73"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31%</a:t>
              </a:r>
              <a:endParaRPr sz="1773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73"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Spent time for Deal Sourcing</a:t>
              </a:r>
              <a:endParaRPr sz="1773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 title="How urgent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/>
        </p:nvSpPr>
        <p:spPr>
          <a:xfrm>
            <a:off x="790650" y="242700"/>
            <a:ext cx="75627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repetitive is document handling in your day-to-day work?</a:t>
            </a:r>
            <a:endParaRPr sz="2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2" name="Google Shape;122;p17" title="Pretty repetitive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100" y="910225"/>
            <a:ext cx="7525810" cy="4233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8" descr="Affinity Avis 2026 : Détails, Tarification, &amp; Caractéristiques | G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750" y="1563513"/>
            <a:ext cx="2012675" cy="105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8"/>
          <p:cNvSpPr txBox="1"/>
          <p:nvPr/>
        </p:nvSpPr>
        <p:spPr>
          <a:xfrm>
            <a:off x="274600" y="3910675"/>
            <a:ext cx="49824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 Market Size: $ 2B (Est.)</a:t>
            </a:r>
            <a:endParaRPr sz="25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29" name="Google Shape;129;p18"/>
          <p:cNvGrpSpPr/>
          <p:nvPr/>
        </p:nvGrpSpPr>
        <p:grpSpPr>
          <a:xfrm>
            <a:off x="5993850" y="503100"/>
            <a:ext cx="2257500" cy="3178700"/>
            <a:chOff x="3553400" y="781950"/>
            <a:chExt cx="2257500" cy="3178700"/>
          </a:xfrm>
        </p:grpSpPr>
        <p:sp>
          <p:nvSpPr>
            <p:cNvPr id="130" name="Google Shape;130;p18"/>
            <p:cNvSpPr/>
            <p:nvPr/>
          </p:nvSpPr>
          <p:spPr>
            <a:xfrm>
              <a:off x="3553400" y="781950"/>
              <a:ext cx="2257500" cy="6792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Deal Sourcing</a:t>
              </a:r>
              <a:endParaRPr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" name="Google Shape;131;p18"/>
            <p:cNvSpPr/>
            <p:nvPr/>
          </p:nvSpPr>
          <p:spPr>
            <a:xfrm>
              <a:off x="3553400" y="2031688"/>
              <a:ext cx="2257500" cy="6792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Portfolio Managing</a:t>
              </a:r>
              <a:endParaRPr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" name="Google Shape;132;p18"/>
            <p:cNvSpPr/>
            <p:nvPr/>
          </p:nvSpPr>
          <p:spPr>
            <a:xfrm>
              <a:off x="3553400" y="3281450"/>
              <a:ext cx="2257500" cy="6792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Risk Detection</a:t>
              </a:r>
              <a:endParaRPr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133" name="Google Shape;133;p18"/>
          <p:cNvCxnSpPr>
            <a:stCxn id="127" idx="3"/>
            <a:endCxn id="130" idx="1"/>
          </p:cNvCxnSpPr>
          <p:nvPr/>
        </p:nvCxnSpPr>
        <p:spPr>
          <a:xfrm rot="10800000" flipH="1">
            <a:off x="2429424" y="842650"/>
            <a:ext cx="3564300" cy="1249800"/>
          </a:xfrm>
          <a:prstGeom prst="curvedConnector3">
            <a:avLst>
              <a:gd name="adj1" fmla="val 50002"/>
            </a:avLst>
          </a:prstGeom>
          <a:noFill/>
          <a:ln w="9525" cap="flat" cmpd="sng">
            <a:solidFill>
              <a:srgbClr val="1155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" name="Google Shape;134;p18"/>
          <p:cNvCxnSpPr>
            <a:stCxn id="127" idx="3"/>
            <a:endCxn id="131" idx="1"/>
          </p:cNvCxnSpPr>
          <p:nvPr/>
        </p:nvCxnSpPr>
        <p:spPr>
          <a:xfrm>
            <a:off x="2429424" y="2092450"/>
            <a:ext cx="3564300" cy="600"/>
          </a:xfrm>
          <a:prstGeom prst="curvedConnector3">
            <a:avLst>
              <a:gd name="adj1" fmla="val 50002"/>
            </a:avLst>
          </a:prstGeom>
          <a:noFill/>
          <a:ln w="9525" cap="flat" cmpd="sng">
            <a:solidFill>
              <a:srgbClr val="1155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5" name="Google Shape;135;p18"/>
          <p:cNvCxnSpPr>
            <a:stCxn id="127" idx="3"/>
            <a:endCxn id="132" idx="1"/>
          </p:cNvCxnSpPr>
          <p:nvPr/>
        </p:nvCxnSpPr>
        <p:spPr>
          <a:xfrm>
            <a:off x="2429424" y="2092450"/>
            <a:ext cx="3564300" cy="1249800"/>
          </a:xfrm>
          <a:prstGeom prst="curvedConnector3">
            <a:avLst>
              <a:gd name="adj1" fmla="val 50002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6" name="Google Shape;136;p18"/>
          <p:cNvSpPr txBox="1">
            <a:spLocks noGrp="1"/>
          </p:cNvSpPr>
          <p:nvPr>
            <p:ph type="title"/>
          </p:nvPr>
        </p:nvSpPr>
        <p:spPr>
          <a:xfrm>
            <a:off x="3702750" y="932225"/>
            <a:ext cx="1738500" cy="4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Relationship Graph Based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18"/>
          <p:cNvSpPr txBox="1">
            <a:spLocks noGrp="1"/>
          </p:cNvSpPr>
          <p:nvPr>
            <p:ph type="title"/>
          </p:nvPr>
        </p:nvSpPr>
        <p:spPr>
          <a:xfrm>
            <a:off x="3702750" y="2024650"/>
            <a:ext cx="1738500" cy="4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 Storage Based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8"/>
          <p:cNvSpPr txBox="1">
            <a:spLocks noGrp="1"/>
          </p:cNvSpPr>
          <p:nvPr>
            <p:ph type="title"/>
          </p:nvPr>
        </p:nvSpPr>
        <p:spPr>
          <a:xfrm>
            <a:off x="3624075" y="2940025"/>
            <a:ext cx="1738500" cy="4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5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19"/>
          <p:cNvGrpSpPr/>
          <p:nvPr/>
        </p:nvGrpSpPr>
        <p:grpSpPr>
          <a:xfrm>
            <a:off x="459525" y="489075"/>
            <a:ext cx="2257500" cy="3178700"/>
            <a:chOff x="3553400" y="781950"/>
            <a:chExt cx="2257500" cy="3178700"/>
          </a:xfrm>
        </p:grpSpPr>
        <p:sp>
          <p:nvSpPr>
            <p:cNvPr id="144" name="Google Shape;144;p19"/>
            <p:cNvSpPr/>
            <p:nvPr/>
          </p:nvSpPr>
          <p:spPr>
            <a:xfrm>
              <a:off x="3553400" y="781950"/>
              <a:ext cx="2257500" cy="6792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Deal Sourcing</a:t>
              </a:r>
              <a:endParaRPr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" name="Google Shape;145;p19"/>
            <p:cNvSpPr/>
            <p:nvPr/>
          </p:nvSpPr>
          <p:spPr>
            <a:xfrm>
              <a:off x="3553400" y="2031688"/>
              <a:ext cx="2257500" cy="6792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Portfolio Managing</a:t>
              </a:r>
              <a:endParaRPr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6" name="Google Shape;146;p19"/>
            <p:cNvSpPr/>
            <p:nvPr/>
          </p:nvSpPr>
          <p:spPr>
            <a:xfrm>
              <a:off x="3553400" y="3281450"/>
              <a:ext cx="2257500" cy="6792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Risk Detection</a:t>
              </a:r>
              <a:endParaRPr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147" name="Google Shape;147;p19"/>
          <p:cNvCxnSpPr>
            <a:stCxn id="144" idx="3"/>
            <a:endCxn id="148" idx="1"/>
          </p:cNvCxnSpPr>
          <p:nvPr/>
        </p:nvCxnSpPr>
        <p:spPr>
          <a:xfrm>
            <a:off x="2717025" y="828675"/>
            <a:ext cx="3410400" cy="12498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" name="Google Shape;149;p19"/>
          <p:cNvCxnSpPr>
            <a:stCxn id="145" idx="3"/>
            <a:endCxn id="148" idx="1"/>
          </p:cNvCxnSpPr>
          <p:nvPr/>
        </p:nvCxnSpPr>
        <p:spPr>
          <a:xfrm>
            <a:off x="2717025" y="2078413"/>
            <a:ext cx="3410400" cy="6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0" name="Google Shape;150;p19"/>
          <p:cNvCxnSpPr>
            <a:stCxn id="146" idx="3"/>
            <a:endCxn id="148" idx="1"/>
          </p:cNvCxnSpPr>
          <p:nvPr/>
        </p:nvCxnSpPr>
        <p:spPr>
          <a:xfrm rot="10800000" flipH="1">
            <a:off x="2717025" y="2078375"/>
            <a:ext cx="3410400" cy="12498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1" name="Google Shape;151;p19"/>
          <p:cNvSpPr txBox="1">
            <a:spLocks noGrp="1"/>
          </p:cNvSpPr>
          <p:nvPr>
            <p:ph type="title"/>
          </p:nvPr>
        </p:nvSpPr>
        <p:spPr>
          <a:xfrm>
            <a:off x="3121600" y="862425"/>
            <a:ext cx="2419500" cy="4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External RAG </a:t>
            </a:r>
            <a:endParaRPr sz="15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(Web, News, Market Data)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19"/>
          <p:cNvSpPr txBox="1">
            <a:spLocks noGrp="1"/>
          </p:cNvSpPr>
          <p:nvPr>
            <p:ph type="title"/>
          </p:nvPr>
        </p:nvSpPr>
        <p:spPr>
          <a:xfrm>
            <a:off x="3397900" y="1733475"/>
            <a:ext cx="1866900" cy="5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Semantic Understanding</a:t>
            </a:r>
            <a:endParaRPr sz="15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19"/>
          <p:cNvSpPr txBox="1">
            <a:spLocks noGrp="1"/>
          </p:cNvSpPr>
          <p:nvPr>
            <p:ph type="title"/>
          </p:nvPr>
        </p:nvSpPr>
        <p:spPr>
          <a:xfrm>
            <a:off x="3383425" y="2870225"/>
            <a:ext cx="1738500" cy="4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Based Risk Analysis</a:t>
            </a:r>
            <a:endParaRPr sz="15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2908275" y="3785600"/>
            <a:ext cx="55713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Affinity CRM $ 2B (Est.) + </a:t>
            </a:r>
            <a:endParaRPr sz="25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Intelligence $ 3B + </a:t>
            </a:r>
            <a:endParaRPr sz="25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Management $ 5B</a:t>
            </a:r>
            <a:endParaRPr sz="25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7448825" y="3986300"/>
            <a:ext cx="1404900" cy="9378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$ 10 B</a:t>
            </a:r>
            <a:endParaRPr sz="20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6" name="Google Shape;156;p19" title="ChatGPT Image Apr 20, 2026 at 08_49_35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7425" y="1010225"/>
            <a:ext cx="2137001" cy="213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p20"/>
          <p:cNvGrpSpPr/>
          <p:nvPr/>
        </p:nvGrpSpPr>
        <p:grpSpPr>
          <a:xfrm>
            <a:off x="546200" y="3681722"/>
            <a:ext cx="2625238" cy="635238"/>
            <a:chOff x="546200" y="3681722"/>
            <a:chExt cx="2625238" cy="635238"/>
          </a:xfrm>
        </p:grpSpPr>
        <p:pic>
          <p:nvPicPr>
            <p:cNvPr id="162" name="Google Shape;162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6200" y="3681734"/>
              <a:ext cx="635226" cy="6352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3325" y="3681734"/>
              <a:ext cx="635226" cy="6352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536212" y="3681722"/>
              <a:ext cx="635226" cy="6352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5" name="Google Shape;165;p20"/>
          <p:cNvSpPr/>
          <p:nvPr/>
        </p:nvSpPr>
        <p:spPr>
          <a:xfrm>
            <a:off x="1935350" y="2964050"/>
            <a:ext cx="2820900" cy="5385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 Vector Embedding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66" name="Google Shape;166;p20"/>
          <p:cNvGrpSpPr/>
          <p:nvPr/>
        </p:nvGrpSpPr>
        <p:grpSpPr>
          <a:xfrm>
            <a:off x="670850" y="386250"/>
            <a:ext cx="5630274" cy="4494100"/>
            <a:chOff x="670850" y="386250"/>
            <a:chExt cx="5630274" cy="4494100"/>
          </a:xfrm>
        </p:grpSpPr>
        <p:pic>
          <p:nvPicPr>
            <p:cNvPr id="167" name="Google Shape;167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52538" y="447800"/>
              <a:ext cx="852475" cy="852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" name="Google Shape;168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70850" y="3912400"/>
              <a:ext cx="852475" cy="852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" name="Google Shape;169;p2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719525" y="386250"/>
              <a:ext cx="852475" cy="852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628388" y="4027875"/>
              <a:ext cx="852475" cy="852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" name="Google Shape;171;p20"/>
            <p:cNvSpPr/>
            <p:nvPr/>
          </p:nvSpPr>
          <p:spPr>
            <a:xfrm>
              <a:off x="4184324" y="1624550"/>
              <a:ext cx="2116800" cy="2596752"/>
            </a:xfrm>
            <a:prstGeom prst="cloud">
              <a:avLst/>
            </a:prstGeom>
            <a:solidFill>
              <a:srgbClr val="F3F3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72" name="Google Shape;172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84363" y="3912400"/>
              <a:ext cx="852475" cy="852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" name="Google Shape;173;p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871400" y="2964047"/>
              <a:ext cx="768451" cy="7684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" name="Google Shape;174;p20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871399" y="2074425"/>
              <a:ext cx="768450" cy="768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20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628400" y="2113688"/>
              <a:ext cx="1100750" cy="11007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6" name="Google Shape;176;p20"/>
          <p:cNvSpPr/>
          <p:nvPr/>
        </p:nvSpPr>
        <p:spPr>
          <a:xfrm rot="5400000">
            <a:off x="1584538" y="1723725"/>
            <a:ext cx="940200" cy="172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Query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20"/>
          <p:cNvSpPr/>
          <p:nvPr/>
        </p:nvSpPr>
        <p:spPr>
          <a:xfrm rot="-5400000">
            <a:off x="1924525" y="1723725"/>
            <a:ext cx="940200" cy="172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8" name="Google Shape;178;p20"/>
          <p:cNvGrpSpPr/>
          <p:nvPr/>
        </p:nvGrpSpPr>
        <p:grpSpPr>
          <a:xfrm>
            <a:off x="1068024" y="2322900"/>
            <a:ext cx="3214751" cy="920550"/>
            <a:chOff x="1068024" y="2322900"/>
            <a:chExt cx="3214751" cy="920550"/>
          </a:xfrm>
        </p:grpSpPr>
        <p:grpSp>
          <p:nvGrpSpPr>
            <p:cNvPr id="179" name="Google Shape;179;p20"/>
            <p:cNvGrpSpPr/>
            <p:nvPr/>
          </p:nvGrpSpPr>
          <p:grpSpPr>
            <a:xfrm>
              <a:off x="2684375" y="2322900"/>
              <a:ext cx="1598400" cy="461975"/>
              <a:chOff x="2684375" y="2322900"/>
              <a:chExt cx="1598400" cy="461975"/>
            </a:xfrm>
          </p:grpSpPr>
          <p:sp>
            <p:nvSpPr>
              <p:cNvPr id="180" name="Google Shape;180;p20"/>
              <p:cNvSpPr/>
              <p:nvPr/>
            </p:nvSpPr>
            <p:spPr>
              <a:xfrm>
                <a:off x="2684375" y="2322900"/>
                <a:ext cx="1598400" cy="2313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4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Vector RAG + MEM0</a:t>
                </a:r>
                <a:endParaRPr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1" name="Google Shape;181;p20"/>
              <p:cNvSpPr/>
              <p:nvPr/>
            </p:nvSpPr>
            <p:spPr>
              <a:xfrm rot="10800000">
                <a:off x="2684375" y="2553575"/>
                <a:ext cx="1598400" cy="2313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4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pic>
          <p:nvPicPr>
            <p:cNvPr id="182" name="Google Shape;182;p20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068024" y="2704950"/>
              <a:ext cx="560387" cy="538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3" name="Google Shape;183;p20"/>
          <p:cNvGrpSpPr/>
          <p:nvPr/>
        </p:nvGrpSpPr>
        <p:grpSpPr>
          <a:xfrm>
            <a:off x="5639850" y="1592875"/>
            <a:ext cx="3241675" cy="1034325"/>
            <a:chOff x="5639850" y="1670625"/>
            <a:chExt cx="3241675" cy="1034325"/>
          </a:xfrm>
        </p:grpSpPr>
        <p:sp>
          <p:nvSpPr>
            <p:cNvPr id="184" name="Google Shape;184;p20"/>
            <p:cNvSpPr txBox="1"/>
            <p:nvPr/>
          </p:nvSpPr>
          <p:spPr>
            <a:xfrm>
              <a:off x="5639850" y="2212350"/>
              <a:ext cx="3000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AWS DynamoDB</a:t>
              </a:r>
              <a:endParaRPr sz="1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SnowFlake: snowflake-arctic-embed-l-v2.0</a:t>
              </a:r>
              <a:endParaRPr sz="1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185" name="Google Shape;185;p20" descr="Snowflake Free SVG, PNG, and vector ... · LobeHub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7242350" y="1687662"/>
              <a:ext cx="635225" cy="635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" name="Google Shape;186;p20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7877575" y="1670625"/>
              <a:ext cx="1003950" cy="669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7" name="Google Shape;187;p20"/>
          <p:cNvSpPr txBox="1"/>
          <p:nvPr/>
        </p:nvSpPr>
        <p:spPr>
          <a:xfrm>
            <a:off x="4639525" y="194850"/>
            <a:ext cx="46569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Portfolio Managing</a:t>
            </a:r>
            <a:endParaRPr sz="25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21"/>
          <p:cNvGrpSpPr/>
          <p:nvPr/>
        </p:nvGrpSpPr>
        <p:grpSpPr>
          <a:xfrm>
            <a:off x="670850" y="386250"/>
            <a:ext cx="5630274" cy="4494100"/>
            <a:chOff x="670850" y="386250"/>
            <a:chExt cx="5630274" cy="4494100"/>
          </a:xfrm>
        </p:grpSpPr>
        <p:pic>
          <p:nvPicPr>
            <p:cNvPr id="193" name="Google Shape;193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52538" y="447800"/>
              <a:ext cx="852475" cy="852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70850" y="3912400"/>
              <a:ext cx="852475" cy="852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" name="Google Shape;195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719525" y="386250"/>
              <a:ext cx="852475" cy="852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628400" y="2113688"/>
              <a:ext cx="1100750" cy="1100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628388" y="4027875"/>
              <a:ext cx="852475" cy="852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" name="Google Shape;198;p21"/>
            <p:cNvSpPr/>
            <p:nvPr/>
          </p:nvSpPr>
          <p:spPr>
            <a:xfrm>
              <a:off x="4184324" y="1624550"/>
              <a:ext cx="2116800" cy="2596752"/>
            </a:xfrm>
            <a:prstGeom prst="cloud">
              <a:avLst/>
            </a:prstGeom>
            <a:solidFill>
              <a:srgbClr val="F3F3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99" name="Google Shape;199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84363" y="3912400"/>
              <a:ext cx="852475" cy="852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2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871400" y="2964047"/>
              <a:ext cx="768451" cy="7684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p2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871399" y="2074425"/>
              <a:ext cx="768450" cy="7684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2" name="Google Shape;202;p21"/>
          <p:cNvGrpSpPr/>
          <p:nvPr/>
        </p:nvGrpSpPr>
        <p:grpSpPr>
          <a:xfrm>
            <a:off x="1807400" y="1419075"/>
            <a:ext cx="2606400" cy="853500"/>
            <a:chOff x="1807400" y="1419075"/>
            <a:chExt cx="2606400" cy="853500"/>
          </a:xfrm>
        </p:grpSpPr>
        <p:sp>
          <p:nvSpPr>
            <p:cNvPr id="203" name="Google Shape;203;p21"/>
            <p:cNvSpPr/>
            <p:nvPr/>
          </p:nvSpPr>
          <p:spPr>
            <a:xfrm>
              <a:off x="2091275" y="1419075"/>
              <a:ext cx="192000" cy="725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4" name="Google Shape;204;p21"/>
            <p:cNvSpPr/>
            <p:nvPr/>
          </p:nvSpPr>
          <p:spPr>
            <a:xfrm rot="3402142">
              <a:off x="3232119" y="1189533"/>
              <a:ext cx="157927" cy="1312583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5" name="Google Shape;205;p21"/>
            <p:cNvSpPr txBox="1"/>
            <p:nvPr/>
          </p:nvSpPr>
          <p:spPr>
            <a:xfrm>
              <a:off x="1807400" y="1645725"/>
              <a:ext cx="2606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Deal Sourcing &amp; Risk Alerts</a:t>
              </a:r>
              <a:endParaRPr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06" name="Google Shape;206;p21"/>
          <p:cNvGrpSpPr/>
          <p:nvPr/>
        </p:nvGrpSpPr>
        <p:grpSpPr>
          <a:xfrm>
            <a:off x="1068024" y="2543925"/>
            <a:ext cx="3503976" cy="699525"/>
            <a:chOff x="1068024" y="2543925"/>
            <a:chExt cx="3503976" cy="699525"/>
          </a:xfrm>
        </p:grpSpPr>
        <p:grpSp>
          <p:nvGrpSpPr>
            <p:cNvPr id="207" name="Google Shape;207;p21"/>
            <p:cNvGrpSpPr/>
            <p:nvPr/>
          </p:nvGrpSpPr>
          <p:grpSpPr>
            <a:xfrm>
              <a:off x="2918100" y="2543925"/>
              <a:ext cx="1653900" cy="499150"/>
              <a:chOff x="2918100" y="2543925"/>
              <a:chExt cx="1653900" cy="499150"/>
            </a:xfrm>
          </p:grpSpPr>
          <p:sp>
            <p:nvSpPr>
              <p:cNvPr id="208" name="Google Shape;208;p21"/>
              <p:cNvSpPr/>
              <p:nvPr/>
            </p:nvSpPr>
            <p:spPr>
              <a:xfrm>
                <a:off x="2918100" y="2543925"/>
                <a:ext cx="1653900" cy="2403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4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b="1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Vector RAG + External RAG</a:t>
                </a:r>
                <a:endParaRPr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9" name="Google Shape;209;p21"/>
              <p:cNvSpPr/>
              <p:nvPr/>
            </p:nvSpPr>
            <p:spPr>
              <a:xfrm rot="10800000">
                <a:off x="2918100" y="2802775"/>
                <a:ext cx="1653900" cy="2403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4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10" name="Google Shape;210;p21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068024" y="2704950"/>
              <a:ext cx="560387" cy="538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1" name="Google Shape;211;p21"/>
          <p:cNvGrpSpPr/>
          <p:nvPr/>
        </p:nvGrpSpPr>
        <p:grpSpPr>
          <a:xfrm>
            <a:off x="5639850" y="1592875"/>
            <a:ext cx="3241675" cy="1957725"/>
            <a:chOff x="5639850" y="1670625"/>
            <a:chExt cx="3241675" cy="1957725"/>
          </a:xfrm>
        </p:grpSpPr>
        <p:grpSp>
          <p:nvGrpSpPr>
            <p:cNvPr id="212" name="Google Shape;212;p21"/>
            <p:cNvGrpSpPr/>
            <p:nvPr/>
          </p:nvGrpSpPr>
          <p:grpSpPr>
            <a:xfrm>
              <a:off x="5639850" y="1670625"/>
              <a:ext cx="3241675" cy="1957725"/>
              <a:chOff x="5639850" y="1670625"/>
              <a:chExt cx="3241675" cy="1957725"/>
            </a:xfrm>
          </p:grpSpPr>
          <p:sp>
            <p:nvSpPr>
              <p:cNvPr id="213" name="Google Shape;213;p21"/>
              <p:cNvSpPr txBox="1"/>
              <p:nvPr/>
            </p:nvSpPr>
            <p:spPr>
              <a:xfrm>
                <a:off x="5639850" y="2212350"/>
                <a:ext cx="3000000" cy="141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1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AWS DynamoDB</a:t>
                </a:r>
                <a:endParaRPr sz="1000"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1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SnowFlake: snowflake-arctic-embed-l-v2.0</a:t>
                </a:r>
                <a:endParaRPr sz="1000"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1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Brave Search MCP Server</a:t>
                </a:r>
                <a:endParaRPr sz="1000"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pic>
            <p:nvPicPr>
              <p:cNvPr id="214" name="Google Shape;214;p21" descr="Snowflake Free SVG, PNG, and vector ... · LobeHub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7242350" y="1687662"/>
                <a:ext cx="635225" cy="6352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5" name="Google Shape;215;p21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7877575" y="1670625"/>
                <a:ext cx="1003950" cy="6693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16" name="Google Shape;216;p21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7369401" y="2974575"/>
              <a:ext cx="1270450" cy="6352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7" name="Google Shape;217;p21"/>
          <p:cNvSpPr txBox="1"/>
          <p:nvPr/>
        </p:nvSpPr>
        <p:spPr>
          <a:xfrm>
            <a:off x="4639525" y="194850"/>
            <a:ext cx="46569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Deal Sourcing &amp; Risk Detection </a:t>
            </a:r>
            <a:endParaRPr sz="25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[1] Taj, Hurratul Maleka. 2025. </a:t>
            </a:r>
            <a:r>
              <a:rPr lang="en" sz="1100" i="1">
                <a:latin typeface="Times New Roman"/>
                <a:ea typeface="Times New Roman"/>
                <a:cs typeface="Times New Roman"/>
                <a:sym typeface="Times New Roman"/>
              </a:rPr>
              <a:t>“How Do Venture Capitalists Make Decisions? by Paul Gompers, William Gornall, Steven Kaplan, and Ilya A. Strebulaev: An In-Depth Review.”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 LinkedIn. </a:t>
            </a:r>
            <a:r>
              <a:rPr lang="en" sz="1100" u="sng">
                <a:solidFill>
                  <a:srgbClr val="A4C2F4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Read article</a:t>
            </a:r>
            <a:endParaRPr sz="1100">
              <a:solidFill>
                <a:srgbClr val="A4C2F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[2] Affinity. 2026. “Affinity – CRM for Private Capital and Relationship Intelligence Platform.” Accessed April 2026. </a:t>
            </a:r>
            <a:r>
              <a:rPr lang="en" sz="1100" u="sng">
                <a:solidFill>
                  <a:srgbClr val="9FC5E8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https://www.affinity.co/</a:t>
            </a:r>
            <a:endParaRPr sz="1100">
              <a:solidFill>
                <a:srgbClr val="9FC5E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[3] Market Research Future. 2026. “Venture Capital Market Size, Share, and Forecast Report to 2035.” Last updated April 6, 2026.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u="sng">
                <a:solidFill>
                  <a:srgbClr val="A4C2F4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https://www.marketresearchfuture.com/reports/venture-capital-market-24699</a:t>
            </a:r>
            <a:endParaRPr sz="1100">
              <a:solidFill>
                <a:srgbClr val="A4C2F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oogle Shape;228;p23"/>
          <p:cNvGrpSpPr/>
          <p:nvPr/>
        </p:nvGrpSpPr>
        <p:grpSpPr>
          <a:xfrm>
            <a:off x="670850" y="386250"/>
            <a:ext cx="5630274" cy="4494100"/>
            <a:chOff x="670850" y="386250"/>
            <a:chExt cx="5630274" cy="4494100"/>
          </a:xfrm>
        </p:grpSpPr>
        <p:pic>
          <p:nvPicPr>
            <p:cNvPr id="229" name="Google Shape;229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52538" y="447800"/>
              <a:ext cx="852475" cy="852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70850" y="3912400"/>
              <a:ext cx="852475" cy="852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719525" y="386250"/>
              <a:ext cx="852475" cy="852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" name="Google Shape;232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628388" y="4027875"/>
              <a:ext cx="852475" cy="852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" name="Google Shape;233;p23"/>
            <p:cNvSpPr/>
            <p:nvPr/>
          </p:nvSpPr>
          <p:spPr>
            <a:xfrm>
              <a:off x="4184324" y="1624550"/>
              <a:ext cx="2116800" cy="2596752"/>
            </a:xfrm>
            <a:prstGeom prst="cloud">
              <a:avLst/>
            </a:prstGeom>
            <a:solidFill>
              <a:srgbClr val="F3F3F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34" name="Google Shape;234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84363" y="3912400"/>
              <a:ext cx="852475" cy="852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p2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871400" y="2964047"/>
              <a:ext cx="768451" cy="7684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6" name="Google Shape;236;p2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871399" y="2074425"/>
              <a:ext cx="768450" cy="768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7" name="Google Shape;237;p23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628400" y="2113688"/>
              <a:ext cx="1100750" cy="11007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8" name="Google Shape;238;p23"/>
          <p:cNvGrpSpPr/>
          <p:nvPr/>
        </p:nvGrpSpPr>
        <p:grpSpPr>
          <a:xfrm>
            <a:off x="53688" y="79337"/>
            <a:ext cx="9185512" cy="5016537"/>
            <a:chOff x="53688" y="79337"/>
            <a:chExt cx="9185512" cy="5016537"/>
          </a:xfrm>
        </p:grpSpPr>
        <p:grpSp>
          <p:nvGrpSpPr>
            <p:cNvPr id="239" name="Google Shape;239;p23"/>
            <p:cNvGrpSpPr/>
            <p:nvPr/>
          </p:nvGrpSpPr>
          <p:grpSpPr>
            <a:xfrm>
              <a:off x="53688" y="79337"/>
              <a:ext cx="9185512" cy="4777213"/>
              <a:chOff x="53688" y="79337"/>
              <a:chExt cx="9185512" cy="4777213"/>
            </a:xfrm>
          </p:grpSpPr>
          <p:pic>
            <p:nvPicPr>
              <p:cNvPr id="240" name="Google Shape;240;p23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53688" y="79337"/>
                <a:ext cx="1316740" cy="9932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1" name="Google Shape;241;p23" descr="gateway-api 0.2.0 · nicklasfrahm/nicklasfrahm-gateway-api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3345910" y="284763"/>
                <a:ext cx="668750" cy="5824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2" name="Google Shape;242;p23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6128012" y="291821"/>
                <a:ext cx="852475" cy="56831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3" name="Google Shape;243;p23"/>
              <p:cNvPicPr preferRelativeResize="0"/>
              <p:nvPr/>
            </p:nvPicPr>
            <p:blipFill>
              <a:blip r:embed="rId12">
                <a:alphaModFix/>
              </a:blip>
              <a:stretch>
                <a:fillRect/>
              </a:stretch>
            </p:blipFill>
            <p:spPr>
              <a:xfrm>
                <a:off x="2413613" y="2950512"/>
                <a:ext cx="1490150" cy="9127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4" name="Google Shape;244;p23"/>
              <p:cNvSpPr/>
              <p:nvPr/>
            </p:nvSpPr>
            <p:spPr>
              <a:xfrm>
                <a:off x="242800" y="1094875"/>
                <a:ext cx="2910600" cy="1499100"/>
              </a:xfrm>
              <a:prstGeom prst="round2DiagRect">
                <a:avLst>
                  <a:gd name="adj1" fmla="val 16667"/>
                  <a:gd name="adj2" fmla="val 4235"/>
                </a:avLst>
              </a:prstGeom>
              <a:solidFill>
                <a:srgbClr val="FFE59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457200" lvl="0" indent="-3175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Times New Roman"/>
                  <a:buChar char="●"/>
                </a:pPr>
                <a:r>
                  <a:rPr lang="en" b="1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Group Chat</a:t>
                </a:r>
                <a:endParaRPr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457200" lvl="0" indent="0" algn="l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457200" lvl="0" indent="-317500" algn="l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Times New Roman"/>
                  <a:buChar char="●"/>
                </a:pPr>
                <a:r>
                  <a:rPr lang="en" b="1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AI Private Chat</a:t>
                </a:r>
                <a:endParaRPr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457200" lvl="0" indent="0" algn="l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457200" lvl="0" indent="-317500" algn="l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Times New Roman"/>
                  <a:buChar char="●"/>
                </a:pPr>
                <a:r>
                  <a:rPr lang="en" b="1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AI Group Chat</a:t>
                </a:r>
                <a:endParaRPr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457200" lvl="0" indent="0" algn="l" rtl="0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457200" lvl="0" indent="-3175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Times New Roman"/>
                  <a:buChar char="●"/>
                </a:pPr>
                <a:r>
                  <a:rPr lang="en" b="1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File Upload</a:t>
                </a:r>
                <a:endParaRPr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5" name="Google Shape;245;p23"/>
              <p:cNvSpPr/>
              <p:nvPr/>
            </p:nvSpPr>
            <p:spPr>
              <a:xfrm>
                <a:off x="3282250" y="1094875"/>
                <a:ext cx="2910600" cy="1499100"/>
              </a:xfrm>
              <a:prstGeom prst="round2DiagRect">
                <a:avLst>
                  <a:gd name="adj1" fmla="val 16667"/>
                  <a:gd name="adj2" fmla="val 232"/>
                </a:avLst>
              </a:prstGeom>
              <a:solidFill>
                <a:srgbClr val="FFE59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457200" lvl="0" indent="-3111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300"/>
                  <a:buFont typeface="Times New Roman"/>
                  <a:buChar char="●"/>
                </a:pPr>
                <a:r>
                  <a:rPr lang="en" sz="1300" b="1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Maintain Websocket Session</a:t>
                </a:r>
                <a:endParaRPr sz="1300"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45720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00"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457200" lvl="0" indent="-3111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300"/>
                  <a:buFont typeface="Times New Roman"/>
                  <a:buChar char="●"/>
                </a:pPr>
                <a:r>
                  <a:rPr lang="en" sz="1300" b="1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Route Requests to Lambda</a:t>
                </a:r>
                <a:endParaRPr sz="1300"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6" name="Google Shape;246;p23"/>
              <p:cNvSpPr/>
              <p:nvPr/>
            </p:nvSpPr>
            <p:spPr>
              <a:xfrm>
                <a:off x="6321700" y="1033163"/>
                <a:ext cx="2917500" cy="1499100"/>
              </a:xfrm>
              <a:prstGeom prst="round2DiagRect">
                <a:avLst>
                  <a:gd name="adj1" fmla="val 16667"/>
                  <a:gd name="adj2" fmla="val 240"/>
                </a:avLst>
              </a:prstGeom>
              <a:solidFill>
                <a:srgbClr val="FFE59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457200" lvl="0" indent="-3238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500"/>
                  <a:buFont typeface="Times New Roman"/>
                  <a:buChar char="●"/>
                </a:pPr>
                <a:r>
                  <a:rPr lang="en" sz="1500" b="1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Session Data</a:t>
                </a:r>
                <a:endParaRPr sz="1500"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45720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457200" lvl="0" indent="-3238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500"/>
                  <a:buFont typeface="Times New Roman"/>
                  <a:buChar char="●"/>
                </a:pPr>
                <a:r>
                  <a:rPr lang="en" sz="1500" b="1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Store Chat History</a:t>
                </a:r>
                <a:endParaRPr sz="1500"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7" name="Google Shape;247;p23"/>
              <p:cNvSpPr/>
              <p:nvPr/>
            </p:nvSpPr>
            <p:spPr>
              <a:xfrm>
                <a:off x="2651400" y="3863250"/>
                <a:ext cx="2862000" cy="993300"/>
              </a:xfrm>
              <a:prstGeom prst="round2DiagRect">
                <a:avLst>
                  <a:gd name="adj1" fmla="val 16667"/>
                  <a:gd name="adj2" fmla="val 240"/>
                </a:avLst>
              </a:prstGeom>
              <a:solidFill>
                <a:srgbClr val="FFE59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457200" lvl="0" indent="-3238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500"/>
                  <a:buFont typeface="Times New Roman"/>
                  <a:buChar char="●"/>
                </a:pPr>
                <a:r>
                  <a:rPr lang="en" sz="1500" b="1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Frontend</a:t>
                </a:r>
                <a:endParaRPr sz="1500"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8" name="Google Shape;248;p23"/>
              <p:cNvSpPr/>
              <p:nvPr/>
            </p:nvSpPr>
            <p:spPr>
              <a:xfrm>
                <a:off x="3482177" y="3139925"/>
                <a:ext cx="1938600" cy="6363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0" b="1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React Native</a:t>
                </a:r>
                <a:endParaRPr sz="1500"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9" name="Google Shape;249;p23"/>
              <p:cNvSpPr/>
              <p:nvPr/>
            </p:nvSpPr>
            <p:spPr>
              <a:xfrm>
                <a:off x="4044839" y="257825"/>
                <a:ext cx="1938600" cy="6363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0" b="1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AWS Gateway API</a:t>
                </a:r>
                <a:endParaRPr sz="1500"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0" name="Google Shape;250;p23"/>
              <p:cNvSpPr/>
              <p:nvPr/>
            </p:nvSpPr>
            <p:spPr>
              <a:xfrm>
                <a:off x="6980477" y="257850"/>
                <a:ext cx="1938600" cy="6363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0" b="1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AWS DynamoDB</a:t>
                </a:r>
                <a:endParaRPr sz="1500"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1" name="Google Shape;251;p23"/>
              <p:cNvSpPr/>
              <p:nvPr/>
            </p:nvSpPr>
            <p:spPr>
              <a:xfrm>
                <a:off x="1109202" y="257850"/>
                <a:ext cx="1938600" cy="6363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0" b="1">
                    <a:solidFill>
                      <a:schemeClr val="dk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AWS Lambda</a:t>
                </a:r>
                <a:endParaRPr sz="1500" b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pic>
          <p:nvPicPr>
            <p:cNvPr id="252" name="Google Shape;252;p23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5754475" y="2179000"/>
              <a:ext cx="1341651" cy="291687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</Words>
  <Application>Microsoft Macintosh PowerPoint</Application>
  <PresentationFormat>On-screen Show (16:9)</PresentationFormat>
  <Paragraphs>76</Paragraphs>
  <Slides>11</Slides>
  <Notes>11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Times New Roman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Relationship Graph Based</vt:lpstr>
      <vt:lpstr>External RAG  (Web, News, Market Data)</vt:lpstr>
      <vt:lpstr>PowerPoint Presentation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E3676</cp:lastModifiedBy>
  <cp:revision>1</cp:revision>
  <dcterms:modified xsi:type="dcterms:W3CDTF">2026-04-23T01:14:05Z</dcterms:modified>
</cp:coreProperties>
</file>