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91"/>
    <p:restoredTop sz="94586"/>
  </p:normalViewPr>
  <p:slideViewPr>
    <p:cSldViewPr snapToGrid="0">
      <p:cViewPr varScale="1">
        <p:scale>
          <a:sx n="55" d="100"/>
          <a:sy n="55" d="100"/>
        </p:scale>
        <p:origin x="208" y="18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47740-53AE-999F-F087-01BBD6FC28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E1FD06-2C85-9BA8-A246-168258A9E1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054390-64AB-E999-0080-CE6D04D5D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17A513-015C-7615-9F51-0D9375939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45EDB-6907-4099-9B28-AAF1061A1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65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729E9-D75F-3103-F66A-9A15DE77F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25E4F5-F66D-8845-4FD2-CFE15F876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6C42-4E2F-3995-6891-82FA6B0F0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DF9815-9298-DE85-E1F3-01A2717A6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E2E26-5F64-D0EC-DE24-90AD75B7D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5E30D-605E-9214-D178-6C3CB8D4B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4910E-4CE5-0FC1-F778-1F683F5553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E29711-B1BE-9836-3020-1A3A4F501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34A8D-CE4E-772F-B618-4390648B1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42F58-706C-950E-1FBA-66829EC3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530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583E-F174-5DB0-7B6F-25DB275A9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B0D45-CD3D-3BBB-7FD2-528C2FFD69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A511D-FB92-E1A6-1E8B-70CD584F95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F401D7-AAE4-4405-8FFE-2506B97A6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94708-2AA9-C924-DBA9-141931A61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2C6BF4-F60D-2D92-F7FA-5E23BD58D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28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6CC9-CFA1-4FAC-8369-966027D64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79BD6-E835-43BC-E9E3-6E2A8F2051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ACBDBA-AA2D-24CC-F32E-18F15E22DD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8858E4-6329-934C-18EC-27054BE6A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32A370-0DF6-039A-1E16-1F86B4210D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FCA003-E8C9-B423-1458-63B828502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C70835-A06E-6D36-DC57-3B24AC7E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22D92-2310-E922-839D-23FB1ACEB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2936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EFA88-7BC4-EBAA-50B3-9A4943CFA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A02B77-CB11-FA16-29BD-131442154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2E246-FEA9-D1F4-EBCB-0D2F9D495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D32579-7BB9-B6C0-820D-BE358A586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347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D778CF-9939-519F-4118-E372C81F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E28893-F1F5-B741-1316-B2B4DEB9C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3C4A4-D1D8-7786-1BF7-1A0479AAE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0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1ABF9-06D2-55BA-21BE-ACA064195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F32970-687D-C1E1-BB1E-B6D84B2311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92C19-6CE4-4855-7F02-642CF561A1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83F97-6F6E-1FB4-541E-D61B1FEC9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A99D6-274B-D6D4-D23D-9B35A1A1B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1ADE2-F1A2-C4F3-C875-627759A2D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09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9FC01-70A5-D138-556B-CA939DEDA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AF073-DBF6-8F9C-5E23-4CA07E6D6F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F495B-916D-8B17-972E-B722E2376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2A4CAB-F190-CFEF-E873-2D5A9B8EB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0ED8C-E966-E3B9-2382-BB3128D4C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55CD15-5CC3-6746-CE63-465720F86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28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79153-FF0F-05FC-9E49-472E5396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428D08-AB36-2473-3CD9-6CF222772E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CC1D8-F5D0-4FDB-42B4-81D8669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F42517-C6F1-1ED9-5EC6-078D07EE1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2B2E6-9102-C6EA-5508-7DB678C8D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08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6211AB-9717-3A26-5ABA-D2A602FF0A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4B604-0A0B-3BD4-1E62-9C053A17C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53DB4-5088-7468-3B05-B793BFB38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0E0C7-68F4-2D05-6CB0-9E5FBEA4E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15230-7243-E83E-8D51-DF1CFF7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46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A2A7A92-7DEF-6894-BE7B-D4968CB7D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F0A311-FF23-6073-8F3C-AFF8DE5F76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CADE31-CEC7-F53D-0CFE-D8408245DE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2CDB-38B7-3DBA-E218-641B6E63A8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DF833C-DDD8-3886-2686-0B98422157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69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E607CB-DF48-786D-0E8A-808D223F47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06" r="32159" b="69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6447B-0BAC-33A7-A4CC-76785FFC9B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sz="3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learning-based NLP data pipeline for HER-scanned document information extraction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DF2F-C20B-4C20-7031-99284D69E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Jeong Hoon Choi</a:t>
            </a:r>
          </a:p>
          <a:p>
            <a:pPr algn="l">
              <a:spcBef>
                <a:spcPts val="600"/>
              </a:spcBef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USCID: 5023184813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49F336A-D1F7-3086-AF5C-373BD260AF40}"/>
              </a:ext>
            </a:extLst>
          </p:cNvPr>
          <p:cNvSpPr txBox="1">
            <a:spLocks/>
          </p:cNvSpPr>
          <p:nvPr/>
        </p:nvSpPr>
        <p:spPr>
          <a:xfrm>
            <a:off x="8577143" y="6083300"/>
            <a:ext cx="3614857" cy="7747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DSCI-560</a:t>
            </a:r>
          </a:p>
          <a:p>
            <a:pPr algn="r">
              <a:lnSpc>
                <a:spcPct val="100000"/>
              </a:lnSpc>
              <a:spcBef>
                <a:spcPts val="600"/>
              </a:spcBef>
            </a:pP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Professional Practicum</a:t>
            </a:r>
          </a:p>
        </p:txBody>
      </p:sp>
    </p:spTree>
    <p:extLst>
      <p:ext uri="{BB962C8B-B14F-4D97-AF65-F5344CB8AC3E}">
        <p14:creationId xmlns:p14="http://schemas.microsoft.com/office/powerpoint/2010/main" val="3783206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E19597-ABC8-97F3-5AF6-2821F17A9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Introduction &amp; Related 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0EA1666-7C22-299F-42D5-3045EC9233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6850" y="2018806"/>
            <a:ext cx="10656846" cy="2264392"/>
          </a:xfrm>
        </p:spPr>
        <p:txBody>
          <a:bodyPr>
            <a:normAutofit fontScale="92500" lnSpcReduction="10000"/>
          </a:bodyPr>
          <a:lstStyle/>
          <a:p>
            <a:r>
              <a:rPr lang="en-US" sz="2200" dirty="0"/>
              <a:t>OCR is continuously evolving, incorporating methods such as Statistical Models (Machine Learning) and Deep Learning (i.e., LSTM).</a:t>
            </a:r>
          </a:p>
          <a:p>
            <a:r>
              <a:rPr lang="en-US" sz="2200" dirty="0"/>
              <a:t>Traditional OCR involves the processes of segmentation, normalization, feature extraction, and classification.</a:t>
            </a:r>
          </a:p>
          <a:p>
            <a:r>
              <a:rPr lang="en-US" sz="2200" dirty="0"/>
              <a:t>OCR technology and evaluation methods are less developed for the medical domain compared to other domains, and this paper studies OCR methods for EHR (Electronic Health Records)</a:t>
            </a:r>
          </a:p>
        </p:txBody>
      </p:sp>
      <p:pic>
        <p:nvPicPr>
          <p:cNvPr id="11" name="Picture 10" descr="A close-up of a whiteboard&#10;&#10;AI-generated content may be incorrect.">
            <a:extLst>
              <a:ext uri="{FF2B5EF4-FFF2-40B4-BE49-F238E27FC236}">
                <a16:creationId xmlns:a16="http://schemas.microsoft.com/office/drawing/2014/main" id="{94EE0040-3AE8-3F9E-D8CE-87DE493FE6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148" y="4153875"/>
            <a:ext cx="6251171" cy="2833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064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9B3ABF-E397-C87E-3197-FF87D0F9D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09FC9B-0987-000B-C719-6F3409375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Methods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621965-3735-4935-9937-D4CF11EEB3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063" y="2541285"/>
            <a:ext cx="10610088" cy="4316715"/>
          </a:xfrm>
        </p:spPr>
        <p:txBody>
          <a:bodyPr>
            <a:normAutofit/>
          </a:bodyPr>
          <a:lstStyle/>
          <a:p>
            <a:r>
              <a:rPr lang="en-US" dirty="0"/>
              <a:t>Data source: UTMB HER</a:t>
            </a:r>
            <a:endParaRPr lang="en-US" i="1" dirty="0"/>
          </a:p>
          <a:p>
            <a:r>
              <a:rPr lang="en-US" dirty="0"/>
              <a:t>Preprocessing: OpenCV</a:t>
            </a:r>
          </a:p>
          <a:p>
            <a:r>
              <a:rPr lang="en-US" dirty="0"/>
              <a:t>OCR: Tesseract v 4.0.0</a:t>
            </a:r>
          </a:p>
          <a:p>
            <a:r>
              <a:rPr lang="en-US" dirty="0"/>
              <a:t>Deidentification</a:t>
            </a:r>
          </a:p>
          <a:p>
            <a:r>
              <a:rPr lang="en-US" dirty="0"/>
              <a:t>Segmentation</a:t>
            </a:r>
          </a:p>
          <a:p>
            <a:r>
              <a:rPr lang="en-US" dirty="0"/>
              <a:t>Classification</a:t>
            </a:r>
          </a:p>
          <a:p>
            <a:endParaRPr lang="en-US" dirty="0"/>
          </a:p>
        </p:txBody>
      </p:sp>
      <p:pic>
        <p:nvPicPr>
          <p:cNvPr id="4" name="Picture 3" descr="A close-up of a list of text&#10;&#10;AI-generated content may be incorrect.">
            <a:extLst>
              <a:ext uri="{FF2B5EF4-FFF2-40B4-BE49-F238E27FC236}">
                <a16:creationId xmlns:a16="http://schemas.microsoft.com/office/drawing/2014/main" id="{EE261EF9-997F-6EDD-EBBE-C1CD8317B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943" y="1463040"/>
            <a:ext cx="6015380" cy="5394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52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AE60B6-CCE7-EB31-260B-5A1750D4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F1966E-FD40-4A4A-B61B-C4DF7FA05F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47BFA19-D45E-416B-A404-7AF2F3F270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rgbClr val="E1E1E1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8E0105E7-23DB-4CF2-8258-FF47C7620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C992566-2683-BFAF-826A-AFAC5D1B2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/>
          <a:p>
            <a:r>
              <a:rPr lang="en-US" sz="4000" dirty="0"/>
              <a:t>Results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4B4F7D-14B2-478B-8BF5-01E4E0C5D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5895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E16C83-7E16-84AB-3EE8-5C3BC4809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747" y="2250374"/>
            <a:ext cx="10168128" cy="4376058"/>
          </a:xfrm>
        </p:spPr>
        <p:txBody>
          <a:bodyPr>
            <a:normAutofit/>
          </a:bodyPr>
          <a:lstStyle/>
          <a:p>
            <a:r>
              <a:rPr lang="en-US" sz="2600" dirty="0"/>
              <a:t>Reports take many forms, including narratives in printed text, images, tables, and handwritings</a:t>
            </a:r>
          </a:p>
          <a:p>
            <a:r>
              <a:rPr lang="en-US" sz="2600" dirty="0"/>
              <a:t>While it extracts data from text and tables well, its accuracy is relatively low for images and handwriting</a:t>
            </a:r>
          </a:p>
          <a:p>
            <a:r>
              <a:rPr lang="en-US" sz="2600" dirty="0"/>
              <a:t>Overall accuracy is higher for deep learning-based sequence models than for bag-of-words models</a:t>
            </a:r>
          </a:p>
          <a:p>
            <a:r>
              <a:rPr lang="en-US" sz="2600" dirty="0"/>
              <a:t>The </a:t>
            </a:r>
            <a:r>
              <a:rPr lang="en-US" sz="2600" dirty="0" err="1"/>
              <a:t>ClinicalBERT</a:t>
            </a:r>
            <a:r>
              <a:rPr lang="en-US" sz="2600" dirty="0"/>
              <a:t> model showed the best performance even with a small amount of training data</a:t>
            </a:r>
          </a:p>
        </p:txBody>
      </p:sp>
    </p:spTree>
    <p:extLst>
      <p:ext uri="{BB962C8B-B14F-4D97-AF65-F5344CB8AC3E}">
        <p14:creationId xmlns:p14="http://schemas.microsoft.com/office/powerpoint/2010/main" val="3916815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1454D-4F36-8A93-445E-04AA99C1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D72AE-5B66-1316-F628-3E2FFCB4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84" y="548640"/>
            <a:ext cx="10168128" cy="1572768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Question:</a:t>
            </a:r>
            <a:r>
              <a:rPr lang="ko-KR" altLang="en-US" sz="4000" dirty="0"/>
              <a:t> </a:t>
            </a:r>
            <a:r>
              <a:rPr lang="en-US" altLang="ko-KR" sz="4000" dirty="0"/>
              <a:t>What is the structure of the Deep Learning-based sequence model used in the paper?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557E06-85B9-D27B-6A15-8AE78FE8D4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2487168"/>
            <a:ext cx="10168128" cy="40102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/>
              <a:t>Answer:</a:t>
            </a:r>
          </a:p>
          <a:p>
            <a:pPr marL="0" indent="0">
              <a:buNone/>
            </a:pPr>
            <a:r>
              <a:rPr lang="en-US" sz="2600" dirty="0"/>
              <a:t>The architecture used in the paper has two main inputs.</a:t>
            </a:r>
          </a:p>
          <a:p>
            <a:pPr marL="0" indent="0">
              <a:buNone/>
            </a:pPr>
            <a:r>
              <a:rPr lang="en-US" sz="2600" dirty="0"/>
              <a:t>It takes the words extracted from the previous OCR process and their positional information to create a sequence of appropriate token size, which is then fed into a sequence model.</a:t>
            </a:r>
          </a:p>
          <a:p>
            <a:pPr marL="0" indent="0">
              <a:buNone/>
            </a:pPr>
            <a:r>
              <a:rPr lang="en-US" sz="2600" dirty="0"/>
              <a:t>Separately, structed data such as positional information and page numbers are fed into a feedforward neural network (FFNN).</a:t>
            </a:r>
          </a:p>
          <a:p>
            <a:pPr marL="0" indent="0">
              <a:buNone/>
            </a:pPr>
            <a:r>
              <a:rPr lang="en-US" sz="2600" dirty="0"/>
              <a:t>Finally, the outputs of these two modules are processed through another FFNN to produce three labels (AHI, SaO2, Other).</a:t>
            </a:r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957305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436</TotalTime>
  <Words>285</Words>
  <Application>Microsoft Macintosh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Times New Roman</vt:lpstr>
      <vt:lpstr>Office Theme</vt:lpstr>
      <vt:lpstr>Deep learning-based NLP data pipeline for HER-scanned document information extraction</vt:lpstr>
      <vt:lpstr>Introduction &amp; Related Work</vt:lpstr>
      <vt:lpstr>Methods</vt:lpstr>
      <vt:lpstr>Results</vt:lpstr>
      <vt:lpstr>Question: What is the structure of the Deep Learning-based sequence model used in the paper?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E3676</dc:creator>
  <cp:lastModifiedBy>E3676</cp:lastModifiedBy>
  <cp:revision>15</cp:revision>
  <dcterms:created xsi:type="dcterms:W3CDTF">2026-01-15T21:13:50Z</dcterms:created>
  <dcterms:modified xsi:type="dcterms:W3CDTF">2026-01-26T19:51:41Z</dcterms:modified>
</cp:coreProperties>
</file>