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4" r:id="rId1"/>
  </p:sldMasterIdLst>
  <p:sldIdLst>
    <p:sldId id="256" r:id="rId2"/>
    <p:sldId id="257" r:id="rId3"/>
    <p:sldId id="258" r:id="rId4"/>
    <p:sldId id="259" r:id="rId5"/>
    <p:sldId id="261" r:id="rId6"/>
    <p:sldId id="260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542"/>
    <p:restoredTop sz="94536"/>
  </p:normalViewPr>
  <p:slideViewPr>
    <p:cSldViewPr snapToGrid="0">
      <p:cViewPr varScale="1">
        <p:scale>
          <a:sx n="77" d="100"/>
          <a:sy n="77" d="100"/>
        </p:scale>
        <p:origin x="200" y="18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047740-53AE-999F-F087-01BBD6FC287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4E1FD06-2C85-9BA8-A246-168258A9E1D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054390-64AB-E999-0080-CE6D04D5D1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8FA71-3A18-48C0-980F-4B68F7F63042}" type="datetime1">
              <a:rPr lang="en-US" smtClean="0"/>
              <a:t>2/1/26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17A513-015C-7615-9F51-0D9375939C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C45EDB-6907-4099-9B28-AAF1061A1A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61650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4729E9-D75F-3103-F66A-9A15DE77F3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25E4F5-F66D-8845-4FD2-CFE15F8764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156C42-4E2F-3995-6891-82FA6B0F01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C1210E-201E-4473-82AC-2466F5386C38}" type="datetime1">
              <a:rPr lang="en-US" smtClean="0"/>
              <a:t>2/1/26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DF9815-9298-DE85-E1F3-01A2717A6C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AE2E26-5F64-D0EC-DE24-90AD75B7D1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81289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05E30D-605E-9214-D178-6C3CB8D4B8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F4910E-4CE5-0FC1-F778-1F683F5553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E29711-B1BE-9836-3020-1A3A4F5019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1EA198-6CAB-4B8F-B93F-1F9C8C4B6CE7}" type="datetime1">
              <a:rPr lang="en-US" smtClean="0"/>
              <a:t>2/1/26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434A8D-CE4E-772F-B618-4390648B1D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142F58-706C-950E-1FBA-66829EC333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5300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F4583E-F174-5DB0-7B6F-25DB275A9A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6B0D45-CD3D-3BBB-7FD2-528C2FFD696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ECA511D-FB92-E1A6-1E8B-70CD584F95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CF401D7-AAE4-4405-8FFE-2506B97A65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06041F-4525-44D5-AA4F-332294BF1F56}" type="datetime1">
              <a:rPr lang="en-US" smtClean="0"/>
              <a:t>2/1/26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2794708-2AA9-C924-DBA9-141931A619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2C6BF4-F60D-2D92-F7FA-5E23BD58D4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31283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D96CC9-CFA1-4FAC-8369-966027D649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C279BD6-E835-43BC-E9E3-6E2A8F2051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4ACBDBA-AA2D-24CC-F32E-18F15E22DD4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08858E4-6329-934C-18EC-27054BE6ACA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132A370-0DF6-039A-1E16-1F86B4210D5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3FCA003-E8C9-B423-1458-63B828502F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557091-BBDF-4EB9-BA6B-2BB67AC4FC0F}" type="datetime1">
              <a:rPr lang="en-US" smtClean="0"/>
              <a:t>2/1/26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1C70835-A06E-6D36-DC57-3B24AC7ED8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E422D92-2310-E922-839D-23FB1ACEBB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32936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6EFA88-7BC4-EBAA-50B3-9A4943CFAE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DA02B77-CB11-FA16-29BD-131442154D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6B226B-77A6-410C-9796-083F278E0125}" type="datetime1">
              <a:rPr lang="en-US" smtClean="0"/>
              <a:t>2/1/26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6B2E246-FEA9-D1F4-EBCB-0D2F9D4951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AD32579-7BB9-B6C0-820D-BE358A5863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33471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6D778CF-9939-519F-4118-E372C81FB9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3A578B-D289-4C40-8593-3D356C49DA58}" type="datetime1">
              <a:rPr lang="en-US" smtClean="0"/>
              <a:t>2/1/26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BE28893-F1F5-B741-1316-B2B4DEB9CE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A3C4A4-D1D8-7786-1BF7-1A0479AAE8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63056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D1ABF9-06D2-55BA-21BE-ACA0641951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F32970-687D-C1E1-BB1E-B6D84B2311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B792C19-6CE4-4855-7F02-642CF561A1D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9083F97-6F6E-1FB4-541E-D61B1FEC9D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3DFAE3-14DB-48A7-A80F-80DDB072CE3D}" type="datetime1">
              <a:rPr lang="en-US" smtClean="0"/>
              <a:t>2/1/26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27A99D6-274B-D6D4-D23D-9B35A1A1B6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AB1ADE2-F1A2-C4F3-C875-627759A2D7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2097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29FC01-70A5-D138-556B-CA939DEDAF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2EAF073-DBF6-8F9C-5E23-4CA07E6D6F2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6FF495B-916D-8B17-972E-B722E237641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C2A4CAB-F190-CFEF-E873-2D5A9B8EB4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C5EAEF-6478-4102-8F5D-A5FE9FC97ACB}" type="datetime1">
              <a:rPr lang="en-US" smtClean="0"/>
              <a:t>2/1/26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70ED8C-E966-E3B9-2382-BB3128D4CF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F55CD15-5CC3-6746-CE63-465720F86E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21283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679153-FF0F-05FC-9E49-472E539634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3428D08-AB36-2473-3CD9-6CF222772E5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2CC1D8-F5D0-4FDB-42B4-81D8669085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04EDB3-C0E8-45F8-9E1D-1B6C8D1880C0}" type="datetime1">
              <a:rPr lang="en-US" smtClean="0"/>
              <a:t>2/1/26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F42517-C6F1-1ED9-5EC6-078D07EE1F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E2B2E6-9102-C6EA-5508-7DB678C8D4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38085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B6211AB-9717-3A26-5ABA-D2A602FF0AA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AB4B604-0A0B-3BD4-1E62-9C053A17CF9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F53DB4-5088-7468-3B05-B793BFB388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F0EC4B-54ED-4041-B552-9BA760FA3DBA}" type="datetime1">
              <a:rPr lang="en-US" smtClean="0"/>
              <a:t>2/1/26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60E0C7-68F4-2D05-6CB0-9E5FBEA4E1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215230-7243-E83E-8D51-DF1CFF7548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83460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A2A7A92-7DEF-6894-BE7B-D4968CB7D1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EF0A311-FF23-6073-8F3C-AFF8DE5F76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CADE31-CEC7-F53D-0CFE-D8408245DED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7F45AC6-C491-4585-A584-9CE2AF7D5500}" type="datetime1">
              <a:rPr lang="en-US" smtClean="0"/>
              <a:t>2/1/26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ED2CDB-38B7-3DBA-E218-641B6E63A83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DF833C-DDD8-3886-2686-0B98422157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57695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76" r:id="rId2"/>
    <p:sldLayoutId id="2147483677" r:id="rId3"/>
    <p:sldLayoutId id="2147483678" r:id="rId4"/>
    <p:sldLayoutId id="2147483679" r:id="rId5"/>
    <p:sldLayoutId id="2147483680" r:id="rId6"/>
    <p:sldLayoutId id="2147483681" r:id="rId7"/>
    <p:sldLayoutId id="2147483682" r:id="rId8"/>
    <p:sldLayoutId id="2147483683" r:id="rId9"/>
    <p:sldLayoutId id="2147483684" r:id="rId10"/>
    <p:sldLayoutId id="2147483685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://thebeardsage.com/cuda-memory-hierarchy/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E91DC736-0EF8-4F87-9146-EBF1D2EE4D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EE607CB-DF48-786D-0E8A-808D223F47F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006" r="32159" b="6907"/>
          <a:stretch>
            <a:fillRect/>
          </a:stretch>
        </p:blipFill>
        <p:spPr>
          <a:xfrm>
            <a:off x="3523488" y="10"/>
            <a:ext cx="8668512" cy="685799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097CD68E-23E3-4007-8847-CD0944C4F7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756601" cy="6858000"/>
          </a:xfrm>
          <a:prstGeom prst="rect">
            <a:avLst/>
          </a:prstGeom>
          <a:gradFill>
            <a:gsLst>
              <a:gs pos="58000">
                <a:schemeClr val="bg1"/>
              </a:gs>
              <a:gs pos="35000">
                <a:schemeClr val="bg1">
                  <a:alpha val="79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C26447B-0BAC-33A7-A4CC-76785FFC9B6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7981" y="1122363"/>
            <a:ext cx="4023360" cy="3204134"/>
          </a:xfrm>
        </p:spPr>
        <p:txBody>
          <a:bodyPr anchor="b">
            <a:normAutofit/>
          </a:bodyPr>
          <a:lstStyle/>
          <a:p>
            <a:pPr algn="l"/>
            <a:r>
              <a:rPr lang="en-US" sz="3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 Even Easier Introduction to CUDA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F60DF2F-C20B-4C20-7031-99284D69EC7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7980" y="4872922"/>
            <a:ext cx="4023359" cy="1208141"/>
          </a:xfrm>
        </p:spPr>
        <p:txBody>
          <a:bodyPr>
            <a:normAutofit/>
          </a:bodyPr>
          <a:lstStyle/>
          <a:p>
            <a:pPr algn="l">
              <a:spcBef>
                <a:spcPts val="600"/>
              </a:spcBef>
            </a:pP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Jeong Hoon Choi</a:t>
            </a:r>
          </a:p>
          <a:p>
            <a:pPr algn="l">
              <a:spcBef>
                <a:spcPts val="600"/>
              </a:spcBef>
            </a:pP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USCID: 5023184813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D49F336A-D1F7-3086-AF5C-373BD260AF40}"/>
              </a:ext>
            </a:extLst>
          </p:cNvPr>
          <p:cNvSpPr txBox="1">
            <a:spLocks/>
          </p:cNvSpPr>
          <p:nvPr/>
        </p:nvSpPr>
        <p:spPr>
          <a:xfrm>
            <a:off x="8577143" y="6083300"/>
            <a:ext cx="3614857" cy="7747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lnSpc>
                <a:spcPct val="100000"/>
              </a:lnSpc>
              <a:spcBef>
                <a:spcPts val="600"/>
              </a:spcBef>
            </a:pP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DSCI-560</a:t>
            </a:r>
          </a:p>
          <a:p>
            <a:pPr algn="r">
              <a:lnSpc>
                <a:spcPct val="100000"/>
              </a:lnSpc>
              <a:spcBef>
                <a:spcPts val="600"/>
              </a:spcBef>
            </a:pP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Science Professional Practicum</a:t>
            </a:r>
          </a:p>
        </p:txBody>
      </p:sp>
    </p:spTree>
    <p:extLst>
      <p:ext uri="{BB962C8B-B14F-4D97-AF65-F5344CB8AC3E}">
        <p14:creationId xmlns:p14="http://schemas.microsoft.com/office/powerpoint/2010/main" val="37832060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AF1966E-FD40-4A4A-B61B-C4DF7FA05F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47BFA19-D45E-416B-A404-7AF2F3F270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rgbClr val="E1E1E1"/>
            </a:solidFill>
          </a:ln>
          <a:effectLst>
            <a:outerShdw blurRad="50800" dist="38100" dir="2700000" algn="t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8E0105E7-23DB-4CF2-8258-FF47C7620F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BE19597-ABC8-97F3-5AF6-2821F17A9C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/>
          <a:p>
            <a:r>
              <a:rPr lang="en-US" sz="4000" dirty="0"/>
              <a:t>Introduction to CUDA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74B4F7D-14B2-478B-8BF5-01E4E0C5D2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8834" y="758952"/>
            <a:ext cx="128016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A0EA1666-7C22-299F-42D5-3045EC9233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6850" y="2018806"/>
            <a:ext cx="10656846" cy="4392504"/>
          </a:xfrm>
        </p:spPr>
        <p:txBody>
          <a:bodyPr>
            <a:normAutofit/>
          </a:bodyPr>
          <a:lstStyle/>
          <a:p>
            <a:r>
              <a:rPr lang="en-US" sz="2200" dirty="0"/>
              <a:t>__global__: kernel functions callable from the host</a:t>
            </a:r>
          </a:p>
          <a:p>
            <a:r>
              <a:rPr lang="en-US" sz="2200" dirty="0"/>
              <a:t>__device__: kernel functions callable from the kernel (__device__ or __global__)</a:t>
            </a:r>
          </a:p>
          <a:p>
            <a:r>
              <a:rPr lang="en-US" sz="2200" dirty="0"/>
              <a:t>__host__: host functions callable from the host</a:t>
            </a:r>
          </a:p>
          <a:p>
            <a:endParaRPr lang="en-US" sz="2200" dirty="0"/>
          </a:p>
          <a:p>
            <a:r>
              <a:rPr lang="en-US" sz="2200" dirty="0" err="1"/>
              <a:t>cudaMallocManaged</a:t>
            </a:r>
            <a:r>
              <a:rPr lang="en-US" sz="2200" dirty="0"/>
              <a:t>(void** </a:t>
            </a:r>
            <a:r>
              <a:rPr lang="en-US" sz="2200" dirty="0" err="1"/>
              <a:t>dptr</a:t>
            </a:r>
            <a:r>
              <a:rPr lang="en-US" sz="2200" dirty="0"/>
              <a:t>, </a:t>
            </a:r>
            <a:r>
              <a:rPr lang="en-US" sz="2200" dirty="0" err="1"/>
              <a:t>size_t</a:t>
            </a:r>
            <a:r>
              <a:rPr lang="en-US" sz="2200" dirty="0"/>
              <a:t> size, unsinged int flags=</a:t>
            </a:r>
            <a:r>
              <a:rPr lang="en-US" sz="2200" dirty="0" err="1"/>
              <a:t>cudaMemAttachGlobal</a:t>
            </a:r>
            <a:r>
              <a:rPr lang="en-US" sz="2200" dirty="0"/>
              <a:t>): allocates memory (</a:t>
            </a:r>
            <a:r>
              <a:rPr lang="en-US" sz="2200" dirty="0" err="1"/>
              <a:t>manged</a:t>
            </a:r>
            <a:r>
              <a:rPr lang="en-US" sz="2200" dirty="0"/>
              <a:t> by the unified memory system)</a:t>
            </a:r>
          </a:p>
          <a:p>
            <a:r>
              <a:rPr lang="en-US" sz="2200" dirty="0" err="1"/>
              <a:t>cudaMalloc</a:t>
            </a:r>
            <a:r>
              <a:rPr lang="en-US" sz="2200" dirty="0"/>
              <a:t>(void** </a:t>
            </a:r>
            <a:r>
              <a:rPr lang="en-US" sz="2200" dirty="0" err="1"/>
              <a:t>dptr</a:t>
            </a:r>
            <a:r>
              <a:rPr lang="en-US" sz="2200" dirty="0"/>
              <a:t>, </a:t>
            </a:r>
            <a:r>
              <a:rPr lang="en-US" sz="2200" dirty="0" err="1"/>
              <a:t>size_t</a:t>
            </a:r>
            <a:r>
              <a:rPr lang="en-US" sz="2200" dirty="0"/>
              <a:t> size): allocate memory on the device(GPU)</a:t>
            </a:r>
          </a:p>
          <a:p>
            <a:r>
              <a:rPr lang="en-US" sz="2200" dirty="0" err="1"/>
              <a:t>cudaMemPrefetchAsync</a:t>
            </a:r>
            <a:r>
              <a:rPr lang="en-US" sz="2200" dirty="0"/>
              <a:t>(const void* </a:t>
            </a:r>
            <a:r>
              <a:rPr lang="en-US" sz="2200" dirty="0" err="1"/>
              <a:t>dptr</a:t>
            </a:r>
            <a:r>
              <a:rPr lang="en-US" sz="2200" dirty="0"/>
              <a:t>, </a:t>
            </a:r>
            <a:r>
              <a:rPr lang="en-US" sz="2200" dirty="0" err="1"/>
              <a:t>size_t</a:t>
            </a:r>
            <a:r>
              <a:rPr lang="en-US" sz="2200" dirty="0"/>
              <a:t> count, </a:t>
            </a:r>
            <a:r>
              <a:rPr lang="en-US" sz="2200" dirty="0" err="1"/>
              <a:t>cudaMemLocation</a:t>
            </a:r>
            <a:r>
              <a:rPr lang="en-US" sz="2200" dirty="0"/>
              <a:t>, unsigned int, </a:t>
            </a:r>
            <a:r>
              <a:rPr lang="en-US" sz="2200" dirty="0" err="1"/>
              <a:t>cudaStream_t</a:t>
            </a:r>
            <a:r>
              <a:rPr lang="en-US" sz="2200" dirty="0"/>
              <a:t>): prefetch memory to the specified destination location</a:t>
            </a:r>
          </a:p>
          <a:p>
            <a:r>
              <a:rPr lang="en-US" sz="2200" dirty="0" err="1"/>
              <a:t>cudaFree</a:t>
            </a:r>
            <a:r>
              <a:rPr lang="en-US" sz="2200" dirty="0"/>
              <a:t>(void* </a:t>
            </a:r>
            <a:r>
              <a:rPr lang="en-US" sz="2200" dirty="0" err="1"/>
              <a:t>dptr</a:t>
            </a:r>
            <a:r>
              <a:rPr lang="en-US" sz="2200" dirty="0"/>
              <a:t>): frees memory on the device (GPU)</a:t>
            </a:r>
          </a:p>
        </p:txBody>
      </p:sp>
    </p:spTree>
    <p:extLst>
      <p:ext uri="{BB962C8B-B14F-4D97-AF65-F5344CB8AC3E}">
        <p14:creationId xmlns:p14="http://schemas.microsoft.com/office/powerpoint/2010/main" val="42190641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C9B3ABF-E397-C87E-3197-FF87D0F9D1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AF1966E-FD40-4A4A-B61B-C4DF7FA05F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47BFA19-D45E-416B-A404-7AF2F3F270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rgbClr val="E1E1E1"/>
            </a:solidFill>
          </a:ln>
          <a:effectLst>
            <a:outerShdw blurRad="50800" dist="38100" dir="2700000" algn="t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8E0105E7-23DB-4CF2-8258-FF47C7620F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909FC9B-0987-000B-C719-6F3409375D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/>
          <a:p>
            <a:r>
              <a:rPr lang="en-US" sz="4000" dirty="0"/>
              <a:t>Introduction to CUDA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74B4F7D-14B2-478B-8BF5-01E4E0C5D2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8834" y="758952"/>
            <a:ext cx="128016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2621965-3735-4935-9937-D4CF11EEB3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6850" y="2221992"/>
            <a:ext cx="10610088" cy="431671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global function call:</a:t>
            </a:r>
          </a:p>
          <a:p>
            <a:pPr marL="0" indent="0">
              <a:buNone/>
            </a:pPr>
            <a:r>
              <a:rPr lang="en-US" dirty="0" err="1"/>
              <a:t>function_name</a:t>
            </a:r>
            <a:r>
              <a:rPr lang="en-US" dirty="0"/>
              <a:t>&lt;&lt;&lt;</a:t>
            </a:r>
            <a:r>
              <a:rPr lang="en-US" dirty="0" err="1"/>
              <a:t>gridDim</a:t>
            </a:r>
            <a:r>
              <a:rPr lang="en-US" dirty="0"/>
              <a:t>, </a:t>
            </a:r>
            <a:r>
              <a:rPr lang="en-US" dirty="0" err="1"/>
              <a:t>blockDim</a:t>
            </a:r>
            <a:r>
              <a:rPr lang="en-US" dirty="0"/>
              <a:t>, </a:t>
            </a:r>
            <a:r>
              <a:rPr lang="en-US" dirty="0" err="1"/>
              <a:t>sharedMemBytes</a:t>
            </a:r>
            <a:r>
              <a:rPr lang="en-US" dirty="0"/>
              <a:t>, stream&gt;&gt;&gt;(argument1, argument2);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 err="1"/>
              <a:t>cuda</a:t>
            </a:r>
            <a:r>
              <a:rPr lang="en-US" dirty="0"/>
              <a:t> synchronize:</a:t>
            </a:r>
          </a:p>
          <a:p>
            <a:pPr marL="0" indent="0">
              <a:buNone/>
            </a:pPr>
            <a:r>
              <a:rPr lang="en-US" dirty="0" err="1"/>
              <a:t>cudaDeviceSynchronize</a:t>
            </a:r>
            <a:r>
              <a:rPr lang="en-US" dirty="0"/>
              <a:t>(): wait for compute device to finish</a:t>
            </a:r>
          </a:p>
        </p:txBody>
      </p:sp>
    </p:spTree>
    <p:extLst>
      <p:ext uri="{BB962C8B-B14F-4D97-AF65-F5344CB8AC3E}">
        <p14:creationId xmlns:p14="http://schemas.microsoft.com/office/powerpoint/2010/main" val="5125228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7AE60B6-CCE7-EB31-260B-5A1750D493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DAF1966E-FD40-4A4A-B61B-C4DF7FA05F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047BFA19-D45E-416B-A404-7AF2F3F270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rgbClr val="E1E1E1"/>
            </a:solidFill>
          </a:ln>
          <a:effectLst>
            <a:outerShdw blurRad="50800" dist="38100" dir="2700000" algn="t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8E0105E7-23DB-4CF2-8258-FF47C7620F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C992566-2683-BFAF-826A-AFAC5D1B26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/>
          <a:p>
            <a:r>
              <a:rPr lang="en-US" sz="4000" dirty="0"/>
              <a:t>Introduction to CUDA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74B4F7D-14B2-478B-8BF5-01E4E0C5D2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8834" y="758952"/>
            <a:ext cx="128016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E16C83-7E16-84AB-3EE8-5C3BC48099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2747" y="2250374"/>
            <a:ext cx="10168128" cy="437605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/>
              <a:t>Cuda Kernel Built-in functions and variables:</a:t>
            </a:r>
          </a:p>
          <a:p>
            <a:pPr marL="0" indent="0">
              <a:buNone/>
            </a:pPr>
            <a:r>
              <a:rPr lang="en-US" sz="2400" dirty="0"/>
              <a:t>__</a:t>
            </a:r>
            <a:r>
              <a:rPr lang="en-US" sz="2400" dirty="0" err="1"/>
              <a:t>syncthreads</a:t>
            </a:r>
            <a:r>
              <a:rPr lang="en-US" sz="2400" dirty="0"/>
              <a:t>(): all threads in the block sync</a:t>
            </a:r>
          </a:p>
          <a:p>
            <a:pPr marL="0" indent="0">
              <a:buNone/>
            </a:pPr>
            <a:r>
              <a:rPr lang="en-US" sz="2600" dirty="0" err="1"/>
              <a:t>threadIdx.x</a:t>
            </a:r>
            <a:r>
              <a:rPr lang="en-US" sz="2600" dirty="0"/>
              <a:t>, </a:t>
            </a:r>
            <a:r>
              <a:rPr lang="en-US" sz="2600" dirty="0" err="1"/>
              <a:t>threadIdx.y</a:t>
            </a:r>
            <a:r>
              <a:rPr lang="en-US" sz="2600" dirty="0"/>
              <a:t>, </a:t>
            </a:r>
            <a:r>
              <a:rPr lang="en-US" sz="2600" dirty="0" err="1"/>
              <a:t>threadIdx.z</a:t>
            </a:r>
            <a:endParaRPr lang="en-US" sz="2600" dirty="0"/>
          </a:p>
          <a:p>
            <a:pPr marL="0" indent="0">
              <a:buNone/>
            </a:pPr>
            <a:r>
              <a:rPr lang="en-US" sz="2600" dirty="0" err="1"/>
              <a:t>blockDim.x</a:t>
            </a:r>
            <a:r>
              <a:rPr lang="en-US" sz="2600" dirty="0"/>
              <a:t>, </a:t>
            </a:r>
            <a:r>
              <a:rPr lang="en-US" sz="2600" dirty="0" err="1"/>
              <a:t>blockDim.y</a:t>
            </a:r>
            <a:r>
              <a:rPr lang="en-US" sz="2600" dirty="0"/>
              <a:t>, </a:t>
            </a:r>
            <a:r>
              <a:rPr lang="en-US" sz="2600" dirty="0" err="1"/>
              <a:t>blockDim.z</a:t>
            </a:r>
            <a:endParaRPr lang="en-US" sz="2600" dirty="0"/>
          </a:p>
          <a:p>
            <a:pPr marL="0" indent="0">
              <a:buNone/>
            </a:pPr>
            <a:r>
              <a:rPr lang="en-US" sz="2600" dirty="0"/>
              <a:t>(0 &lt;= </a:t>
            </a:r>
            <a:r>
              <a:rPr lang="en-US" sz="2600" dirty="0" err="1"/>
              <a:t>threadIdx.x</a:t>
            </a:r>
            <a:r>
              <a:rPr lang="en-US" sz="2600" dirty="0"/>
              <a:t> &lt; </a:t>
            </a:r>
            <a:r>
              <a:rPr lang="en-US" sz="2600" dirty="0" err="1"/>
              <a:t>blockDim.x</a:t>
            </a:r>
            <a:r>
              <a:rPr lang="en-US" sz="2600" dirty="0"/>
              <a:t>)</a:t>
            </a:r>
          </a:p>
          <a:p>
            <a:pPr marL="0" indent="0">
              <a:buNone/>
            </a:pPr>
            <a:r>
              <a:rPr lang="en-US" sz="2600" dirty="0" err="1"/>
              <a:t>blockIdx.x</a:t>
            </a:r>
            <a:r>
              <a:rPr lang="en-US" sz="2600" dirty="0"/>
              <a:t>, </a:t>
            </a:r>
            <a:r>
              <a:rPr lang="en-US" sz="2600" dirty="0" err="1"/>
              <a:t>blockIdx.y</a:t>
            </a:r>
            <a:r>
              <a:rPr lang="en-US" sz="2600" dirty="0"/>
              <a:t> </a:t>
            </a:r>
            <a:r>
              <a:rPr lang="en-US" sz="2600" dirty="0" err="1"/>
              <a:t>blockIdx.z</a:t>
            </a:r>
            <a:endParaRPr lang="en-US" sz="2600" dirty="0"/>
          </a:p>
          <a:p>
            <a:pPr marL="0" indent="0">
              <a:buNone/>
            </a:pPr>
            <a:r>
              <a:rPr lang="en-US" sz="2600" dirty="0" err="1"/>
              <a:t>warpSize</a:t>
            </a:r>
            <a:r>
              <a:rPr lang="en-US" sz="2600" dirty="0"/>
              <a:t>: size of warp</a:t>
            </a:r>
          </a:p>
          <a:p>
            <a:pPr marL="0" indent="0">
              <a:buNone/>
            </a:pPr>
            <a:r>
              <a:rPr lang="en-US" sz="2600" dirty="0"/>
              <a:t>Kernel Keywords:</a:t>
            </a:r>
          </a:p>
          <a:p>
            <a:pPr marL="0" indent="0">
              <a:buNone/>
            </a:pPr>
            <a:r>
              <a:rPr lang="en-US" sz="2600" dirty="0"/>
              <a:t>__shared__: shared memory (block share memory)</a:t>
            </a:r>
          </a:p>
        </p:txBody>
      </p:sp>
    </p:spTree>
    <p:extLst>
      <p:ext uri="{BB962C8B-B14F-4D97-AF65-F5344CB8AC3E}">
        <p14:creationId xmlns:p14="http://schemas.microsoft.com/office/powerpoint/2010/main" val="39168159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24C5ED-C136-F740-40C9-6078CBE270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262DD1-AF72-6370-0946-6C3D0ACFDC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/>
          <a:p>
            <a:r>
              <a:rPr lang="en-US" sz="4000" dirty="0"/>
              <a:t>Introduction to CUDA</a:t>
            </a:r>
          </a:p>
        </p:txBody>
      </p:sp>
      <p:pic>
        <p:nvPicPr>
          <p:cNvPr id="7" name="Content Placeholder 6" descr="A close-up of a whiteboard with blue writing&#10;&#10;AI-generated content may be incorrect.">
            <a:extLst>
              <a:ext uri="{FF2B5EF4-FFF2-40B4-BE49-F238E27FC236}">
                <a16:creationId xmlns:a16="http://schemas.microsoft.com/office/drawing/2014/main" id="{5CE28994-26FF-1CE0-F65C-EE530CB2D9B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555379" y="1825625"/>
            <a:ext cx="9081242" cy="4351338"/>
          </a:xfrm>
        </p:spPr>
      </p:pic>
    </p:spTree>
    <p:extLst>
      <p:ext uri="{BB962C8B-B14F-4D97-AF65-F5344CB8AC3E}">
        <p14:creationId xmlns:p14="http://schemas.microsoft.com/office/powerpoint/2010/main" val="6518217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B1454D-4F36-8A93-445E-04AA99C179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9D72AE-5B66-1316-F628-3E2FFCB4C5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9184" y="548640"/>
            <a:ext cx="10168128" cy="1572768"/>
          </a:xfrm>
        </p:spPr>
        <p:txBody>
          <a:bodyPr>
            <a:normAutofit/>
          </a:bodyPr>
          <a:lstStyle/>
          <a:p>
            <a:r>
              <a:rPr lang="en-US" sz="4000" dirty="0"/>
              <a:t>Question: Explain function of CUDA memory hierarchy and its scope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557E06-85B9-D27B-6A15-8AE78FE8D4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6656" y="2487168"/>
            <a:ext cx="10168128" cy="40102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600" dirty="0"/>
              <a:t>Answer:</a:t>
            </a:r>
          </a:p>
          <a:p>
            <a:pPr marL="0" indent="0">
              <a:buNone/>
            </a:pPr>
            <a:r>
              <a:rPr lang="en-US" sz="2600" dirty="0">
                <a:hlinkClick r:id="rId2"/>
              </a:rPr>
              <a:t>http://thebeardsage.com/cuda-memory-hierarchy/</a:t>
            </a:r>
            <a:endParaRPr lang="en-US" sz="2600" dirty="0"/>
          </a:p>
          <a:p>
            <a:pPr marL="0" indent="0">
              <a:buNone/>
            </a:pPr>
            <a:r>
              <a:rPr lang="en-US" sz="2600" dirty="0"/>
              <a:t>Global Memory: all threads and CPU, </a:t>
            </a:r>
            <a:r>
              <a:rPr lang="en-US" sz="2600" dirty="0" err="1"/>
              <a:t>cudaMalloc</a:t>
            </a:r>
            <a:r>
              <a:rPr lang="en-US" sz="2600" dirty="0"/>
              <a:t>, </a:t>
            </a:r>
            <a:r>
              <a:rPr lang="en-US" sz="2600" dirty="0" err="1"/>
              <a:t>cudaFree</a:t>
            </a:r>
            <a:endParaRPr lang="en-US" sz="2600" dirty="0"/>
          </a:p>
          <a:p>
            <a:pPr marL="0" indent="0">
              <a:buNone/>
            </a:pPr>
            <a:r>
              <a:rPr lang="en-US" sz="2600" dirty="0"/>
              <a:t>Constant Memory: all threads and CPU (RO), __constant__ int </a:t>
            </a:r>
            <a:r>
              <a:rPr lang="en-US" sz="2600" dirty="0" err="1"/>
              <a:t>const_data</a:t>
            </a:r>
            <a:r>
              <a:rPr lang="en-US" sz="2600" dirty="0"/>
              <a:t>;</a:t>
            </a:r>
          </a:p>
          <a:p>
            <a:pPr marL="0" indent="0">
              <a:buNone/>
            </a:pPr>
            <a:r>
              <a:rPr lang="en-US" sz="2600" dirty="0"/>
              <a:t>Shared Memory: per block, __shared__ int </a:t>
            </a:r>
            <a:r>
              <a:rPr lang="en-US" sz="2600" dirty="0" err="1"/>
              <a:t>shared_data</a:t>
            </a:r>
            <a:r>
              <a:rPr lang="en-US" sz="2600" dirty="0"/>
              <a:t>[64];</a:t>
            </a:r>
          </a:p>
          <a:p>
            <a:pPr marL="0" indent="0">
              <a:buNone/>
            </a:pPr>
            <a:r>
              <a:rPr lang="en-US" sz="2600" dirty="0"/>
              <a:t>Local Memory: per thread</a:t>
            </a:r>
            <a:r>
              <a:rPr lang="en-US" altLang="ko-KR" sz="2600" dirty="0"/>
              <a:t>,</a:t>
            </a:r>
            <a:r>
              <a:rPr lang="ko-KR" altLang="en-US" sz="2600" dirty="0"/>
              <a:t> </a:t>
            </a:r>
            <a:r>
              <a:rPr lang="en-US" altLang="ko-KR" sz="2600" dirty="0"/>
              <a:t>int </a:t>
            </a:r>
            <a:r>
              <a:rPr lang="en-US" altLang="ko-KR" sz="2600" dirty="0" err="1"/>
              <a:t>local_data</a:t>
            </a:r>
            <a:r>
              <a:rPr lang="en-US" altLang="ko-KR" sz="2600" dirty="0"/>
              <a:t>[64]; (decide by compiler)</a:t>
            </a:r>
            <a:endParaRPr lang="en-US" sz="2600" dirty="0"/>
          </a:p>
          <a:p>
            <a:pPr marL="0" indent="0">
              <a:buNone/>
            </a:pPr>
            <a:r>
              <a:rPr lang="en-US" sz="2600" dirty="0"/>
              <a:t>Register: per thread, int </a:t>
            </a:r>
            <a:r>
              <a:rPr lang="en-US" sz="2600" dirty="0" err="1"/>
              <a:t>register_data</a:t>
            </a:r>
            <a:r>
              <a:rPr lang="en-US" sz="2600" dirty="0"/>
              <a:t>; (decide by compiler)</a:t>
            </a:r>
          </a:p>
        </p:txBody>
      </p:sp>
    </p:spTree>
    <p:extLst>
      <p:ext uri="{BB962C8B-B14F-4D97-AF65-F5344CB8AC3E}">
        <p14:creationId xmlns:p14="http://schemas.microsoft.com/office/powerpoint/2010/main" val="195730517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559</TotalTime>
  <Words>358</Words>
  <Application>Microsoft Macintosh PowerPoint</Application>
  <PresentationFormat>Widescreen</PresentationFormat>
  <Paragraphs>39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2" baseType="lpstr">
      <vt:lpstr>Aptos</vt:lpstr>
      <vt:lpstr>Aptos Display</vt:lpstr>
      <vt:lpstr>Arial</vt:lpstr>
      <vt:lpstr>Calibri</vt:lpstr>
      <vt:lpstr>Times New Roman</vt:lpstr>
      <vt:lpstr>Office Theme</vt:lpstr>
      <vt:lpstr>An Even Easier Introduction to CUDA</vt:lpstr>
      <vt:lpstr>Introduction to CUDA</vt:lpstr>
      <vt:lpstr>Introduction to CUDA</vt:lpstr>
      <vt:lpstr>Introduction to CUDA</vt:lpstr>
      <vt:lpstr>Introduction to CUDA</vt:lpstr>
      <vt:lpstr>Question: Explain function of CUDA memory hierarchy and its scope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E3676</dc:creator>
  <cp:lastModifiedBy>E3676</cp:lastModifiedBy>
  <cp:revision>19</cp:revision>
  <dcterms:created xsi:type="dcterms:W3CDTF">2026-01-15T21:13:50Z</dcterms:created>
  <dcterms:modified xsi:type="dcterms:W3CDTF">2026-02-02T05:58:07Z</dcterms:modified>
</cp:coreProperties>
</file>