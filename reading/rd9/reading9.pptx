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notesMasterIdLst>
    <p:notesMasterId r:id="rId8"/>
  </p:notesMasterIdLst>
  <p:sldIdLst>
    <p:sldId id="256" r:id="rId2"/>
    <p:sldId id="264" r:id="rId3"/>
    <p:sldId id="268" r:id="rId4"/>
    <p:sldId id="269" r:id="rId5"/>
    <p:sldId id="270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30"/>
    <p:restoredTop sz="94536"/>
  </p:normalViewPr>
  <p:slideViewPr>
    <p:cSldViewPr snapToGrid="0">
      <p:cViewPr varScale="1">
        <p:scale>
          <a:sx n="68" d="100"/>
          <a:sy n="68" d="100"/>
        </p:scale>
        <p:origin x="216" y="2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F9086-7082-AA46-9988-42215D21A4B7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BE4AC-5BFD-CD49-A33F-856D3B15A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11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BE4AC-5BFD-CD49-A33F-856D3B15AB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9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7740-53AE-999F-F087-01BBD6FC2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1FD06-2C85-9BA8-A246-168258A9E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54390-64AB-E999-0080-CE6D04D5D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7A513-015C-7615-9F51-0D9375939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45EDB-6907-4099-9B28-AAF1061A1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6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729E9-D75F-3103-F66A-9A15DE77F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5E4F5-F66D-8845-4FD2-CFE15F876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56C42-4E2F-3995-6891-82FA6B0F0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F9815-9298-DE85-E1F3-01A2717A6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E2E26-5F64-D0EC-DE24-90AD75B7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8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5E30D-605E-9214-D178-6C3CB8D4B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4910E-4CE5-0FC1-F778-1F683F555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29711-B1BE-9836-3020-1A3A4F501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34A8D-CE4E-772F-B618-4390648B1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42F58-706C-950E-1FBA-66829EC3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530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583E-F174-5DB0-7B6F-25DB275A9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B0D45-CD3D-3BBB-7FD2-528C2FFD6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A511D-FB92-E1A6-1E8B-70CD584F9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401D7-AAE4-4405-8FFE-2506B97A6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94708-2AA9-C924-DBA9-141931A6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C6BF4-F60D-2D92-F7FA-5E23BD58D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2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6CC9-CFA1-4FAC-8369-966027D64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79BD6-E835-43BC-E9E3-6E2A8F205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CBDBA-AA2D-24CC-F32E-18F15E22D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8858E4-6329-934C-18EC-27054BE6A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2A370-0DF6-039A-1E16-1F86B4210D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FCA003-E8C9-B423-1458-63B828502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C70835-A06E-6D36-DC57-3B24AC7E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422D92-2310-E922-839D-23FB1ACEB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93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FA88-7BC4-EBAA-50B3-9A4943CFA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02B77-CB11-FA16-29BD-131442154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2E246-FEA9-D1F4-EBCB-0D2F9D495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32579-7BB9-B6C0-820D-BE358A586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4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D778CF-9939-519F-4118-E372C81FB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28893-F1F5-B741-1316-B2B4DEB9C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3C4A4-D1D8-7786-1BF7-1A0479AAE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0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ABF9-06D2-55BA-21BE-ACA064195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32970-687D-C1E1-BB1E-B6D84B231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92C19-6CE4-4855-7F02-642CF561A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83F97-6F6E-1FB4-541E-D61B1FEC9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A99D6-274B-D6D4-D23D-9B35A1A1B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1ADE2-F1A2-C4F3-C875-627759A2D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9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9FC01-70A5-D138-556B-CA939DEDA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EAF073-DBF6-8F9C-5E23-4CA07E6D6F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F495B-916D-8B17-972E-B722E2376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A4CAB-F190-CFEF-E873-2D5A9B8EB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0ED8C-E966-E3B9-2382-BB3128D4C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5CD15-5CC3-6746-CE63-465720F86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28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79153-FF0F-05FC-9E49-472E53963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28D08-AB36-2473-3CD9-6CF222772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CC1D8-F5D0-4FDB-42B4-81D866908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42517-C6F1-1ED9-5EC6-078D07EE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2B2E6-9102-C6EA-5508-7DB678C8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08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6211AB-9717-3A26-5ABA-D2A602FF0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4B604-0A0B-3BD4-1E62-9C053A17C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53DB4-5088-7468-3B05-B793BFB38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0E0C7-68F4-2D05-6CB0-9E5FBEA4E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15230-7243-E83E-8D51-DF1CFF754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46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2A7A92-7DEF-6894-BE7B-D4968CB7D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0A311-FF23-6073-8F3C-AFF8DE5F7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ADE31-CEC7-F53D-0CFE-D8408245DE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2CDB-38B7-3DBA-E218-641B6E63A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F833C-DDD8-3886-2686-0B9842215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6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E607CB-DF48-786D-0E8A-808D223F47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06" r="32159" b="6907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6447B-0BAC-33A7-A4CC-76785FFC9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Chatbot Systems: A Technical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0DF2F-C20B-4C20-7031-99284D69E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>
              <a:spcBef>
                <a:spcPts val="600"/>
              </a:spcBef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Jeong Hoon Choi</a:t>
            </a:r>
          </a:p>
          <a:p>
            <a:pPr algn="l">
              <a:spcBef>
                <a:spcPts val="600"/>
              </a:spcBef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USCID: 5023184813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49F336A-D1F7-3086-AF5C-373BD260AF40}"/>
              </a:ext>
            </a:extLst>
          </p:cNvPr>
          <p:cNvSpPr txBox="1">
            <a:spLocks/>
          </p:cNvSpPr>
          <p:nvPr/>
        </p:nvSpPr>
        <p:spPr>
          <a:xfrm>
            <a:off x="8577143" y="6083300"/>
            <a:ext cx="3614857" cy="77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DSCI-560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Professional Practicum</a:t>
            </a:r>
          </a:p>
        </p:txBody>
      </p:sp>
    </p:spTree>
    <p:extLst>
      <p:ext uri="{BB962C8B-B14F-4D97-AF65-F5344CB8AC3E}">
        <p14:creationId xmlns:p14="http://schemas.microsoft.com/office/powerpoint/2010/main" val="3783206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EFFD0-5544-1387-C559-6E19C74BA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CE18A-E055-90C5-6085-A63399BCB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44" y="319293"/>
            <a:ext cx="10168128" cy="1179576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813DF7-06C7-8D54-9ECF-A0595641C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226" y="1498869"/>
            <a:ext cx="10168128" cy="4430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Chatbot: Human messages exchange + chat with Computer/Robot</a:t>
            </a:r>
          </a:p>
          <a:p>
            <a:pPr marL="0" indent="0"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(open or close domain)</a:t>
            </a:r>
          </a:p>
          <a:p>
            <a:pPr marL="457200" indent="-457200"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generation (retrieval or generative)</a:t>
            </a:r>
          </a:p>
          <a:p>
            <a:pPr marL="457200" indent="-457200"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processing (Vector embedding)</a:t>
            </a:r>
          </a:p>
          <a:p>
            <a:pPr marL="457200" indent="-457200"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(include deep neural network)</a:t>
            </a:r>
          </a:p>
        </p:txBody>
      </p:sp>
    </p:spTree>
    <p:extLst>
      <p:ext uri="{BB962C8B-B14F-4D97-AF65-F5344CB8AC3E}">
        <p14:creationId xmlns:p14="http://schemas.microsoft.com/office/powerpoint/2010/main" val="912845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5CFDD-1A8E-B327-F6E5-A3E972CE8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65E87-742A-35AC-9CA8-5DA0550E1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44" y="319293"/>
            <a:ext cx="10168128" cy="1179576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Design – Knowledge Domain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5BD666-D110-8103-8895-75867437F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226" y="1498869"/>
            <a:ext cx="10168128" cy="4430876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and Close domain.</a:t>
            </a:r>
          </a:p>
          <a:p>
            <a:pPr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Domain: general knowledge covering from recent news topic, human knowledge. (Still hard to build and being producing high FP)</a:t>
            </a:r>
          </a:p>
          <a:p>
            <a:pPr marL="0" indent="0"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Domain: Domain specific knowledge covering special area (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i.g.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DeepProbe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ads recommendation, AliMe and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SuperAgent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customer service domain)</a:t>
            </a:r>
          </a:p>
        </p:txBody>
      </p:sp>
    </p:spTree>
    <p:extLst>
      <p:ext uri="{BB962C8B-B14F-4D97-AF65-F5344CB8AC3E}">
        <p14:creationId xmlns:p14="http://schemas.microsoft.com/office/powerpoint/2010/main" val="100967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EE453-778E-8138-C99E-BE9983862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ECAA4-F1BE-AA35-4131-186BDE898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44" y="319293"/>
            <a:ext cx="10168128" cy="1179576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Design – Response Generation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364E08-5CBB-9D3F-6B82-EB7793411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226" y="1498869"/>
            <a:ext cx="10168128" cy="4430876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and Generative</a:t>
            </a:r>
          </a:p>
          <a:p>
            <a:pPr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Retrieval: selecting best output from shortlisted candidates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Generative: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exible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 generation based on input sequence and trained classifier</a:t>
            </a:r>
          </a:p>
          <a:p>
            <a:pPr marL="0" indent="0"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Seq2Seq is famous model for both retrieval and generative methods</a:t>
            </a:r>
          </a:p>
        </p:txBody>
      </p:sp>
    </p:spTree>
    <p:extLst>
      <p:ext uri="{BB962C8B-B14F-4D97-AF65-F5344CB8AC3E}">
        <p14:creationId xmlns:p14="http://schemas.microsoft.com/office/powerpoint/2010/main" val="304146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F6BD2-6B42-3752-7F29-32E819FBF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C101B-4DEE-E73F-0806-D40713B62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44" y="319293"/>
            <a:ext cx="10168128" cy="1179576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Design – Text Processing &amp; Machine Learning Model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B2339C-ADE0-CA4E-FDBD-6D19F44D1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126" y="1668795"/>
            <a:ext cx="10168128" cy="4844781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Embedding or Vector Representation of word</a:t>
            </a:r>
          </a:p>
          <a:p>
            <a:pPr marL="0" indent="0"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representations are feasible to be used in statistical ML model.</a:t>
            </a:r>
          </a:p>
          <a:p>
            <a:pPr marL="0" indent="0"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Model: Count-method, Predictive-method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LSTM/GRU: analyzing sequential data (input text sequence) and generate representation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LSTM-Seq2Seq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759800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6DC26-E66B-2A4E-3006-B9C0E0A78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51CD2D-D63D-1EF3-B0D1-E1182144A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334672" cy="7062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</a:t>
            </a:r>
            <a:r>
              <a:rPr lang="ko-KR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ko-K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paper was published in 2018 and differs somewhat from modern chatbot systems based on LLM models. Please investigate and explain these differences.</a:t>
            </a: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as the chatbot implemented in Laboratory 9 demonstrates, recent chatbots have shifted toward being based on LLMs.</a:t>
            </a:r>
            <a:r>
              <a:rPr lang="ko-KR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 believe the general approach to handling domain-specific knowledge—specially the “open” and “close” operations-– is quite similar.</a:t>
            </a: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Processing is handled similarly using Transformer-based embeddings and positional embeddings, while Response Generation is processed by combining the retrieved knowledge with the user’s response.</a:t>
            </a: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methods that utilize external data—outside of the LLM itself—primarily employ approaches such as vector embeddings based on cosine similarity or the use of Knowledge Graphs; additionally, methods involving the real-time retrieval of information through the use of LLM tools, such as MCP, are also being utilized.</a:t>
            </a:r>
          </a:p>
        </p:txBody>
      </p:sp>
    </p:spTree>
    <p:extLst>
      <p:ext uri="{BB962C8B-B14F-4D97-AF65-F5344CB8AC3E}">
        <p14:creationId xmlns:p14="http://schemas.microsoft.com/office/powerpoint/2010/main" val="1033399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1136</TotalTime>
  <Words>372</Words>
  <Application>Microsoft Macintosh PowerPoint</Application>
  <PresentationFormat>Widescreen</PresentationFormat>
  <Paragraphs>43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Times New Roman</vt:lpstr>
      <vt:lpstr>Office Theme</vt:lpstr>
      <vt:lpstr>Modern Chatbot Systems: A Technical Review</vt:lpstr>
      <vt:lpstr>Introduction</vt:lpstr>
      <vt:lpstr>Architectural Design – Knowledge Domain</vt:lpstr>
      <vt:lpstr>Architectural Design – Response Generation</vt:lpstr>
      <vt:lpstr>Architectural Design – Text Processing &amp; Machine Learning Model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E3676</dc:creator>
  <cp:lastModifiedBy>E3676</cp:lastModifiedBy>
  <cp:revision>40</cp:revision>
  <dcterms:created xsi:type="dcterms:W3CDTF">2026-01-15T21:13:50Z</dcterms:created>
  <dcterms:modified xsi:type="dcterms:W3CDTF">2026-03-20T21:09:59Z</dcterms:modified>
</cp:coreProperties>
</file>