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10"/>
  </p:notesMasterIdLst>
  <p:sldIdLst>
    <p:sldId id="256" r:id="rId2"/>
    <p:sldId id="264" r:id="rId3"/>
    <p:sldId id="268" r:id="rId4"/>
    <p:sldId id="265" r:id="rId5"/>
    <p:sldId id="269" r:id="rId6"/>
    <p:sldId id="270" r:id="rId7"/>
    <p:sldId id="271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96"/>
    <p:restoredTop sz="94536"/>
  </p:normalViewPr>
  <p:slideViewPr>
    <p:cSldViewPr snapToGrid="0">
      <p:cViewPr varScale="1">
        <p:scale>
          <a:sx n="66" d="100"/>
          <a:sy n="66" d="100"/>
        </p:scale>
        <p:origin x="216" y="2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9086-7082-AA46-9988-42215D21A4B7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BE4AC-5BFD-CD49-A33F-856D3B15A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BE4AC-5BFD-CD49-A33F-856D3B15AB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7740-53AE-999F-F087-01BBD6FC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1FD06-2C85-9BA8-A246-168258A9E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54390-64AB-E999-0080-CE6D04D5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A513-015C-7615-9F51-0D937593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5EDB-6907-4099-9B28-AAF1061A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6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29E9-D75F-3103-F66A-9A15DE77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E4F5-F66D-8845-4FD2-CFE15F87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6C42-4E2F-3995-6891-82FA6B0F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9815-9298-DE85-E1F3-01A2717A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2E26-5F64-D0EC-DE24-90AD75B7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E30D-605E-9214-D178-6C3CB8D4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910E-4CE5-0FC1-F778-1F683F55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29711-B1BE-9836-3020-1A3A4F50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4A8D-CE4E-772F-B618-4390648B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2F58-706C-950E-1FBA-66829EC3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583E-F174-5DB0-7B6F-25DB275A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0D45-CD3D-3BBB-7FD2-528C2FFD6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511D-FB92-E1A6-1E8B-70CD584F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401D7-AAE4-4405-8FFE-2506B97A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94708-2AA9-C924-DBA9-141931A6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6BF4-F60D-2D92-F7FA-5E23BD58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6CC9-CFA1-4FAC-8369-966027D6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79BD6-E835-43BC-E9E3-6E2A8F20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BDBA-AA2D-24CC-F32E-18F15E22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858E4-6329-934C-18EC-27054BE6A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2A370-0DF6-039A-1E16-1F86B4210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A003-E8C9-B423-1458-63B8285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70835-A06E-6D36-DC57-3B24AC7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22D92-2310-E922-839D-23FB1ACE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9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FA88-7BC4-EBAA-50B3-9A4943CF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02B77-CB11-FA16-29BD-13144215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2E246-FEA9-D1F4-EBCB-0D2F9D49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32579-7BB9-B6C0-820D-BE358A58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4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778CF-9939-519F-4118-E372C81F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28893-F1F5-B741-1316-B2B4DEB9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3C4A4-D1D8-7786-1BF7-1A0479AA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0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ABF9-06D2-55BA-21BE-ACA06419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2970-687D-C1E1-BB1E-B6D84B231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2C19-6CE4-4855-7F02-642CF561A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83F97-6F6E-1FB4-541E-D61B1FEC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A99D6-274B-D6D4-D23D-9B35A1A1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1ADE2-F1A2-C4F3-C875-627759A2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FC01-70A5-D138-556B-CA939DED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AF073-DBF6-8F9C-5E23-4CA07E6D6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F495B-916D-8B17-972E-B722E2376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A4CAB-F190-CFEF-E873-2D5A9B8E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0ED8C-E966-E3B9-2382-BB3128D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5CD15-5CC3-6746-CE63-465720F8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9153-FF0F-05FC-9E49-472E5396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28D08-AB36-2473-3CD9-6CF222772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C1D8-F5D0-4FDB-42B4-81D86690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42517-C6F1-1ED9-5EC6-078D07EE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B2E6-9102-C6EA-5508-7DB678C8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0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211AB-9717-3A26-5ABA-D2A602FF0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B604-0A0B-3BD4-1E62-9C053A17C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3DB4-5088-7468-3B05-B793BFB3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E0C7-68F4-2D05-6CB0-9E5FBEA4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5230-7243-E83E-8D51-DF1CFF75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4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A7A92-7DEF-6894-BE7B-D4968CB7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A311-FF23-6073-8F3C-AFF8DE5F7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DE31-CEC7-F53D-0CFE-D8408245D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2CDB-38B7-3DBA-E218-641B6E63A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833C-DDD8-3886-2686-0B9842215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6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607CB-DF48-786D-0E8A-808D223F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6" r="32159" b="690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6447B-0BAC-33A7-A4CC-76785FFC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 Parameter Learning Explained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0DF2F-C20B-4C20-7031-99284D69E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Jeong Hoon Choi</a:t>
            </a:r>
          </a:p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USCID: 5023184813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9F336A-D1F7-3086-AF5C-373BD260AF40}"/>
              </a:ext>
            </a:extLst>
          </p:cNvPr>
          <p:cNvSpPr txBox="1">
            <a:spLocks/>
          </p:cNvSpPr>
          <p:nvPr/>
        </p:nvSpPr>
        <p:spPr>
          <a:xfrm>
            <a:off x="8577143" y="6083300"/>
            <a:ext cx="3614857" cy="77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DSCI-560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Professional Practicum</a:t>
            </a:r>
          </a:p>
        </p:txBody>
      </p:sp>
    </p:spTree>
    <p:extLst>
      <p:ext uri="{BB962C8B-B14F-4D97-AF65-F5344CB8AC3E}">
        <p14:creationId xmlns:p14="http://schemas.microsoft.com/office/powerpoint/2010/main" val="378320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EFFD0-5544-1387-C559-6E19C74B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CE18A-E055-90C5-6085-A63399BC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44" y="319293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Bag-of-Word Model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13DF7-06C7-8D54-9ECF-A0595641C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213" y="1691444"/>
            <a:ext cx="5347774" cy="565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-&gt; Output Weights update</a:t>
            </a:r>
          </a:p>
        </p:txBody>
      </p:sp>
      <p:pic>
        <p:nvPicPr>
          <p:cNvPr id="4" name="Picture 3" descr="A white board with blue writing&#10;&#10;AI-generated content may be incorrect.">
            <a:extLst>
              <a:ext uri="{FF2B5EF4-FFF2-40B4-BE49-F238E27FC236}">
                <a16:creationId xmlns:a16="http://schemas.microsoft.com/office/drawing/2014/main" id="{5681A19A-D76C-B3BE-2961-D51E0F7F5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43" y="1042416"/>
            <a:ext cx="4619423" cy="3830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297D66-DD31-C938-2EDA-0E7CF01C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623" y="2449393"/>
            <a:ext cx="5033104" cy="383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4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061C6-500C-B63D-8D06-CAD9031CD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7C95-33B5-9DF1-088D-49CFDA0B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44" y="319293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Bag-of-Word Model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65A06-969E-CA52-E7F2-C3DAA6ADF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226" y="1498869"/>
            <a:ext cx="5347774" cy="565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-&gt; Hidden Weights update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E755FF-7026-8403-314E-D1D35AFE1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776" y="1959784"/>
            <a:ext cx="6490931" cy="3294888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C12FBE1D-A0EE-9ECD-3E85-D69BFB4454B7}"/>
              </a:ext>
            </a:extLst>
          </p:cNvPr>
          <p:cNvSpPr txBox="1">
            <a:spLocks/>
          </p:cNvSpPr>
          <p:nvPr/>
        </p:nvSpPr>
        <p:spPr>
          <a:xfrm>
            <a:off x="5269527" y="3429000"/>
            <a:ext cx="6610069" cy="3144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Single-word Context to Multi-word Context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with Single Word Context, for C Word Contexts, the input vector (One-Hot Encoding) can be thought of as C independent W_(V x N) weights and one W’_(N x V). Average vector as the output (hidden)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CBOW predicts the middle word for surrounding words (CONTEXT). In one-word and multi-word contexts, these correspond to the input. A model is created that predicts the middle word for the CONTEXT (one-hot encoding) and predicts the label.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DD27BE-1BA1-6283-180F-E91DE05B8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561" y="227680"/>
            <a:ext cx="2930052" cy="293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4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339B-2C19-B1F3-8021-CE0CA3458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0C02-EF08-A2BB-CC63-A1D32387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55" y="626394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Skip-Gram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BCF281-073A-2AD8-85D2-6746BA781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64" y="1805970"/>
            <a:ext cx="7772400" cy="4067190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22BB148-63EE-F59E-A372-A165D5BFF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8093" y="1168862"/>
            <a:ext cx="5347774" cy="565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-&gt; Output Weights update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A005C3A-261C-783B-6248-22CEA2AC387D}"/>
              </a:ext>
            </a:extLst>
          </p:cNvPr>
          <p:cNvSpPr txBox="1">
            <a:spLocks/>
          </p:cNvSpPr>
          <p:nvPr/>
        </p:nvSpPr>
        <p:spPr>
          <a:xfrm>
            <a:off x="6728093" y="3531396"/>
            <a:ext cx="5347774" cy="1179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-&gt; Hidden Weights update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with CBOW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F38ECC-0CC3-1863-D804-DA132FD25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093" y="1633198"/>
            <a:ext cx="3631679" cy="14762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224AB4-BE30-AEF4-9F95-D460B53C2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093" y="4596337"/>
            <a:ext cx="4132634" cy="139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1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C907-5DD8-E9C3-2ACA-8D3648F6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E9344FE-77B4-8DDD-0FF0-FC567FABF720}"/>
              </a:ext>
            </a:extLst>
          </p:cNvPr>
          <p:cNvSpPr txBox="1">
            <a:spLocks/>
          </p:cNvSpPr>
          <p:nvPr/>
        </p:nvSpPr>
        <p:spPr>
          <a:xfrm>
            <a:off x="892080" y="1695308"/>
            <a:ext cx="6870592" cy="346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Conversely, the Skip-Gram model predicts the surrounding word CONTEXT for a given target word.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is the middle word (one-hot encoding), and the output is a one-hot encoding of the words corresponding to the CONTEXT.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B25F01-5BAB-1543-70CA-7A504DB3C950}"/>
              </a:ext>
            </a:extLst>
          </p:cNvPr>
          <p:cNvSpPr txBox="1">
            <a:spLocks/>
          </p:cNvSpPr>
          <p:nvPr/>
        </p:nvSpPr>
        <p:spPr>
          <a:xfrm>
            <a:off x="379844" y="319293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Skip-Gram Model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E853A9-1BC4-BAB6-1E3F-5EA8EFD31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742" y="352891"/>
            <a:ext cx="3166178" cy="31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0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CA46-0E89-EA42-D388-9E58E030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09DB764-9D50-3C47-0B5F-EF24166A7679}"/>
              </a:ext>
            </a:extLst>
          </p:cNvPr>
          <p:cNvSpPr txBox="1">
            <a:spLocks/>
          </p:cNvSpPr>
          <p:nvPr/>
        </p:nvSpPr>
        <p:spPr>
          <a:xfrm>
            <a:off x="379843" y="1698824"/>
            <a:ext cx="11371169" cy="4157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tree: all words in the leaf (in complete binary tree if leaf has V nodes total nodes are (2 V - 1)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words has unique path from the root to the unit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output vector representation for words inner units has an output vector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word is conditional probability of each node on the path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O(V) -&gt; O(log V): height of binary tree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72DA89-F7FB-DBA0-9DA7-A24BCC641399}"/>
              </a:ext>
            </a:extLst>
          </p:cNvPr>
          <p:cNvSpPr txBox="1">
            <a:spLocks/>
          </p:cNvSpPr>
          <p:nvPr/>
        </p:nvSpPr>
        <p:spPr>
          <a:xfrm>
            <a:off x="379844" y="319293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Computational Efficiency</a:t>
            </a:r>
          </a:p>
        </p:txBody>
      </p:sp>
    </p:spTree>
    <p:extLst>
      <p:ext uri="{BB962C8B-B14F-4D97-AF65-F5344CB8AC3E}">
        <p14:creationId xmlns:p14="http://schemas.microsoft.com/office/powerpoint/2010/main" val="3036224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CBD18-BC1F-FB54-C769-510C761F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D5C81C-0742-810B-0625-C416B8569799}"/>
              </a:ext>
            </a:extLst>
          </p:cNvPr>
          <p:cNvSpPr txBox="1">
            <a:spLocks/>
          </p:cNvSpPr>
          <p:nvPr/>
        </p:nvSpPr>
        <p:spPr>
          <a:xfrm>
            <a:off x="379844" y="319293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Computational Efficiency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C8A5A25-3132-D941-E596-673947184284}"/>
              </a:ext>
            </a:extLst>
          </p:cNvPr>
          <p:cNvSpPr txBox="1">
            <a:spLocks/>
          </p:cNvSpPr>
          <p:nvPr/>
        </p:nvSpPr>
        <p:spPr>
          <a:xfrm>
            <a:off x="383292" y="1698823"/>
            <a:ext cx="11270444" cy="4273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Sampling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updating the weights for all words, we only perform weight updates for their samples.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for the correct label (TARGET for CBOW, CONTEXT for Skip-Gram) must be included, but for other labels (Negative), random samples are sampled and training is performed.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O(V) -&gt; O(K): K is negative sampling size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13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DC26-E66B-2A4E-3006-B9C0E0A7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1CD2D-D63D-1EF3-B0D1-E1182144A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4010"/>
            <a:ext cx="12334672" cy="7062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Numerically represent and explain the degree of performance improvement of the Word2Vec optimization methods described in the paper.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CBOW or Skip-Gram Word2Vec: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biggest computational bottleneck occurs when calculating the MLE term. For example, when calculating the term we need to calculate whole word probability given CONTEXT.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 of a word is represented in binary tree format, and only the vectors of the nodes on the path are updated.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operator of O(V) can be reduced to O(log V) because it is calculated only with the node vectors on the path.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Sampling Optimization: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calculating the loss, instead of calculating it for every word, we sample K negative terms that include the target and calculate it. This reduces the computational complexity from the existing O(V) to O(K), where V &gt;&gt; K.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39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</TotalTime>
  <Words>510</Words>
  <Application>Microsoft Macintosh PowerPoint</Application>
  <PresentationFormat>Widescreen</PresentationFormat>
  <Paragraphs>50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Word2vec Parameter Learning Explained</vt:lpstr>
      <vt:lpstr>Continuous Bag-of-Word Model</vt:lpstr>
      <vt:lpstr>Continuous Bag-of-Word Model</vt:lpstr>
      <vt:lpstr>Skip-Gram Model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E3676</dc:creator>
  <cp:lastModifiedBy>E3676</cp:lastModifiedBy>
  <cp:revision>39</cp:revision>
  <dcterms:created xsi:type="dcterms:W3CDTF">2026-01-15T21:13:50Z</dcterms:created>
  <dcterms:modified xsi:type="dcterms:W3CDTF">2026-03-10T05:58:52Z</dcterms:modified>
</cp:coreProperties>
</file>