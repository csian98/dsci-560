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</p:sldMasterIdLst>
  <p:notesMasterIdLst>
    <p:notesMasterId r:id="rId6"/>
  </p:notes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70"/>
    <p:restoredTop sz="94558"/>
  </p:normalViewPr>
  <p:slideViewPr>
    <p:cSldViewPr snapToGrid="0">
      <p:cViewPr varScale="1">
        <p:scale>
          <a:sx n="99" d="100"/>
          <a:sy n="99" d="100"/>
        </p:scale>
        <p:origin x="208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F9086-7082-AA46-9988-42215D21A4B7}" type="datetimeFigureOut">
              <a:rPr lang="en-US" smtClean="0"/>
              <a:t>2/8/26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BE4AC-5BFD-CD49-A33F-856D3B15A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411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BE4AC-5BFD-CD49-A33F-856D3B15AB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69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47740-53AE-999F-F087-01BBD6FC2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1FD06-2C85-9BA8-A246-168258A9E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54390-64AB-E999-0080-CE6D04D5D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7A513-015C-7615-9F51-0D9375939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45EDB-6907-4099-9B28-AAF1061A1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165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729E9-D75F-3103-F66A-9A15DE77F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5E4F5-F66D-8845-4FD2-CFE15F876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56C42-4E2F-3995-6891-82FA6B0F0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F9815-9298-DE85-E1F3-01A2717A6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E2E26-5F64-D0EC-DE24-90AD75B7D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8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5E30D-605E-9214-D178-6C3CB8D4B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4910E-4CE5-0FC1-F778-1F683F555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29711-B1BE-9836-3020-1A3A4F501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34A8D-CE4E-772F-B618-4390648B1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42F58-706C-950E-1FBA-66829EC33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530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583E-F174-5DB0-7B6F-25DB275A9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B0D45-CD3D-3BBB-7FD2-528C2FFD69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A511D-FB92-E1A6-1E8B-70CD584F9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401D7-AAE4-4405-8FFE-2506B97A6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94708-2AA9-C924-DBA9-141931A61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C6BF4-F60D-2D92-F7FA-5E23BD58D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28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96CC9-CFA1-4FAC-8369-966027D64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79BD6-E835-43BC-E9E3-6E2A8F205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CBDBA-AA2D-24CC-F32E-18F15E22D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8858E4-6329-934C-18EC-27054BE6A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32A370-0DF6-039A-1E16-1F86B4210D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FCA003-E8C9-B423-1458-63B828502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2/8/26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C70835-A06E-6D36-DC57-3B24AC7ED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422D92-2310-E922-839D-23FB1ACEB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293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EFA88-7BC4-EBAA-50B3-9A4943CFA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A02B77-CB11-FA16-29BD-131442154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2E246-FEA9-D1F4-EBCB-0D2F9D495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D32579-7BB9-B6C0-820D-BE358A586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347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D778CF-9939-519F-4118-E372C81FB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E28893-F1F5-B741-1316-B2B4DEB9C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3C4A4-D1D8-7786-1BF7-1A0479AAE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05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ABF9-06D2-55BA-21BE-ACA064195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32970-687D-C1E1-BB1E-B6D84B231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92C19-6CE4-4855-7F02-642CF561A1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83F97-6F6E-1FB4-541E-D61B1FEC9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A99D6-274B-D6D4-D23D-9B35A1A1B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B1ADE2-F1A2-C4F3-C875-627759A2D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9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9FC01-70A5-D138-556B-CA939DEDA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EAF073-DBF6-8F9C-5E23-4CA07E6D6F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F495B-916D-8B17-972E-B722E2376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2A4CAB-F190-CFEF-E873-2D5A9B8EB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70ED8C-E966-E3B9-2382-BB3128D4C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55CD15-5CC3-6746-CE63-465720F86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128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79153-FF0F-05FC-9E49-472E53963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428D08-AB36-2473-3CD9-6CF222772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CC1D8-F5D0-4FDB-42B4-81D866908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42517-C6F1-1ED9-5EC6-078D07EE1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2B2E6-9102-C6EA-5508-7DB678C8D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08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6211AB-9717-3A26-5ABA-D2A602FF0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4B604-0A0B-3BD4-1E62-9C053A17C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53DB4-5088-7468-3B05-B793BFB38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0E0C7-68F4-2D05-6CB0-9E5FBEA4E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15230-7243-E83E-8D51-DF1CFF754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46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2A7A92-7DEF-6894-BE7B-D4968CB7D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0A311-FF23-6073-8F3C-AFF8DE5F7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ADE31-CEC7-F53D-0CFE-D8408245DE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2CDB-38B7-3DBA-E218-641B6E63A8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F833C-DDD8-3886-2686-0B98422157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6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E607CB-DF48-786D-0E8A-808D223F47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06" r="32159" b="6907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6447B-0BAC-33A7-A4CC-76785FFC9B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Price Forecasting Using Data From Yahoo Finance and Analyzing Seasonal and Nonseasonal Trend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0DF2F-C20B-4C20-7031-99284D69E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>
              <a:spcBef>
                <a:spcPts val="600"/>
              </a:spcBef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Jeong Hoon Choi</a:t>
            </a:r>
          </a:p>
          <a:p>
            <a:pPr algn="l">
              <a:spcBef>
                <a:spcPts val="600"/>
              </a:spcBef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USCID: 5023184813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49F336A-D1F7-3086-AF5C-373BD260AF40}"/>
              </a:ext>
            </a:extLst>
          </p:cNvPr>
          <p:cNvSpPr txBox="1">
            <a:spLocks/>
          </p:cNvSpPr>
          <p:nvPr/>
        </p:nvSpPr>
        <p:spPr>
          <a:xfrm>
            <a:off x="8577143" y="6083300"/>
            <a:ext cx="3614857" cy="77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DSCI-560</a:t>
            </a:r>
          </a:p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Professional Practicum</a:t>
            </a:r>
          </a:p>
        </p:txBody>
      </p:sp>
    </p:spTree>
    <p:extLst>
      <p:ext uri="{BB962C8B-B14F-4D97-AF65-F5344CB8AC3E}">
        <p14:creationId xmlns:p14="http://schemas.microsoft.com/office/powerpoint/2010/main" val="3783206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E19597-ABC8-97F3-5AF6-2821F17A9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/>
              <a:t>Time Series Analysis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0EA1666-7C22-299F-42D5-3045EC923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850" y="2018806"/>
            <a:ext cx="10656846" cy="4392504"/>
          </a:xfrm>
        </p:spPr>
        <p:txBody>
          <a:bodyPr>
            <a:normAutofit/>
          </a:bodyPr>
          <a:lstStyle/>
          <a:p>
            <a:r>
              <a:rPr lang="en-US" sz="2200" dirty="0"/>
              <a:t>Variation in Trends (seasonal graph movement)</a:t>
            </a:r>
          </a:p>
          <a:p>
            <a:endParaRPr lang="en-US" sz="2200" dirty="0"/>
          </a:p>
          <a:p>
            <a:r>
              <a:rPr lang="en-US" sz="2200" dirty="0"/>
              <a:t>Holt-Winters method(forecasting): three exponential smoothening to capture patterns</a:t>
            </a:r>
          </a:p>
          <a:p>
            <a:pPr marL="0" indent="0">
              <a:buNone/>
            </a:pPr>
            <a:r>
              <a:rPr lang="en-US" sz="2200" dirty="0"/>
              <a:t>l: level, b: trend, 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Nonseasonal ARIMA: Auto Regression + Moving Average</a:t>
            </a:r>
          </a:p>
          <a:p>
            <a:pPr marL="0" indent="0">
              <a:buNone/>
            </a:pPr>
            <a:r>
              <a:rPr lang="en-US" sz="2200" dirty="0"/>
              <a:t>ACF, PACF to decide parameters (p, d, q)</a:t>
            </a:r>
          </a:p>
          <a:p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DC9EBB-1E07-23B7-90AD-A375A0D85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196" y="3354946"/>
            <a:ext cx="4000500" cy="1054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B96FC4-8F61-F281-E469-F3D7AB757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496" y="4787967"/>
            <a:ext cx="4140200" cy="419100"/>
          </a:xfrm>
          <a:prstGeom prst="rect">
            <a:avLst/>
          </a:prstGeom>
        </p:spPr>
      </p:pic>
      <p:pic>
        <p:nvPicPr>
          <p:cNvPr id="6" name="Content Placeholder 5" descr="A close-up of a whiteboard&#10;&#10;AI-generated content may be incorrect.">
            <a:extLst>
              <a:ext uri="{FF2B5EF4-FFF2-40B4-BE49-F238E27FC236}">
                <a16:creationId xmlns:a16="http://schemas.microsoft.com/office/drawing/2014/main" id="{F9C49B9D-019C-6983-2183-2A43B88A3D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34" y="5485689"/>
            <a:ext cx="7418621" cy="175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064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9B3ABF-E397-C87E-3197-FF87D0F9D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09FC9B-0987-000B-C719-6F3409375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/>
              <a:t>Result &amp; Observations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621965-3735-4935-9937-D4CF11EEB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850" y="2221992"/>
            <a:ext cx="10610088" cy="43167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close prices of Apple stock provided by Yahoo Finance from 2000 to 2018 were used for the analysis.</a:t>
            </a:r>
            <a:r>
              <a:rPr lang="ko-KR" altLang="en-US" dirty="0"/>
              <a:t> </a:t>
            </a:r>
            <a:r>
              <a:rPr lang="en-US" altLang="ko-KR" dirty="0"/>
              <a:t>(data from the first day of each month)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Jan, 2000 – Jan, 2016 is used as training data, and the data thereafter is used as test data.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Using two simpler models performs better than using a single model.</a:t>
            </a:r>
          </a:p>
        </p:txBody>
      </p:sp>
    </p:spTree>
    <p:extLst>
      <p:ext uri="{BB962C8B-B14F-4D97-AF65-F5344CB8AC3E}">
        <p14:creationId xmlns:p14="http://schemas.microsoft.com/office/powerpoint/2010/main" val="512522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1454D-4F36-8A93-445E-04AA99C1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D72AE-5B66-1316-F628-3E2FFCB4C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84" y="548640"/>
            <a:ext cx="10168128" cy="1572768"/>
          </a:xfrm>
        </p:spPr>
        <p:txBody>
          <a:bodyPr>
            <a:normAutofit/>
          </a:bodyPr>
          <a:lstStyle/>
          <a:p>
            <a:r>
              <a:rPr lang="en-US" sz="4000" dirty="0"/>
              <a:t>Question:</a:t>
            </a:r>
            <a:r>
              <a:rPr lang="ko-KR" altLang="en-US" sz="4000" dirty="0"/>
              <a:t> </a:t>
            </a:r>
            <a:r>
              <a:rPr lang="en-US" altLang="ko-KR" sz="4000" dirty="0"/>
              <a:t>Explain the ARIMA model.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57E06-85B9-D27B-6A15-8AE78FE8D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487168"/>
            <a:ext cx="10168128" cy="40102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Answer:</a:t>
            </a:r>
          </a:p>
          <a:p>
            <a:pPr marL="0" indent="0">
              <a:buNone/>
            </a:pPr>
            <a:r>
              <a:rPr lang="en-US" sz="2600" dirty="0"/>
              <a:t>ARIMA (</a:t>
            </a:r>
            <a:r>
              <a:rPr lang="en-US" sz="2600" dirty="0" err="1"/>
              <a:t>AutoRegressive</a:t>
            </a:r>
            <a:r>
              <a:rPr lang="en-US" sz="2600" dirty="0"/>
              <a:t> Integrated Moving Average)</a:t>
            </a:r>
          </a:p>
          <a:p>
            <a:pPr marL="0" indent="0">
              <a:buNone/>
            </a:pPr>
            <a:r>
              <a:rPr lang="en-US" sz="2600" dirty="0"/>
              <a:t>In ARIMA, p represents the number of past data points that influence the current time in the Auto Regression component. D represents the number of differencing steps required for stationarity. Q represents the number of past errors referenced in the Moving Average component.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/>
              <a:t>(q </a:t>
            </a:r>
            <a:r>
              <a:rPr lang="en-US" sz="2600" dirty="0"/>
              <a:t>is typically determined using the ACF and p is </a:t>
            </a:r>
            <a:r>
              <a:rPr lang="en-US" sz="2600"/>
              <a:t>determined using the PACF.)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957305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616</TotalTime>
  <Words>224</Words>
  <Application>Microsoft Macintosh PowerPoint</Application>
  <PresentationFormat>Widescreen</PresentationFormat>
  <Paragraphs>26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Times New Roman</vt:lpstr>
      <vt:lpstr>Office Theme</vt:lpstr>
      <vt:lpstr>Stock Price Forecasting Using Data From Yahoo Finance and Analyzing Seasonal and Nonseasonal Trend</vt:lpstr>
      <vt:lpstr>Time Series Analysis</vt:lpstr>
      <vt:lpstr>Result &amp; Observations</vt:lpstr>
      <vt:lpstr>Question: Explain the ARIMA model.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E3676</dc:creator>
  <cp:lastModifiedBy>E3676</cp:lastModifiedBy>
  <cp:revision>22</cp:revision>
  <dcterms:created xsi:type="dcterms:W3CDTF">2026-01-15T21:13:50Z</dcterms:created>
  <dcterms:modified xsi:type="dcterms:W3CDTF">2026-02-09T01:41:27Z</dcterms:modified>
</cp:coreProperties>
</file>