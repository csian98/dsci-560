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Lst>
  <p:notesMasterIdLst>
    <p:notesMasterId r:id="rId7"/>
  </p:notesMasterIdLst>
  <p:sldIdLst>
    <p:sldId id="256" r:id="rId2"/>
    <p:sldId id="264" r:id="rId3"/>
    <p:sldId id="265" r:id="rId4"/>
    <p:sldId id="266" r:id="rId5"/>
    <p:sldId id="26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185"/>
    <p:restoredTop sz="94586"/>
  </p:normalViewPr>
  <p:slideViewPr>
    <p:cSldViewPr snapToGrid="0">
      <p:cViewPr varScale="1">
        <p:scale>
          <a:sx n="74" d="100"/>
          <a:sy n="74" d="100"/>
        </p:scale>
        <p:origin x="176" y="13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9F9086-7082-AA46-9988-42215D21A4B7}" type="datetimeFigureOut">
              <a:rPr lang="en-US" smtClean="0"/>
              <a:t>2/24/26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BE4AC-5BFD-CD49-A33F-856D3B15ABBC}" type="slidenum">
              <a:rPr lang="en-US" smtClean="0"/>
              <a:t>‹#›</a:t>
            </a:fld>
            <a:endParaRPr lang="en-US"/>
          </a:p>
        </p:txBody>
      </p:sp>
    </p:spTree>
    <p:extLst>
      <p:ext uri="{BB962C8B-B14F-4D97-AF65-F5344CB8AC3E}">
        <p14:creationId xmlns:p14="http://schemas.microsoft.com/office/powerpoint/2010/main" val="2426411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0BE4AC-5BFD-CD49-A33F-856D3B15ABBC}" type="slidenum">
              <a:rPr lang="en-US" smtClean="0"/>
              <a:t>1</a:t>
            </a:fld>
            <a:endParaRPr lang="en-US"/>
          </a:p>
        </p:txBody>
      </p:sp>
    </p:spTree>
    <p:extLst>
      <p:ext uri="{BB962C8B-B14F-4D97-AF65-F5344CB8AC3E}">
        <p14:creationId xmlns:p14="http://schemas.microsoft.com/office/powerpoint/2010/main" val="164869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7740-53AE-999F-F087-01BBD6FC28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E1FD06-2C85-9BA8-A246-168258A9E1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054390-64AB-E999-0080-CE6D04D5D16E}"/>
              </a:ext>
            </a:extLst>
          </p:cNvPr>
          <p:cNvSpPr>
            <a:spLocks noGrp="1"/>
          </p:cNvSpPr>
          <p:nvPr>
            <p:ph type="dt" sz="half" idx="10"/>
          </p:nvPr>
        </p:nvSpPr>
        <p:spPr/>
        <p:txBody>
          <a:bodyPr/>
          <a:lstStyle/>
          <a:p>
            <a:fld id="{C128FA71-3A18-48C0-980F-4B68F7F63042}" type="datetime1">
              <a:rPr lang="en-US" smtClean="0"/>
              <a:t>2/24/26</a:t>
            </a:fld>
            <a:endParaRPr lang="en-US"/>
          </a:p>
        </p:txBody>
      </p:sp>
      <p:sp>
        <p:nvSpPr>
          <p:cNvPr id="5" name="Footer Placeholder 4">
            <a:extLst>
              <a:ext uri="{FF2B5EF4-FFF2-40B4-BE49-F238E27FC236}">
                <a16:creationId xmlns:a16="http://schemas.microsoft.com/office/drawing/2014/main" id="{E517A513-015C-7615-9F51-0D9375939C0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BC45EDB-6907-4099-9B28-AAF1061A1AA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36165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29E9-D75F-3103-F66A-9A15DE77F3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25E4F5-F66D-8845-4FD2-CFE15F8764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156C42-4E2F-3995-6891-82FA6B0F01A7}"/>
              </a:ext>
            </a:extLst>
          </p:cNvPr>
          <p:cNvSpPr>
            <a:spLocks noGrp="1"/>
          </p:cNvSpPr>
          <p:nvPr>
            <p:ph type="dt" sz="half" idx="10"/>
          </p:nvPr>
        </p:nvSpPr>
        <p:spPr/>
        <p:txBody>
          <a:bodyPr/>
          <a:lstStyle/>
          <a:p>
            <a:fld id="{51C1210E-201E-4473-82AC-2466F5386C38}" type="datetime1">
              <a:rPr lang="en-US" smtClean="0"/>
              <a:t>2/24/26</a:t>
            </a:fld>
            <a:endParaRPr lang="en-US"/>
          </a:p>
        </p:txBody>
      </p:sp>
      <p:sp>
        <p:nvSpPr>
          <p:cNvPr id="5" name="Footer Placeholder 4">
            <a:extLst>
              <a:ext uri="{FF2B5EF4-FFF2-40B4-BE49-F238E27FC236}">
                <a16:creationId xmlns:a16="http://schemas.microsoft.com/office/drawing/2014/main" id="{E3DF9815-9298-DE85-E1F3-01A2717A6C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AAE2E26-5F64-D0EC-DE24-90AD75B7D19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38128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E30D-605E-9214-D178-6C3CB8D4B8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F4910E-4CE5-0FC1-F778-1F683F5553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E29711-B1BE-9836-3020-1A3A4F5019F5}"/>
              </a:ext>
            </a:extLst>
          </p:cNvPr>
          <p:cNvSpPr>
            <a:spLocks noGrp="1"/>
          </p:cNvSpPr>
          <p:nvPr>
            <p:ph type="dt" sz="half" idx="10"/>
          </p:nvPr>
        </p:nvSpPr>
        <p:spPr/>
        <p:txBody>
          <a:bodyPr/>
          <a:lstStyle/>
          <a:p>
            <a:fld id="{B01EA198-6CAB-4B8F-B93F-1F9C8C4B6CE7}" type="datetime1">
              <a:rPr lang="en-US" smtClean="0"/>
              <a:t>2/24/26</a:t>
            </a:fld>
            <a:endParaRPr lang="en-US"/>
          </a:p>
        </p:txBody>
      </p:sp>
      <p:sp>
        <p:nvSpPr>
          <p:cNvPr id="5" name="Footer Placeholder 4">
            <a:extLst>
              <a:ext uri="{FF2B5EF4-FFF2-40B4-BE49-F238E27FC236}">
                <a16:creationId xmlns:a16="http://schemas.microsoft.com/office/drawing/2014/main" id="{72434A8D-CE4E-772F-B618-4390648B1DD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F142F58-706C-950E-1FBA-66829EC333D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90530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4583E-F174-5DB0-7B6F-25DB275A9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B0D45-CD3D-3BBB-7FD2-528C2FFD69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CA511D-FB92-E1A6-1E8B-70CD584F95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F401D7-AAE4-4405-8FFE-2506B97A659E}"/>
              </a:ext>
            </a:extLst>
          </p:cNvPr>
          <p:cNvSpPr>
            <a:spLocks noGrp="1"/>
          </p:cNvSpPr>
          <p:nvPr>
            <p:ph type="dt" sz="half" idx="10"/>
          </p:nvPr>
        </p:nvSpPr>
        <p:spPr/>
        <p:txBody>
          <a:bodyPr/>
          <a:lstStyle/>
          <a:p>
            <a:fld id="{CA06041F-4525-44D5-AA4F-332294BF1F56}" type="datetime1">
              <a:rPr lang="en-US" smtClean="0"/>
              <a:t>2/24/26</a:t>
            </a:fld>
            <a:endParaRPr lang="en-US"/>
          </a:p>
        </p:txBody>
      </p:sp>
      <p:sp>
        <p:nvSpPr>
          <p:cNvPr id="6" name="Footer Placeholder 5">
            <a:extLst>
              <a:ext uri="{FF2B5EF4-FFF2-40B4-BE49-F238E27FC236}">
                <a16:creationId xmlns:a16="http://schemas.microsoft.com/office/drawing/2014/main" id="{52794708-2AA9-C924-DBA9-141931A619A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2C6BF4-F60D-2D92-F7FA-5E23BD58D4C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23128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96CC9-CFA1-4FAC-8369-966027D649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279BD6-E835-43BC-E9E3-6E2A8F2051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ACBDBA-AA2D-24CC-F32E-18F15E22DD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8858E4-6329-934C-18EC-27054BE6AC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32A370-0DF6-039A-1E16-1F86B4210D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FCA003-E8C9-B423-1458-63B828502F29}"/>
              </a:ext>
            </a:extLst>
          </p:cNvPr>
          <p:cNvSpPr>
            <a:spLocks noGrp="1"/>
          </p:cNvSpPr>
          <p:nvPr>
            <p:ph type="dt" sz="half" idx="10"/>
          </p:nvPr>
        </p:nvSpPr>
        <p:spPr/>
        <p:txBody>
          <a:bodyPr/>
          <a:lstStyle/>
          <a:p>
            <a:fld id="{F9557091-BBDF-4EB9-BA6B-2BB67AC4FC0F}" type="datetime1">
              <a:rPr lang="en-US" smtClean="0"/>
              <a:t>2/24/26</a:t>
            </a:fld>
            <a:endParaRPr lang="en-US"/>
          </a:p>
        </p:txBody>
      </p:sp>
      <p:sp>
        <p:nvSpPr>
          <p:cNvPr id="8" name="Footer Placeholder 7">
            <a:extLst>
              <a:ext uri="{FF2B5EF4-FFF2-40B4-BE49-F238E27FC236}">
                <a16:creationId xmlns:a16="http://schemas.microsoft.com/office/drawing/2014/main" id="{01C70835-A06E-6D36-DC57-3B24AC7ED8F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E422D92-2310-E922-839D-23FB1ACEBB1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73293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EFA88-7BC4-EBAA-50B3-9A4943CFAE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A02B77-CB11-FA16-29BD-131442154D14}"/>
              </a:ext>
            </a:extLst>
          </p:cNvPr>
          <p:cNvSpPr>
            <a:spLocks noGrp="1"/>
          </p:cNvSpPr>
          <p:nvPr>
            <p:ph type="dt" sz="half" idx="10"/>
          </p:nvPr>
        </p:nvSpPr>
        <p:spPr/>
        <p:txBody>
          <a:bodyPr/>
          <a:lstStyle/>
          <a:p>
            <a:fld id="{2D6B226B-77A6-410C-9796-083F278E0125}" type="datetime1">
              <a:rPr lang="en-US" smtClean="0"/>
              <a:t>2/24/26</a:t>
            </a:fld>
            <a:endParaRPr lang="en-US"/>
          </a:p>
        </p:txBody>
      </p:sp>
      <p:sp>
        <p:nvSpPr>
          <p:cNvPr id="4" name="Footer Placeholder 3">
            <a:extLst>
              <a:ext uri="{FF2B5EF4-FFF2-40B4-BE49-F238E27FC236}">
                <a16:creationId xmlns:a16="http://schemas.microsoft.com/office/drawing/2014/main" id="{26B2E246-FEA9-D1F4-EBCB-0D2F9D49516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D32579-7BB9-B6C0-820D-BE358A5863E3}"/>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53347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D778CF-9939-519F-4118-E372C81FB96E}"/>
              </a:ext>
            </a:extLst>
          </p:cNvPr>
          <p:cNvSpPr>
            <a:spLocks noGrp="1"/>
          </p:cNvSpPr>
          <p:nvPr>
            <p:ph type="dt" sz="half" idx="10"/>
          </p:nvPr>
        </p:nvSpPr>
        <p:spPr/>
        <p:txBody>
          <a:bodyPr/>
          <a:lstStyle/>
          <a:p>
            <a:fld id="{A23A578B-D289-4C40-8593-3D356C49DA58}" type="datetime1">
              <a:rPr lang="en-US" smtClean="0"/>
              <a:t>2/24/26</a:t>
            </a:fld>
            <a:endParaRPr lang="en-US"/>
          </a:p>
        </p:txBody>
      </p:sp>
      <p:sp>
        <p:nvSpPr>
          <p:cNvPr id="3" name="Footer Placeholder 2">
            <a:extLst>
              <a:ext uri="{FF2B5EF4-FFF2-40B4-BE49-F238E27FC236}">
                <a16:creationId xmlns:a16="http://schemas.microsoft.com/office/drawing/2014/main" id="{FBE28893-F1F5-B741-1316-B2B4DEB9CEE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0A3C4A4-D1D8-7786-1BF7-1A0479AAE814}"/>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66305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1ABF9-06D2-55BA-21BE-ACA064195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F32970-687D-C1E1-BB1E-B6D84B2311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792C19-6CE4-4855-7F02-642CF561A1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083F97-6F6E-1FB4-541E-D61B1FEC9D08}"/>
              </a:ext>
            </a:extLst>
          </p:cNvPr>
          <p:cNvSpPr>
            <a:spLocks noGrp="1"/>
          </p:cNvSpPr>
          <p:nvPr>
            <p:ph type="dt" sz="half" idx="10"/>
          </p:nvPr>
        </p:nvSpPr>
        <p:spPr/>
        <p:txBody>
          <a:bodyPr/>
          <a:lstStyle/>
          <a:p>
            <a:fld id="{713DFAE3-14DB-48A7-A80F-80DDB072CE3D}" type="datetime1">
              <a:rPr lang="en-US" smtClean="0"/>
              <a:t>2/24/26</a:t>
            </a:fld>
            <a:endParaRPr lang="en-US"/>
          </a:p>
        </p:txBody>
      </p:sp>
      <p:sp>
        <p:nvSpPr>
          <p:cNvPr id="6" name="Footer Placeholder 5">
            <a:extLst>
              <a:ext uri="{FF2B5EF4-FFF2-40B4-BE49-F238E27FC236}">
                <a16:creationId xmlns:a16="http://schemas.microsoft.com/office/drawing/2014/main" id="{527A99D6-274B-D6D4-D23D-9B35A1A1B6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B1ADE2-F1A2-C4F3-C875-627759A2D7F4}"/>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2209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9FC01-70A5-D138-556B-CA939DEDA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EAF073-DBF6-8F9C-5E23-4CA07E6D6F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FF495B-916D-8B17-972E-B722E23764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2A4CAB-F190-CFEF-E873-2D5A9B8EB483}"/>
              </a:ext>
            </a:extLst>
          </p:cNvPr>
          <p:cNvSpPr>
            <a:spLocks noGrp="1"/>
          </p:cNvSpPr>
          <p:nvPr>
            <p:ph type="dt" sz="half" idx="10"/>
          </p:nvPr>
        </p:nvSpPr>
        <p:spPr/>
        <p:txBody>
          <a:bodyPr/>
          <a:lstStyle/>
          <a:p>
            <a:fld id="{92C5EAEF-6478-4102-8F5D-A5FE9FC97ACB}" type="datetime1">
              <a:rPr lang="en-US" smtClean="0"/>
              <a:t>2/24/26</a:t>
            </a:fld>
            <a:endParaRPr lang="en-US"/>
          </a:p>
        </p:txBody>
      </p:sp>
      <p:sp>
        <p:nvSpPr>
          <p:cNvPr id="6" name="Footer Placeholder 5">
            <a:extLst>
              <a:ext uri="{FF2B5EF4-FFF2-40B4-BE49-F238E27FC236}">
                <a16:creationId xmlns:a16="http://schemas.microsoft.com/office/drawing/2014/main" id="{8F70ED8C-E966-E3B9-2382-BB3128D4CFD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F55CD15-5CC3-6746-CE63-465720F86EC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2128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79153-FF0F-05FC-9E49-472E539634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428D08-AB36-2473-3CD9-6CF222772E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2CC1D8-F5D0-4FDB-42B4-81D8669085EE}"/>
              </a:ext>
            </a:extLst>
          </p:cNvPr>
          <p:cNvSpPr>
            <a:spLocks noGrp="1"/>
          </p:cNvSpPr>
          <p:nvPr>
            <p:ph type="dt" sz="half" idx="10"/>
          </p:nvPr>
        </p:nvSpPr>
        <p:spPr/>
        <p:txBody>
          <a:bodyPr/>
          <a:lstStyle/>
          <a:p>
            <a:fld id="{7104EDB3-C0E8-45F8-9E1D-1B6C8D1880C0}" type="datetime1">
              <a:rPr lang="en-US" smtClean="0"/>
              <a:t>2/24/26</a:t>
            </a:fld>
            <a:endParaRPr lang="en-US"/>
          </a:p>
        </p:txBody>
      </p:sp>
      <p:sp>
        <p:nvSpPr>
          <p:cNvPr id="5" name="Footer Placeholder 4">
            <a:extLst>
              <a:ext uri="{FF2B5EF4-FFF2-40B4-BE49-F238E27FC236}">
                <a16:creationId xmlns:a16="http://schemas.microsoft.com/office/drawing/2014/main" id="{65F42517-C6F1-1ED9-5EC6-078D07EE1F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E2B2E6-9102-C6EA-5508-7DB678C8D43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53808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6211AB-9717-3A26-5ABA-D2A602FF0A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B4B604-0A0B-3BD4-1E62-9C053A17CF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F53DB4-5088-7468-3B05-B793BFB38809}"/>
              </a:ext>
            </a:extLst>
          </p:cNvPr>
          <p:cNvSpPr>
            <a:spLocks noGrp="1"/>
          </p:cNvSpPr>
          <p:nvPr>
            <p:ph type="dt" sz="half" idx="10"/>
          </p:nvPr>
        </p:nvSpPr>
        <p:spPr/>
        <p:txBody>
          <a:bodyPr/>
          <a:lstStyle/>
          <a:p>
            <a:fld id="{9CF0EC4B-54ED-4041-B552-9BA760FA3DBA}" type="datetime1">
              <a:rPr lang="en-US" smtClean="0"/>
              <a:t>2/24/26</a:t>
            </a:fld>
            <a:endParaRPr lang="en-US"/>
          </a:p>
        </p:txBody>
      </p:sp>
      <p:sp>
        <p:nvSpPr>
          <p:cNvPr id="5" name="Footer Placeholder 4">
            <a:extLst>
              <a:ext uri="{FF2B5EF4-FFF2-40B4-BE49-F238E27FC236}">
                <a16:creationId xmlns:a16="http://schemas.microsoft.com/office/drawing/2014/main" id="{F260E0C7-68F4-2D05-6CB0-9E5FBEA4E1F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215230-7243-E83E-8D51-DF1CFF7548E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9834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2A7A92-7DEF-6894-BE7B-D4968CB7D1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F0A311-FF23-6073-8F3C-AFF8DE5F76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CADE31-CEC7-F53D-0CFE-D8408245DE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F45AC6-C491-4585-A584-9CE2AF7D5500}" type="datetime1">
              <a:rPr lang="en-US" smtClean="0"/>
              <a:t>2/24/26</a:t>
            </a:fld>
            <a:endParaRPr lang="en-US"/>
          </a:p>
        </p:txBody>
      </p:sp>
      <p:sp>
        <p:nvSpPr>
          <p:cNvPr id="5" name="Footer Placeholder 4">
            <a:extLst>
              <a:ext uri="{FF2B5EF4-FFF2-40B4-BE49-F238E27FC236}">
                <a16:creationId xmlns:a16="http://schemas.microsoft.com/office/drawing/2014/main" id="{34ED2CDB-38B7-3DBA-E218-641B6E63A8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C9DF833C-DDD8-3886-2686-0B98422157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17576955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EE607CB-DF48-786D-0E8A-808D223F47FC}"/>
              </a:ext>
            </a:extLst>
          </p:cNvPr>
          <p:cNvPicPr>
            <a:picLocks noChangeAspect="1"/>
          </p:cNvPicPr>
          <p:nvPr/>
        </p:nvPicPr>
        <p:blipFill>
          <a:blip r:embed="rId3"/>
          <a:srcRect l="9006" r="32159" b="6907"/>
          <a:stretch>
            <a:fillRect/>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26447B-0BAC-33A7-A4CC-76785FFC9B60}"/>
              </a:ext>
            </a:extLst>
          </p:cNvPr>
          <p:cNvSpPr>
            <a:spLocks noGrp="1"/>
          </p:cNvSpPr>
          <p:nvPr>
            <p:ph type="ctrTitle"/>
          </p:nvPr>
        </p:nvSpPr>
        <p:spPr>
          <a:xfrm>
            <a:off x="477981" y="1122363"/>
            <a:ext cx="4023360" cy="3204134"/>
          </a:xfrm>
        </p:spPr>
        <p:txBody>
          <a:bodyPr anchor="b">
            <a:normAutofit/>
          </a:bodyPr>
          <a:lstStyle/>
          <a:p>
            <a:pPr algn="l"/>
            <a:r>
              <a:rPr lang="en-US" sz="3700" dirty="0">
                <a:latin typeface="Times New Roman" panose="02020603050405020304" pitchFamily="18" charset="0"/>
                <a:cs typeface="Times New Roman" panose="02020603050405020304" pitchFamily="18" charset="0"/>
              </a:rPr>
              <a:t>Big Data analytics in oil and gas industry: An emerging trend</a:t>
            </a:r>
          </a:p>
        </p:txBody>
      </p:sp>
      <p:sp>
        <p:nvSpPr>
          <p:cNvPr id="3" name="Subtitle 2">
            <a:extLst>
              <a:ext uri="{FF2B5EF4-FFF2-40B4-BE49-F238E27FC236}">
                <a16:creationId xmlns:a16="http://schemas.microsoft.com/office/drawing/2014/main" id="{8F60DF2F-C20B-4C20-7031-99284D69EC71}"/>
              </a:ext>
            </a:extLst>
          </p:cNvPr>
          <p:cNvSpPr>
            <a:spLocks noGrp="1"/>
          </p:cNvSpPr>
          <p:nvPr>
            <p:ph type="subTitle" idx="1"/>
          </p:nvPr>
        </p:nvSpPr>
        <p:spPr>
          <a:xfrm>
            <a:off x="477980" y="4872922"/>
            <a:ext cx="4023359" cy="1208141"/>
          </a:xfrm>
        </p:spPr>
        <p:txBody>
          <a:bodyPr>
            <a:normAutofit/>
          </a:bodyPr>
          <a:lstStyle/>
          <a:p>
            <a:pPr algn="l">
              <a:spcBef>
                <a:spcPts val="600"/>
              </a:spcBef>
            </a:pPr>
            <a:r>
              <a:rPr lang="en-US" sz="2000">
                <a:latin typeface="Times New Roman" panose="02020603050405020304" pitchFamily="18" charset="0"/>
                <a:cs typeface="Times New Roman" panose="02020603050405020304" pitchFamily="18" charset="0"/>
              </a:rPr>
              <a:t>Jeong Hoon Choi</a:t>
            </a:r>
          </a:p>
          <a:p>
            <a:pPr algn="l">
              <a:spcBef>
                <a:spcPts val="600"/>
              </a:spcBef>
            </a:pPr>
            <a:r>
              <a:rPr lang="en-US" sz="2000">
                <a:latin typeface="Times New Roman" panose="02020603050405020304" pitchFamily="18" charset="0"/>
                <a:cs typeface="Times New Roman" panose="02020603050405020304" pitchFamily="18" charset="0"/>
              </a:rPr>
              <a:t>USCID: 5023184813</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Subtitle 2">
            <a:extLst>
              <a:ext uri="{FF2B5EF4-FFF2-40B4-BE49-F238E27FC236}">
                <a16:creationId xmlns:a16="http://schemas.microsoft.com/office/drawing/2014/main" id="{D49F336A-D1F7-3086-AF5C-373BD260AF40}"/>
              </a:ext>
            </a:extLst>
          </p:cNvPr>
          <p:cNvSpPr txBox="1">
            <a:spLocks/>
          </p:cNvSpPr>
          <p:nvPr/>
        </p:nvSpPr>
        <p:spPr>
          <a:xfrm>
            <a:off x="8577143" y="6083300"/>
            <a:ext cx="3614857" cy="774700"/>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spcBef>
                <a:spcPts val="600"/>
              </a:spcBef>
            </a:pPr>
            <a:r>
              <a:rPr lang="en-US" sz="1500" dirty="0">
                <a:latin typeface="Times New Roman" panose="02020603050405020304" pitchFamily="18" charset="0"/>
                <a:cs typeface="Times New Roman" panose="02020603050405020304" pitchFamily="18" charset="0"/>
              </a:rPr>
              <a:t>DSCI-560</a:t>
            </a:r>
          </a:p>
          <a:p>
            <a:pPr algn="r">
              <a:lnSpc>
                <a:spcPct val="100000"/>
              </a:lnSpc>
              <a:spcBef>
                <a:spcPts val="600"/>
              </a:spcBef>
            </a:pPr>
            <a:r>
              <a:rPr lang="en-US" sz="1500" dirty="0">
                <a:latin typeface="Times New Roman" panose="02020603050405020304" pitchFamily="18" charset="0"/>
                <a:cs typeface="Times New Roman" panose="02020603050405020304" pitchFamily="18" charset="0"/>
              </a:rPr>
              <a:t>Data Science Professional Practicum</a:t>
            </a:r>
          </a:p>
        </p:txBody>
      </p:sp>
    </p:spTree>
    <p:extLst>
      <p:ext uri="{BB962C8B-B14F-4D97-AF65-F5344CB8AC3E}">
        <p14:creationId xmlns:p14="http://schemas.microsoft.com/office/powerpoint/2010/main" val="3783206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EFFD0-5544-1387-C559-6E19C74BA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CE18A-E055-90C5-6085-A63399BCB5EA}"/>
              </a:ext>
            </a:extLst>
          </p:cNvPr>
          <p:cNvSpPr>
            <a:spLocks noGrp="1"/>
          </p:cNvSpPr>
          <p:nvPr>
            <p:ph type="title"/>
          </p:nvPr>
        </p:nvSpPr>
        <p:spPr>
          <a:xfrm>
            <a:off x="379844" y="319293"/>
            <a:ext cx="10168128" cy="1179576"/>
          </a:xfrm>
        </p:spPr>
        <p:txBody>
          <a:bodyPr>
            <a:normAutofit/>
          </a:bodyPr>
          <a:lstStyle/>
          <a:p>
            <a:r>
              <a:rPr lang="en-US" sz="3500" dirty="0">
                <a:latin typeface="Times New Roman" panose="02020603050405020304" pitchFamily="18" charset="0"/>
                <a:cs typeface="Times New Roman" panose="02020603050405020304" pitchFamily="18" charset="0"/>
              </a:rPr>
              <a:t>Introduction</a:t>
            </a:r>
          </a:p>
        </p:txBody>
      </p:sp>
      <p:sp>
        <p:nvSpPr>
          <p:cNvPr id="6" name="Content Placeholder 5">
            <a:extLst>
              <a:ext uri="{FF2B5EF4-FFF2-40B4-BE49-F238E27FC236}">
                <a16:creationId xmlns:a16="http://schemas.microsoft.com/office/drawing/2014/main" id="{1C813DF7-06C7-8D54-9ECF-A0595641CC54}"/>
              </a:ext>
            </a:extLst>
          </p:cNvPr>
          <p:cNvSpPr>
            <a:spLocks noGrp="1"/>
          </p:cNvSpPr>
          <p:nvPr>
            <p:ph idx="1"/>
          </p:nvPr>
        </p:nvSpPr>
        <p:spPr>
          <a:xfrm>
            <a:off x="637360" y="1706985"/>
            <a:ext cx="10610088" cy="4316715"/>
          </a:xfrm>
        </p:spPr>
        <p:txBody>
          <a:bodyPr>
            <a:normAutofit/>
          </a:bodyPr>
          <a:lstStyle/>
          <a:p>
            <a:pPr marL="0" indent="0">
              <a:buNone/>
            </a:pPr>
            <a:r>
              <a:rPr lang="en-US" sz="2500" dirty="0">
                <a:latin typeface="Times New Roman" panose="02020603050405020304" pitchFamily="18" charset="0"/>
                <a:cs typeface="Times New Roman" panose="02020603050405020304" pitchFamily="18" charset="0"/>
              </a:rPr>
              <a:t>Technologies improvement have resulted in big data generation in oil and gas exploration and production industries.</a:t>
            </a:r>
          </a:p>
          <a:p>
            <a:pPr marL="0" indent="0">
              <a:buNone/>
            </a:pPr>
            <a:endParaRPr lang="en-US" sz="2500" dirty="0">
              <a:latin typeface="Times New Roman" panose="02020603050405020304" pitchFamily="18" charset="0"/>
              <a:cs typeface="Times New Roman" panose="02020603050405020304" pitchFamily="18" charset="0"/>
            </a:endParaRPr>
          </a:p>
          <a:p>
            <a:pPr marL="0" indent="0">
              <a:buNone/>
            </a:pPr>
            <a:r>
              <a:rPr lang="en-US" sz="2500" dirty="0">
                <a:latin typeface="Times New Roman" panose="02020603050405020304" pitchFamily="18" charset="0"/>
                <a:cs typeface="Times New Roman" panose="02020603050405020304" pitchFamily="18" charset="0"/>
              </a:rPr>
              <a:t>70% of the U.S. oil and gas companies were not familiar with Big Data and its applications in petroleum engineering (2012)</a:t>
            </a:r>
          </a:p>
          <a:p>
            <a:pPr marL="0" indent="0">
              <a:buNone/>
            </a:pPr>
            <a:endParaRPr lang="en-US" sz="2500" dirty="0">
              <a:latin typeface="Times New Roman" panose="02020603050405020304" pitchFamily="18" charset="0"/>
              <a:cs typeface="Times New Roman" panose="02020603050405020304" pitchFamily="18" charset="0"/>
            </a:endParaRPr>
          </a:p>
          <a:p>
            <a:pPr marL="0" indent="0">
              <a:buNone/>
            </a:pPr>
            <a:r>
              <a:rPr lang="en-US" sz="2500" dirty="0">
                <a:latin typeface="Times New Roman" panose="02020603050405020304" pitchFamily="18" charset="0"/>
                <a:cs typeface="Times New Roman" panose="02020603050405020304" pitchFamily="18" charset="0"/>
              </a:rPr>
              <a:t>Presents extensive review on the paper, about the application of Big Data analytics in both upstream and downstream oil and gas industry.</a:t>
            </a:r>
          </a:p>
        </p:txBody>
      </p:sp>
    </p:spTree>
    <p:extLst>
      <p:ext uri="{BB962C8B-B14F-4D97-AF65-F5344CB8AC3E}">
        <p14:creationId xmlns:p14="http://schemas.microsoft.com/office/powerpoint/2010/main" val="912845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4339B-2C19-B1F3-8021-CE0CA3458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10C02-EF08-A2BB-CC63-A1D32387B87F}"/>
              </a:ext>
            </a:extLst>
          </p:cNvPr>
          <p:cNvSpPr>
            <a:spLocks noGrp="1"/>
          </p:cNvSpPr>
          <p:nvPr>
            <p:ph type="title"/>
          </p:nvPr>
        </p:nvSpPr>
        <p:spPr>
          <a:xfrm>
            <a:off x="379844" y="319293"/>
            <a:ext cx="10168128" cy="1179576"/>
          </a:xfrm>
        </p:spPr>
        <p:txBody>
          <a:bodyPr>
            <a:normAutofit/>
          </a:bodyPr>
          <a:lstStyle/>
          <a:p>
            <a:r>
              <a:rPr lang="en-US" sz="3500" dirty="0">
                <a:latin typeface="Times New Roman" panose="02020603050405020304" pitchFamily="18" charset="0"/>
                <a:cs typeface="Times New Roman" panose="02020603050405020304" pitchFamily="18" charset="0"/>
              </a:rPr>
              <a:t>Big data in upstream oil and gas industry</a:t>
            </a:r>
          </a:p>
        </p:txBody>
      </p:sp>
      <p:sp>
        <p:nvSpPr>
          <p:cNvPr id="6" name="Content Placeholder 5">
            <a:extLst>
              <a:ext uri="{FF2B5EF4-FFF2-40B4-BE49-F238E27FC236}">
                <a16:creationId xmlns:a16="http://schemas.microsoft.com/office/drawing/2014/main" id="{C0878307-C5E7-2529-3034-D4B4733C81CB}"/>
              </a:ext>
            </a:extLst>
          </p:cNvPr>
          <p:cNvSpPr>
            <a:spLocks noGrp="1"/>
          </p:cNvSpPr>
          <p:nvPr>
            <p:ph idx="1"/>
          </p:nvPr>
        </p:nvSpPr>
        <p:spPr>
          <a:xfrm>
            <a:off x="637360" y="1408386"/>
            <a:ext cx="10610088" cy="5130321"/>
          </a:xfrm>
        </p:spPr>
        <p:txBody>
          <a:bodyPr>
            <a:normAutofit fontScale="77500" lnSpcReduction="20000"/>
          </a:bodyPr>
          <a:lstStyle/>
          <a:p>
            <a:pPr marL="0" indent="0">
              <a:buNone/>
            </a:pPr>
            <a:r>
              <a:rPr lang="en-US" sz="2500" dirty="0">
                <a:latin typeface="Times New Roman" panose="02020603050405020304" pitchFamily="18" charset="0"/>
                <a:cs typeface="Times New Roman" panose="02020603050405020304" pitchFamily="18" charset="0"/>
              </a:rPr>
              <a:t>Seismic acquisitions devices, channel counting, fluid front monitoring geophones, carbon capture and sequestration sites, LWD, and MWD tools have provide vast amount of data to be processed and analyzed.</a:t>
            </a:r>
          </a:p>
          <a:p>
            <a:pPr marL="0" indent="0">
              <a:buNone/>
            </a:pPr>
            <a:endParaRPr lang="en-US" sz="2500" dirty="0">
              <a:latin typeface="Times New Roman" panose="02020603050405020304" pitchFamily="18" charset="0"/>
              <a:cs typeface="Times New Roman" panose="02020603050405020304" pitchFamily="18" charset="0"/>
            </a:endParaRPr>
          </a:p>
          <a:p>
            <a:pPr>
              <a:buFontTx/>
              <a:buChar char="-"/>
            </a:pPr>
            <a:r>
              <a:rPr lang="en-US" sz="2500" dirty="0">
                <a:latin typeface="Times New Roman" panose="02020603050405020304" pitchFamily="18" charset="0"/>
                <a:cs typeface="Times New Roman" panose="02020603050405020304" pitchFamily="18" charset="0"/>
              </a:rPr>
              <a:t>Drilling</a:t>
            </a:r>
          </a:p>
          <a:p>
            <a:pPr marL="0" indent="0">
              <a:buNone/>
            </a:pPr>
            <a:r>
              <a:rPr lang="en-US" sz="2500" dirty="0">
                <a:latin typeface="Times New Roman" panose="02020603050405020304" pitchFamily="18" charset="0"/>
                <a:cs typeface="Times New Roman" panose="02020603050405020304" pitchFamily="18" charset="0"/>
              </a:rPr>
              <a:t>Data from various operations through drilling -&gt; scheduling</a:t>
            </a:r>
          </a:p>
          <a:p>
            <a:pPr marL="0" indent="0">
              <a:buNone/>
            </a:pPr>
            <a:r>
              <a:rPr lang="en-US" sz="2500" dirty="0">
                <a:latin typeface="Times New Roman" panose="02020603050405020304" pitchFamily="18" charset="0"/>
                <a:cs typeface="Times New Roman" panose="02020603050405020304" pitchFamily="18" charset="0"/>
              </a:rPr>
              <a:t>Drilling performance was improved/ Finding invisible non-production time (INPT)</a:t>
            </a:r>
          </a:p>
          <a:p>
            <a:pPr marL="0" indent="0">
              <a:buNone/>
            </a:pPr>
            <a:r>
              <a:rPr lang="en-US" sz="2500" dirty="0">
                <a:latin typeface="Times New Roman" panose="02020603050405020304" pitchFamily="18" charset="0"/>
                <a:cs typeface="Times New Roman" panose="02020603050405020304" pitchFamily="18" charset="0"/>
              </a:rPr>
              <a:t>Reduce the risks associated with drilling </a:t>
            </a:r>
            <a:r>
              <a:rPr lang="en-US" sz="2500" dirty="0" err="1">
                <a:latin typeface="Times New Roman" panose="02020603050405020304" pitchFamily="18" charset="0"/>
                <a:cs typeface="Times New Roman" panose="02020603050405020304" pitchFamily="18" charset="0"/>
              </a:rPr>
              <a:t>oprations</a:t>
            </a:r>
            <a:r>
              <a:rPr lang="en-US" sz="2500" dirty="0">
                <a:latin typeface="Times New Roman" panose="02020603050405020304" pitchFamily="18" charset="0"/>
                <a:cs typeface="Times New Roman" panose="02020603050405020304" pitchFamily="18" charset="0"/>
              </a:rPr>
              <a:t>.</a:t>
            </a:r>
          </a:p>
          <a:p>
            <a:pPr marL="0" indent="0">
              <a:buNone/>
            </a:pPr>
            <a:endParaRPr lang="en-US" sz="2500" dirty="0">
              <a:latin typeface="Times New Roman" panose="02020603050405020304" pitchFamily="18" charset="0"/>
              <a:cs typeface="Times New Roman" panose="02020603050405020304" pitchFamily="18" charset="0"/>
            </a:endParaRPr>
          </a:p>
          <a:p>
            <a:pPr>
              <a:buFontTx/>
              <a:buChar char="-"/>
            </a:pPr>
            <a:r>
              <a:rPr lang="en-US" sz="2500" dirty="0">
                <a:latin typeface="Times New Roman" panose="02020603050405020304" pitchFamily="18" charset="0"/>
                <a:cs typeface="Times New Roman" panose="02020603050405020304" pitchFamily="18" charset="0"/>
              </a:rPr>
              <a:t>Reservoir Engineering</a:t>
            </a:r>
          </a:p>
          <a:p>
            <a:pPr marL="0" indent="0">
              <a:buNone/>
            </a:pPr>
            <a:r>
              <a:rPr lang="en-US" sz="2500" dirty="0">
                <a:latin typeface="Times New Roman" panose="02020603050405020304" pitchFamily="18" charset="0"/>
                <a:cs typeface="Times New Roman" panose="02020603050405020304" pitchFamily="18" charset="0"/>
              </a:rPr>
              <a:t> visualizer: helped with data viewing and analysis/ filtering: eliminate the outliers and non-reliable data</a:t>
            </a:r>
          </a:p>
          <a:p>
            <a:pPr marL="0" indent="0">
              <a:buNone/>
            </a:pPr>
            <a:r>
              <a:rPr lang="en-US" sz="2500" dirty="0">
                <a:latin typeface="Times New Roman" panose="02020603050405020304" pitchFamily="18" charset="0"/>
                <a:cs typeface="Times New Roman" panose="02020603050405020304" pitchFamily="18" charset="0"/>
              </a:rPr>
              <a:t>Model builder/AI</a:t>
            </a:r>
          </a:p>
          <a:p>
            <a:pPr marL="0" indent="0">
              <a:buNone/>
            </a:pPr>
            <a:r>
              <a:rPr lang="en-US" sz="2500" dirty="0">
                <a:latin typeface="Times New Roman" panose="02020603050405020304" pitchFamily="18" charset="0"/>
                <a:cs typeface="Times New Roman" panose="02020603050405020304" pitchFamily="18" charset="0"/>
              </a:rPr>
              <a:t>Improve CO2 sequestration by predicting the possibility of CO2 leakage.</a:t>
            </a:r>
          </a:p>
          <a:p>
            <a:pPr marL="0" indent="0">
              <a:buNone/>
            </a:pPr>
            <a:endParaRPr lang="en-US" sz="2500" dirty="0">
              <a:latin typeface="Times New Roman" panose="02020603050405020304" pitchFamily="18" charset="0"/>
              <a:cs typeface="Times New Roman" panose="02020603050405020304" pitchFamily="18" charset="0"/>
            </a:endParaRPr>
          </a:p>
          <a:p>
            <a:pPr>
              <a:buFontTx/>
              <a:buChar char="-"/>
            </a:pPr>
            <a:r>
              <a:rPr lang="en-US" sz="2500" dirty="0">
                <a:latin typeface="Times New Roman" panose="02020603050405020304" pitchFamily="18" charset="0"/>
                <a:cs typeface="Times New Roman" panose="02020603050405020304" pitchFamily="18" charset="0"/>
              </a:rPr>
              <a:t>Production Engineering</a:t>
            </a:r>
          </a:p>
          <a:p>
            <a:pPr marL="0" indent="0">
              <a:buNone/>
            </a:pPr>
            <a:r>
              <a:rPr lang="en-US" sz="2500" dirty="0">
                <a:latin typeface="Times New Roman" panose="02020603050405020304" pitchFamily="18" charset="0"/>
                <a:cs typeface="Times New Roman" panose="02020603050405020304" pitchFamily="18" charset="0"/>
              </a:rPr>
              <a:t>Smart forecast and flow method to conduct automated decline analysis</a:t>
            </a:r>
          </a:p>
          <a:p>
            <a:pPr marL="0" indent="0">
              <a:buNone/>
            </a:pPr>
            <a:r>
              <a:rPr lang="en-US" sz="2500" dirty="0">
                <a:latin typeface="Times New Roman" panose="02020603050405020304" pitchFamily="18" charset="0"/>
                <a:cs typeface="Times New Roman" panose="02020603050405020304" pitchFamily="18" charset="0"/>
              </a:rPr>
              <a:t>Allocation procedure for the users/ optimize the performance of electrics submersible pumps</a:t>
            </a:r>
          </a:p>
        </p:txBody>
      </p:sp>
    </p:spTree>
    <p:extLst>
      <p:ext uri="{BB962C8B-B14F-4D97-AF65-F5344CB8AC3E}">
        <p14:creationId xmlns:p14="http://schemas.microsoft.com/office/powerpoint/2010/main" val="3613012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E239C-332F-ABC0-E258-DEBC90D46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304BD-52BA-6781-90A1-6BDAAA033EFA}"/>
              </a:ext>
            </a:extLst>
          </p:cNvPr>
          <p:cNvSpPr>
            <a:spLocks noGrp="1"/>
          </p:cNvSpPr>
          <p:nvPr>
            <p:ph type="title"/>
          </p:nvPr>
        </p:nvSpPr>
        <p:spPr>
          <a:xfrm>
            <a:off x="379844" y="319293"/>
            <a:ext cx="10168128" cy="1179576"/>
          </a:xfrm>
        </p:spPr>
        <p:txBody>
          <a:bodyPr>
            <a:normAutofit/>
          </a:bodyPr>
          <a:lstStyle/>
          <a:p>
            <a:r>
              <a:rPr lang="en-US" sz="3500" dirty="0">
                <a:latin typeface="Times New Roman" panose="02020603050405020304" pitchFamily="18" charset="0"/>
                <a:cs typeface="Times New Roman" panose="02020603050405020304" pitchFamily="18" charset="0"/>
              </a:rPr>
              <a:t>Big data in downstream oil and gas industry</a:t>
            </a:r>
          </a:p>
        </p:txBody>
      </p:sp>
      <p:sp>
        <p:nvSpPr>
          <p:cNvPr id="6" name="Content Placeholder 5">
            <a:extLst>
              <a:ext uri="{FF2B5EF4-FFF2-40B4-BE49-F238E27FC236}">
                <a16:creationId xmlns:a16="http://schemas.microsoft.com/office/drawing/2014/main" id="{DA50B1AD-95EE-29A9-6D14-D138E98D354B}"/>
              </a:ext>
            </a:extLst>
          </p:cNvPr>
          <p:cNvSpPr>
            <a:spLocks noGrp="1"/>
          </p:cNvSpPr>
          <p:nvPr>
            <p:ph idx="1"/>
          </p:nvPr>
        </p:nvSpPr>
        <p:spPr>
          <a:xfrm>
            <a:off x="637360" y="1418897"/>
            <a:ext cx="10610088" cy="4929351"/>
          </a:xfrm>
        </p:spPr>
        <p:txBody>
          <a:bodyPr>
            <a:normAutofit fontScale="92500" lnSpcReduction="20000"/>
          </a:bodyPr>
          <a:lstStyle/>
          <a:p>
            <a:pPr>
              <a:buFontTx/>
              <a:buChar char="-"/>
            </a:pPr>
            <a:r>
              <a:rPr lang="en-US" sz="2500" dirty="0">
                <a:latin typeface="Times New Roman" panose="02020603050405020304" pitchFamily="18" charset="0"/>
                <a:cs typeface="Times New Roman" panose="02020603050405020304" pitchFamily="18" charset="0"/>
              </a:rPr>
              <a:t>Refining</a:t>
            </a:r>
          </a:p>
          <a:p>
            <a:pPr marL="0" indent="0">
              <a:buNone/>
            </a:pPr>
            <a:r>
              <a:rPr lang="en-US" sz="2500" dirty="0">
                <a:latin typeface="Times New Roman" panose="02020603050405020304" pitchFamily="18" charset="0"/>
                <a:cs typeface="Times New Roman" panose="02020603050405020304" pitchFamily="18" charset="0"/>
              </a:rPr>
              <a:t>Improve a petrochemical asset management</a:t>
            </a:r>
          </a:p>
          <a:p>
            <a:pPr marL="0" indent="0">
              <a:buNone/>
            </a:pPr>
            <a:r>
              <a:rPr lang="en-US" sz="2500" dirty="0">
                <a:latin typeface="Times New Roman" panose="02020603050405020304" pitchFamily="18" charset="0"/>
                <a:cs typeface="Times New Roman" panose="02020603050405020304" pitchFamily="18" charset="0"/>
              </a:rPr>
              <a:t>Reduce the downtime and maintenance costs</a:t>
            </a:r>
          </a:p>
          <a:p>
            <a:pPr marL="0" indent="0">
              <a:buNone/>
            </a:pPr>
            <a:endParaRPr lang="en-US" sz="2500" dirty="0">
              <a:latin typeface="Times New Roman" panose="02020603050405020304" pitchFamily="18" charset="0"/>
              <a:cs typeface="Times New Roman" panose="02020603050405020304" pitchFamily="18" charset="0"/>
            </a:endParaRPr>
          </a:p>
          <a:p>
            <a:pPr>
              <a:buFontTx/>
              <a:buChar char="-"/>
            </a:pPr>
            <a:r>
              <a:rPr lang="en-US" sz="2500" dirty="0">
                <a:latin typeface="Times New Roman" panose="02020603050405020304" pitchFamily="18" charset="0"/>
                <a:cs typeface="Times New Roman" panose="02020603050405020304" pitchFamily="18" charset="0"/>
              </a:rPr>
              <a:t>Oil and Gas transportation</a:t>
            </a:r>
          </a:p>
          <a:p>
            <a:pPr marL="0" indent="0">
              <a:buNone/>
            </a:pPr>
            <a:r>
              <a:rPr lang="en-US" sz="2500" dirty="0">
                <a:latin typeface="Times New Roman" panose="02020603050405020304" pitchFamily="18" charset="0"/>
                <a:cs typeface="Times New Roman" panose="02020603050405020304" pitchFamily="18" charset="0"/>
              </a:rPr>
              <a:t>Big Data analytics in order to improve the shipping performance</a:t>
            </a:r>
          </a:p>
          <a:p>
            <a:pPr marL="0" indent="0">
              <a:buNone/>
            </a:pPr>
            <a:r>
              <a:rPr lang="en-US" sz="2500" dirty="0">
                <a:latin typeface="Times New Roman" panose="02020603050405020304" pitchFamily="18" charset="0"/>
                <a:cs typeface="Times New Roman" panose="02020603050405020304" pitchFamily="18" charset="0"/>
              </a:rPr>
              <a:t>Predict the propulsion power to improve the performances of ships and consequently to lower the green gas emissions.</a:t>
            </a:r>
          </a:p>
          <a:p>
            <a:pPr marL="0" indent="0">
              <a:buNone/>
            </a:pPr>
            <a:endParaRPr lang="en-US" sz="2500" dirty="0">
              <a:latin typeface="Times New Roman" panose="02020603050405020304" pitchFamily="18" charset="0"/>
              <a:cs typeface="Times New Roman" panose="02020603050405020304" pitchFamily="18" charset="0"/>
            </a:endParaRPr>
          </a:p>
          <a:p>
            <a:pPr>
              <a:buFontTx/>
              <a:buChar char="-"/>
            </a:pPr>
            <a:r>
              <a:rPr lang="en-US" sz="2500" dirty="0">
                <a:latin typeface="Times New Roman" panose="02020603050405020304" pitchFamily="18" charset="0"/>
                <a:cs typeface="Times New Roman" panose="02020603050405020304" pitchFamily="18" charset="0"/>
              </a:rPr>
              <a:t>Health and Safety Executive (HSE)</a:t>
            </a:r>
          </a:p>
          <a:p>
            <a:pPr marL="0" indent="0">
              <a:buNone/>
            </a:pPr>
            <a:r>
              <a:rPr lang="en-US" sz="2500" dirty="0">
                <a:latin typeface="Times New Roman" panose="02020603050405020304" pitchFamily="18" charset="0"/>
                <a:cs typeface="Times New Roman" panose="02020603050405020304" pitchFamily="18" charset="0"/>
              </a:rPr>
              <a:t>Improve the oil and gas occupational safety by managing the risk and enhancing the safety</a:t>
            </a:r>
          </a:p>
          <a:p>
            <a:pPr marL="0" indent="0">
              <a:buNone/>
            </a:pPr>
            <a:r>
              <a:rPr lang="en-US" sz="2500" dirty="0">
                <a:latin typeface="Times New Roman" panose="02020603050405020304" pitchFamily="18" charset="0"/>
                <a:cs typeface="Times New Roman" panose="02020603050405020304" pitchFamily="18" charset="0"/>
              </a:rPr>
              <a:t>Hazard event prediction (</a:t>
            </a:r>
            <a:r>
              <a:rPr lang="en-US" sz="2500">
                <a:latin typeface="Times New Roman" panose="02020603050405020304" pitchFamily="18" charset="0"/>
                <a:cs typeface="Times New Roman" panose="02020603050405020304" pitchFamily="18" charset="0"/>
              </a:rPr>
              <a:t>H2S concentration)</a:t>
            </a:r>
            <a:endParaRPr lang="en-US" sz="2500" dirty="0">
              <a:latin typeface="Times New Roman" panose="02020603050405020304" pitchFamily="18" charset="0"/>
              <a:cs typeface="Times New Roman" panose="02020603050405020304" pitchFamily="18" charset="0"/>
            </a:endParaRPr>
          </a:p>
          <a:p>
            <a:pPr>
              <a:buFontTx/>
              <a:buChar char="-"/>
            </a:pPr>
            <a:endParaRPr lang="en-US" sz="2500" dirty="0">
              <a:latin typeface="Times New Roman" panose="02020603050405020304" pitchFamily="18" charset="0"/>
              <a:cs typeface="Times New Roman" panose="02020603050405020304" pitchFamily="18" charset="0"/>
            </a:endParaRPr>
          </a:p>
          <a:p>
            <a:pPr marL="0" indent="0">
              <a:buNone/>
            </a:pP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996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6DC26-E66B-2A4E-3006-B9C0E0A78AF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951CD2D-D63D-1EF3-B0D1-E1182144ADEC}"/>
              </a:ext>
            </a:extLst>
          </p:cNvPr>
          <p:cNvSpPr>
            <a:spLocks noGrp="1"/>
          </p:cNvSpPr>
          <p:nvPr>
            <p:ph idx="1"/>
          </p:nvPr>
        </p:nvSpPr>
        <p:spPr>
          <a:xfrm>
            <a:off x="469194" y="830318"/>
            <a:ext cx="10610088" cy="4929351"/>
          </a:xfrm>
        </p:spPr>
        <p:txBody>
          <a:bodyPr>
            <a:normAutofit/>
          </a:bodyPr>
          <a:lstStyle/>
          <a:p>
            <a:pPr marL="0" indent="0">
              <a:buNone/>
            </a:pPr>
            <a:r>
              <a:rPr lang="en-US" sz="2500" dirty="0">
                <a:latin typeface="Times New Roman" panose="02020603050405020304" pitchFamily="18" charset="0"/>
                <a:cs typeface="Times New Roman" panose="02020603050405020304" pitchFamily="18" charset="0"/>
              </a:rPr>
              <a:t>Question:</a:t>
            </a:r>
          </a:p>
          <a:p>
            <a:pPr marL="0" indent="0">
              <a:buNone/>
            </a:pPr>
            <a:r>
              <a:rPr lang="en-US" sz="2500" dirty="0">
                <a:latin typeface="Times New Roman" panose="02020603050405020304" pitchFamily="18" charset="0"/>
                <a:cs typeface="Times New Roman" panose="02020603050405020304" pitchFamily="18" charset="0"/>
              </a:rPr>
              <a:t>The professor emphasized in class that data scientists should be considered as side specialists in areas where data science has not yet been actively applied or in areas of interest. Please describe your areas of interest outside of the oil industry.</a:t>
            </a:r>
          </a:p>
          <a:p>
            <a:pPr marL="0" indent="0">
              <a:buNone/>
            </a:pPr>
            <a:endParaRPr lang="en-US" sz="2500" dirty="0">
              <a:latin typeface="Times New Roman" panose="02020603050405020304" pitchFamily="18" charset="0"/>
              <a:cs typeface="Times New Roman" panose="02020603050405020304" pitchFamily="18" charset="0"/>
            </a:endParaRPr>
          </a:p>
          <a:p>
            <a:pPr marL="0" indent="0">
              <a:buNone/>
            </a:pPr>
            <a:r>
              <a:rPr lang="en-US" sz="2500" dirty="0">
                <a:latin typeface="Times New Roman" panose="02020603050405020304" pitchFamily="18" charset="0"/>
                <a:cs typeface="Times New Roman" panose="02020603050405020304" pitchFamily="18" charset="0"/>
              </a:rPr>
              <a:t>Answer:</a:t>
            </a:r>
          </a:p>
          <a:p>
            <a:pPr marL="0" indent="0">
              <a:buNone/>
            </a:pPr>
            <a:r>
              <a:rPr lang="en-US" sz="2500" dirty="0">
                <a:latin typeface="Times New Roman" panose="02020603050405020304" pitchFamily="18" charset="0"/>
                <a:cs typeface="Times New Roman" panose="02020603050405020304" pitchFamily="18" charset="0"/>
              </a:rPr>
              <a:t>I am very interested in data science in the security field. Work includes anomaly detection through outlier analysis, analysis of various log files, and normalization through extraction. I also analyze data such as traffic and logs </a:t>
            </a:r>
            <a:r>
              <a:rPr lang="en-US" sz="2500">
                <a:latin typeface="Times New Roman" panose="02020603050405020304" pitchFamily="18" charset="0"/>
                <a:cs typeface="Times New Roman" panose="02020603050405020304" pitchFamily="18" charset="0"/>
              </a:rPr>
              <a:t>from various systems, such as EDR, IDS, and IPS.</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33997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759</TotalTime>
  <Words>407</Words>
  <Application>Microsoft Macintosh PowerPoint</Application>
  <PresentationFormat>Widescreen</PresentationFormat>
  <Paragraphs>45</Paragraphs>
  <Slides>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Calibri</vt:lpstr>
      <vt:lpstr>Times New Roman</vt:lpstr>
      <vt:lpstr>Office Theme</vt:lpstr>
      <vt:lpstr>Big Data analytics in oil and gas industry: An emerging trend</vt:lpstr>
      <vt:lpstr>Introduction</vt:lpstr>
      <vt:lpstr>Big data in upstream oil and gas industry</vt:lpstr>
      <vt:lpstr>Big data in downstream oil and gas industry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E3676</dc:creator>
  <cp:lastModifiedBy>E3676</cp:lastModifiedBy>
  <cp:revision>32</cp:revision>
  <dcterms:created xsi:type="dcterms:W3CDTF">2026-01-15T21:13:50Z</dcterms:created>
  <dcterms:modified xsi:type="dcterms:W3CDTF">2026-02-24T21:20:30Z</dcterms:modified>
</cp:coreProperties>
</file>