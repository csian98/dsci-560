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1"/>
  </p:sldMasterIdLst>
  <p:notesMasterIdLst>
    <p:notesMasterId r:id="rId7"/>
  </p:notesMasterIdLst>
  <p:sldIdLst>
    <p:sldId id="256" r:id="rId2"/>
    <p:sldId id="264" r:id="rId3"/>
    <p:sldId id="265" r:id="rId4"/>
    <p:sldId id="266" r:id="rId5"/>
    <p:sldId id="26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1185"/>
    <p:restoredTop sz="94586"/>
  </p:normalViewPr>
  <p:slideViewPr>
    <p:cSldViewPr snapToGrid="0">
      <p:cViewPr varScale="1">
        <p:scale>
          <a:sx n="42" d="100"/>
          <a:sy n="42" d="100"/>
        </p:scale>
        <p:origin x="200" y="2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F9086-7082-AA46-9988-42215D21A4B7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0BE4AC-5BFD-CD49-A33F-856D3B15A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411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0BE4AC-5BFD-CD49-A33F-856D3B15AB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69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47740-53AE-999F-F087-01BBD6FC28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1FD06-2C85-9BA8-A246-168258A9E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54390-64AB-E999-0080-CE6D04D5D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7A513-015C-7615-9F51-0D9375939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45EDB-6907-4099-9B28-AAF1061A1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165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729E9-D75F-3103-F66A-9A15DE77F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5E4F5-F66D-8845-4FD2-CFE15F876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56C42-4E2F-3995-6891-82FA6B0F0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F9815-9298-DE85-E1F3-01A2717A6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E2E26-5F64-D0EC-DE24-90AD75B7D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8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5E30D-605E-9214-D178-6C3CB8D4B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4910E-4CE5-0FC1-F778-1F683F555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29711-B1BE-9836-3020-1A3A4F501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34A8D-CE4E-772F-B618-4390648B1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42F58-706C-950E-1FBA-66829EC33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530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4583E-F174-5DB0-7B6F-25DB275A9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B0D45-CD3D-3BBB-7FD2-528C2FFD69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A511D-FB92-E1A6-1E8B-70CD584F9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F401D7-AAE4-4405-8FFE-2506B97A6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94708-2AA9-C924-DBA9-141931A61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C6BF4-F60D-2D92-F7FA-5E23BD58D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128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96CC9-CFA1-4FAC-8369-966027D64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79BD6-E835-43BC-E9E3-6E2A8F205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ACBDBA-AA2D-24CC-F32E-18F15E22DD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8858E4-6329-934C-18EC-27054BE6A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32A370-0DF6-039A-1E16-1F86B4210D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FCA003-E8C9-B423-1458-63B828502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C70835-A06E-6D36-DC57-3B24AC7ED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422D92-2310-E922-839D-23FB1ACEB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293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EFA88-7BC4-EBAA-50B3-9A4943CFA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A02B77-CB11-FA16-29BD-131442154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2E246-FEA9-D1F4-EBCB-0D2F9D495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D32579-7BB9-B6C0-820D-BE358A586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347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D778CF-9939-519F-4118-E372C81FB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E28893-F1F5-B741-1316-B2B4DEB9C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3C4A4-D1D8-7786-1BF7-1A0479AAE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05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ABF9-06D2-55BA-21BE-ACA064195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32970-687D-C1E1-BB1E-B6D84B231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92C19-6CE4-4855-7F02-642CF561A1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083F97-6F6E-1FB4-541E-D61B1FEC9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A99D6-274B-D6D4-D23D-9B35A1A1B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B1ADE2-F1A2-C4F3-C875-627759A2D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09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9FC01-70A5-D138-556B-CA939DEDA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EAF073-DBF6-8F9C-5E23-4CA07E6D6F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FF495B-916D-8B17-972E-B722E2376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2A4CAB-F190-CFEF-E873-2D5A9B8EB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70ED8C-E966-E3B9-2382-BB3128D4C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55CD15-5CC3-6746-CE63-465720F86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128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79153-FF0F-05FC-9E49-472E53963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428D08-AB36-2473-3CD9-6CF222772E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CC1D8-F5D0-4FDB-42B4-81D866908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42517-C6F1-1ED9-5EC6-078D07EE1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2B2E6-9102-C6EA-5508-7DB678C8D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08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6211AB-9717-3A26-5ABA-D2A602FF0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4B604-0A0B-3BD4-1E62-9C053A17C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53DB4-5088-7468-3B05-B793BFB38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0E0C7-68F4-2D05-6CB0-9E5FBEA4E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15230-7243-E83E-8D51-DF1CFF754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46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2A7A92-7DEF-6894-BE7B-D4968CB7D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0A311-FF23-6073-8F3C-AFF8DE5F7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ADE31-CEC7-F53D-0CFE-D8408245DE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2CDB-38B7-3DBA-E218-641B6E63A8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F833C-DDD8-3886-2686-0B98422157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6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E607CB-DF48-786D-0E8A-808D223F47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06" r="32159" b="6907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6447B-0BAC-33A7-A4CC-76785FFC9B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 of a low-cost, open source IoT system using ESP32 with OLED, ThingsBoard and MQTT protocol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0DF2F-C20B-4C20-7031-99284D69EC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>
              <a:spcBef>
                <a:spcPts val="600"/>
              </a:spcBef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Jeong Hoon Choi</a:t>
            </a:r>
          </a:p>
          <a:p>
            <a:pPr algn="l">
              <a:spcBef>
                <a:spcPts val="600"/>
              </a:spcBef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USCID: 5023184813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49F336A-D1F7-3086-AF5C-373BD260AF40}"/>
              </a:ext>
            </a:extLst>
          </p:cNvPr>
          <p:cNvSpPr txBox="1">
            <a:spLocks/>
          </p:cNvSpPr>
          <p:nvPr/>
        </p:nvSpPr>
        <p:spPr>
          <a:xfrm>
            <a:off x="8577143" y="6083300"/>
            <a:ext cx="3614857" cy="774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DSCI-560</a:t>
            </a:r>
          </a:p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Professional Practicum</a:t>
            </a:r>
          </a:p>
        </p:txBody>
      </p:sp>
    </p:spTree>
    <p:extLst>
      <p:ext uri="{BB962C8B-B14F-4D97-AF65-F5344CB8AC3E}">
        <p14:creationId xmlns:p14="http://schemas.microsoft.com/office/powerpoint/2010/main" val="3783206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EFFD0-5544-1387-C559-6E19C74BA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CE18A-E055-90C5-6085-A63399BCB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44" y="319293"/>
            <a:ext cx="10168128" cy="1179576"/>
          </a:xfrm>
        </p:spPr>
        <p:txBody>
          <a:bodyPr>
            <a:normAutofit/>
          </a:bodyPr>
          <a:lstStyle/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813DF7-06C7-8D54-9ECF-A0595641C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44" y="1270642"/>
            <a:ext cx="10610088" cy="43167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Interconnection of Renewable generation sources to generate and supply energy presents numerous challenges.</a:t>
            </a:r>
          </a:p>
          <a:p>
            <a:pPr marL="0" indent="0"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Diverse sensors, micro-controllers, micro-processor (MCU), actuators, valves, pumps, etc.</a:t>
            </a:r>
          </a:p>
          <a:p>
            <a:pPr marL="0" indent="0"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Supervisory Control and Data Acquisition (SCADA): telemetry and data acquisition</a:t>
            </a: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acquisition, Data presentation, Supervisory control, Networked data communication, Alarm processing, Historic data storage, data trending and reporting, and Remote monitoring.</a:t>
            </a:r>
          </a:p>
        </p:txBody>
      </p:sp>
    </p:spTree>
    <p:extLst>
      <p:ext uri="{BB962C8B-B14F-4D97-AF65-F5344CB8AC3E}">
        <p14:creationId xmlns:p14="http://schemas.microsoft.com/office/powerpoint/2010/main" val="912845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4339B-2C19-B1F3-8021-CE0CA3458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10C02-EF08-A2BB-CC63-A1D32387B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44" y="319293"/>
            <a:ext cx="10168128" cy="1179576"/>
          </a:xfrm>
        </p:spPr>
        <p:txBody>
          <a:bodyPr>
            <a:normAutofit/>
          </a:bodyPr>
          <a:lstStyle/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Technologies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878307-C5E7-2529-3034-D4B4733C8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360" y="1408386"/>
            <a:ext cx="10610088" cy="5130321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of Things (IoT)</a:t>
            </a:r>
          </a:p>
          <a:p>
            <a:pPr marL="0" indent="0">
              <a:buNone/>
            </a:pPr>
            <a:r>
              <a:rPr lang="en-US" altLang="ko-K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Three/Five-layer architectures</a:t>
            </a: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MQTT(Application) – TCP (Transport Layer) – IPv4 (Internet Layer) – IEEE 802.11 (Network Access Layer)</a:t>
            </a:r>
          </a:p>
          <a:p>
            <a:pPr>
              <a:buFontTx/>
              <a:buChar char="-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 Queuing Telemetry Transport (MQTT) Protocol</a:t>
            </a: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bytes fixed header -&gt; low bandwidths, low computational power, low memory, low battery usage.</a:t>
            </a: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Broker can serve several Subscribers and Publisher</a:t>
            </a: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of Service: three levels, reliable and suitable for IoT applications</a:t>
            </a:r>
          </a:p>
        </p:txBody>
      </p:sp>
    </p:spTree>
    <p:extLst>
      <p:ext uri="{BB962C8B-B14F-4D97-AF65-F5344CB8AC3E}">
        <p14:creationId xmlns:p14="http://schemas.microsoft.com/office/powerpoint/2010/main" val="3613012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E239C-332F-ABC0-E258-DEBC90D46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4034DD-471F-710F-3D92-13E12AEE1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3908" y="5097970"/>
            <a:ext cx="6429388" cy="17600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F304BD-52BA-6781-90A1-6BDAAA033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44" y="319293"/>
            <a:ext cx="10168128" cy="1179576"/>
          </a:xfrm>
        </p:spPr>
        <p:txBody>
          <a:bodyPr>
            <a:normAutofit/>
          </a:bodyPr>
          <a:lstStyle/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SCADA System Components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50B1AD-95EE-29A9-6D14-D138E98D3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360" y="1418897"/>
            <a:ext cx="10610088" cy="4929351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Sensors: MH Electronic Voltage Sensor modules (voltage sensor), ACS 712 Hall Effect Current Sensor (current sensor)</a:t>
            </a:r>
          </a:p>
          <a:p>
            <a:pPr>
              <a:buFontTx/>
              <a:buChar char="-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TTGO ESP32 LoRa32 OLED micro-controller (RTU): MQTT Client, measure real-time PV voltage and current values, display OLED, publishes to MQTT broker</a:t>
            </a:r>
          </a:p>
          <a:p>
            <a:pPr>
              <a:buFontTx/>
              <a:buChar char="-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single-board Computer: ThingsBoard IoT server (MQTT Broker)</a:t>
            </a:r>
          </a:p>
          <a:p>
            <a:pPr>
              <a:buFontTx/>
              <a:buChar char="-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Wi-Fi Router (TCP/IP Wi-Fi connection): wireless connection between MQTT Client (ESP32) to MQTT Broker (Raspberry Pi)</a:t>
            </a:r>
          </a:p>
          <a:p>
            <a:pPr>
              <a:buFontTx/>
              <a:buChar char="-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ThingsBoard local server IoT platform: Data collection, processing, visualization, and device management</a:t>
            </a:r>
          </a:p>
        </p:txBody>
      </p:sp>
    </p:spTree>
    <p:extLst>
      <p:ext uri="{BB962C8B-B14F-4D97-AF65-F5344CB8AC3E}">
        <p14:creationId xmlns:p14="http://schemas.microsoft.com/office/powerpoint/2010/main" val="3601996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6DC26-E66B-2A4E-3006-B9C0E0A78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51CD2D-D63D-1EF3-B0D1-E1182144A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194" y="830318"/>
            <a:ext cx="10610088" cy="49293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Question:</a:t>
            </a: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learned the importance of power in IoT. According to the paper, wireless routers consume a significant portion of total power. In reality, installing routers in certain IoT environments and establishing network communications can be challenging. What Solutions are available?</a:t>
            </a:r>
          </a:p>
          <a:p>
            <a:pPr marL="0" indent="0">
              <a:buNone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</a:t>
            </a:r>
          </a:p>
          <a:p>
            <a:pPr marL="0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research online and through ChatGPT suggests that cellular networks are used to transmit data in remote areas without Wi-Fi. Low power cellular networks like LT-M and NB-IoT can be used to transmit network packets to a hub using base station signals.</a:t>
            </a:r>
          </a:p>
        </p:txBody>
      </p:sp>
    </p:spTree>
    <p:extLst>
      <p:ext uri="{BB962C8B-B14F-4D97-AF65-F5344CB8AC3E}">
        <p14:creationId xmlns:p14="http://schemas.microsoft.com/office/powerpoint/2010/main" val="1033399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905</TotalTime>
  <Words>385</Words>
  <Application>Microsoft Macintosh PowerPoint</Application>
  <PresentationFormat>Widescreen</PresentationFormat>
  <Paragraphs>33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Times New Roman</vt:lpstr>
      <vt:lpstr>Office Theme</vt:lpstr>
      <vt:lpstr>Design and Implementation of a low-cost, open source IoT system using ESP32 with OLED, ThingsBoard and MQTT protocol</vt:lpstr>
      <vt:lpstr>Introduction</vt:lpstr>
      <vt:lpstr>Overview of Technologies</vt:lpstr>
      <vt:lpstr>SCADA System Components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E3676</dc:creator>
  <cp:lastModifiedBy>E3676</cp:lastModifiedBy>
  <cp:revision>33</cp:revision>
  <dcterms:created xsi:type="dcterms:W3CDTF">2026-01-15T21:13:50Z</dcterms:created>
  <dcterms:modified xsi:type="dcterms:W3CDTF">2026-03-02T22:34:49Z</dcterms:modified>
</cp:coreProperties>
</file>