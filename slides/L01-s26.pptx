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60" r:id="rId5"/>
    <p:sldId id="261" r:id="rId6"/>
    <p:sldId id="273" r:id="rId7"/>
    <p:sldId id="276" r:id="rId8"/>
    <p:sldId id="395" r:id="rId9"/>
    <p:sldId id="394" r:id="rId10"/>
    <p:sldId id="398" r:id="rId11"/>
    <p:sldId id="400" r:id="rId12"/>
    <p:sldId id="259" r:id="rId13"/>
    <p:sldId id="352" r:id="rId14"/>
    <p:sldId id="354" r:id="rId15"/>
    <p:sldId id="353" r:id="rId16"/>
    <p:sldId id="357" r:id="rId17"/>
    <p:sldId id="358" r:id="rId18"/>
    <p:sldId id="359" r:id="rId19"/>
    <p:sldId id="371" r:id="rId20"/>
    <p:sldId id="372" r:id="rId21"/>
    <p:sldId id="373" r:id="rId22"/>
    <p:sldId id="346" r:id="rId23"/>
    <p:sldId id="348" r:id="rId24"/>
    <p:sldId id="351" r:id="rId25"/>
    <p:sldId id="350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73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316DB9BA-70C5-4ABB-B92B-13EBDC6BABB9}" type="datetimeFigureOut">
              <a:rPr lang="en-US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393BA002-EF0E-4946-B97A-709A2C6D5C3E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US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2FE6162B-5A2E-4DAC-B6A2-3D5CFFDAC990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US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3022356E-7FB9-43F6-AB63-E9E66A1A80B5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/>
            <a:r>
              <a:rPr lang="en-US"/>
              <a:t>Key: usc2011</a:t>
            </a: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959A7208-0DA4-4DA0-8BA8-CE04CDECE5D2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US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4B5D59B1-30DC-473C-BE22-86D725C254FE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US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A1655F77-82BE-4F94-BDAB-3E2F11F45601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CA0B4B10-19C4-4D67-911D-742439B111E0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A2424-C5EB-374F-9F85-C1450A00B52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311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1157288" y="1344613"/>
            <a:ext cx="63500" cy="65087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305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353A2C-45BC-425C-A7FA-D02A53B4D951}" type="datetime1">
              <a:rPr lang="en-US"/>
              <a:t>1/13/2026</a:t>
            </a:fld>
            <a:endParaRPr lang="en-US"/>
          </a:p>
        </p:txBody>
      </p:sp>
      <p:sp>
        <p:nvSpPr>
          <p:cNvPr id="7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dirty="0"/>
              <a:t>Internet and Cloud Computing</a:t>
            </a:r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249F6-D59C-406C-95AA-1E0107A81FB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0F8221-013D-4592-A5BD-B9B1E110937F}" type="datetime1">
              <a:rPr lang="en-US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dirty="0"/>
              <a:t>Internet and Cloud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A60365-60CA-4F79-A9CD-04729198622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415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487DB2-E8C8-491F-8A4F-342F5D098457}" type="datetime1">
              <a:rPr lang="en-US"/>
              <a:t>1/13/2026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dirty="0"/>
              <a:t>Internet and Cloud Computing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7DF442-0BDC-4249-844D-0CD6260837D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B5634B-7CAD-46DC-AB18-149729295EDA}" type="datetime1">
              <a:rPr lang="en-US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dirty="0"/>
              <a:t>Internet and Cloud Computing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7F136D-DA88-4FBB-A193-EC9CC7B4CB7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/>
          <a:lstStyle>
            <a:lvl1pPr algn="ctr">
              <a:defRPr sz="4500" b="1"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CAA03E-8FE0-4EB8-95A9-8EBC5DDB2EE1}" type="datetime1">
              <a:rPr lang="en-US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dirty="0"/>
              <a:t>Internet and Cloud Computing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AE7C4C-94D6-43D4-98C6-0EADBAA7C3F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5C1AA4-7191-461E-A9F5-B9ADA3128719}" type="datetime1">
              <a:rPr lang="en-US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dirty="0"/>
              <a:t>Internet and Cloud Computing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4AF754-AAD5-4D06-B8C3-6923DA62BEB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4413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231291-F1E5-4427-910D-44D4401AD3F0}" type="datetime1">
              <a:rPr lang="en-US"/>
              <a:t>1/13/2026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dirty="0"/>
              <a:t>Internet and Cloud Computing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064BA3-F31B-403A-A4B3-BBCE32E33C5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AE8B6-A093-47BE-8B3F-18A76DE1F640}" type="datetime1">
              <a:rPr lang="en-US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dirty="0"/>
              <a:t>Internet and Cloud Computing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26BF1-E9CE-4951-BAA4-887242EAF96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tIns="274320">
            <a:normAutofit/>
          </a:bodyPr>
          <a:lstStyle/>
          <a:p>
            <a:pPr indent="-282575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  <a:defRPr/>
            </a:pPr>
            <a:endParaRPr lang="en-US" sz="3200">
              <a:latin typeface="Gill Sans MT" panose="020B0502020104020203" pitchFamily="34" charset="0"/>
            </a:endParaRPr>
          </a:p>
        </p:txBody>
      </p:sp>
      <p:sp>
        <p:nvSpPr>
          <p:cNvPr id="6" name="Flowchart: Process 5"/>
          <p:cNvSpPr/>
          <p:nvPr/>
        </p:nvSpPr>
        <p:spPr>
          <a:xfrm rot="19468671">
            <a:off x="396875" y="954088"/>
            <a:ext cx="685800" cy="204787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Flowchart: Process 6"/>
          <p:cNvSpPr/>
          <p:nvPr/>
        </p:nvSpPr>
        <p:spPr>
          <a:xfrm rot="2103354" flipH="1">
            <a:off x="5003800" y="936625"/>
            <a:ext cx="649288" cy="204788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tIns="274320">
            <a:normAutofit/>
          </a:bodyPr>
          <a:lstStyle>
            <a:lvl1pPr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99380E-78F7-4EBC-8311-ECB2596033FF}" type="datetime1">
              <a:rPr lang="en-US"/>
              <a:t>1/13/2026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dirty="0"/>
              <a:t>Internet and Cloud Computing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7561E-80FC-4267-B2A1-6538F4E95A8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D1CE2F-87D0-4817-B932-E3D2E0B02BAA}" type="datetime1">
              <a:rPr lang="en-US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dirty="0"/>
              <a:t>Internet and Cloud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7CE8C1-E671-4296-99BF-39584BFBBC3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981A1C-9E8D-484E-8823-023A56BBDC24}" type="datetime1">
              <a:rPr lang="en-US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dirty="0"/>
              <a:t>Internet and Cloud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999FD0-E52B-48D4-A9FA-6537B7F868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12825" y="0"/>
            <a:ext cx="813117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1435100" y="1447800"/>
            <a:ext cx="7499350" cy="4800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solidFill>
                  <a:srgbClr val="B5A788"/>
                </a:solidFill>
                <a:latin typeface="Gill Sans MT" panose="020B0502020104020203" pitchFamily="34" charset="0"/>
              </a:defRPr>
            </a:lvl1pPr>
          </a:lstStyle>
          <a:p>
            <a:pPr>
              <a:defRPr/>
            </a:pPr>
            <a:fld id="{5E17E49A-E3CA-473C-B8E1-720E475C6D68}" type="datetime1">
              <a:rPr lang="en-US"/>
              <a:t>1/13/2026</a:t>
            </a:fld>
            <a:endParaRPr lang="en-US">
              <a:solidFill>
                <a:srgbClr val="AAA393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2">
                    <a:shade val="50000"/>
                  </a:schemeClr>
                </a:solidFill>
                <a:effectLst/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Internet and Cloud Computing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solidFill>
                  <a:srgbClr val="B5A788"/>
                </a:solidFill>
                <a:latin typeface="Gill Sans MT" panose="020B0502020104020203" pitchFamily="34" charset="0"/>
              </a:defRPr>
            </a:lvl1pPr>
          </a:lstStyle>
          <a:p>
            <a:pPr>
              <a:defRPr/>
            </a:pPr>
            <a:fld id="{FFAF82B2-1256-4499-A410-7A62DCB2D244}" type="slidenum">
              <a:rPr lang="en-US"/>
              <a:t>‹#›</a:t>
            </a:fld>
            <a:endParaRPr lang="en-US">
              <a:solidFill>
                <a:srgbClr val="AAA393"/>
              </a:solidFill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3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anose="020B0502020104020203" pitchFamily="34" charset="0"/>
        </a:defRPr>
      </a:lvl9pPr>
    </p:titleStyle>
    <p:bodyStyle>
      <a:lvl1pPr marL="365125" indent="-282575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6855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5825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355" algn="l" rtl="0" eaLnBrk="0" fontAlgn="base" hangingPunct="0">
        <a:spcBef>
          <a:spcPct val="20000"/>
        </a:spcBef>
        <a:spcAft>
          <a:spcPct val="0"/>
        </a:spcAft>
        <a:buClr>
          <a:srgbClr val="C32D2E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7305" indent="-182880" algn="l" rtl="0" eaLnBrk="0" fontAlgn="base" hangingPunct="0">
        <a:spcBef>
          <a:spcPct val="20000"/>
        </a:spcBef>
        <a:spcAft>
          <a:spcPct val="0"/>
        </a:spcAft>
        <a:buClr>
          <a:srgbClr val="84AA33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894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42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sc.xlearnedu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pringsolutions.com/ispring-free-cam" TargetMode="External"/><Relationship Id="rId2" Type="http://schemas.openxmlformats.org/officeDocument/2006/relationships/hyperlink" Target="http://www.maartenbaert.be/simplescreenrecorder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etsharex.com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1925" y="360363"/>
            <a:ext cx="7407275" cy="1471612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>
                <a:solidFill>
                  <a:schemeClr val="tx2">
                    <a:satMod val="130000"/>
                  </a:schemeClr>
                </a:solidFill>
              </a:rPr>
              <a:t>DSCI-560</a:t>
            </a:r>
            <a:br>
              <a:rPr lang="en-US" sz="36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3600" dirty="0">
                <a:solidFill>
                  <a:schemeClr val="tx2">
                    <a:satMod val="130000"/>
                  </a:schemeClr>
                </a:solidFill>
              </a:rPr>
              <a:t>Lecture 1: Introduction</a:t>
            </a:r>
          </a:p>
        </p:txBody>
      </p:sp>
      <p:sp>
        <p:nvSpPr>
          <p:cNvPr id="13315" name="Subtitle 2"/>
          <p:cNvSpPr>
            <a:spLocks noGrp="1"/>
          </p:cNvSpPr>
          <p:nvPr>
            <p:ph type="subTitle" idx="1"/>
          </p:nvPr>
        </p:nvSpPr>
        <p:spPr>
          <a:xfrm>
            <a:off x="1431925" y="1849438"/>
            <a:ext cx="7407275" cy="1752600"/>
          </a:xfrm>
        </p:spPr>
        <p:txBody>
          <a:bodyPr/>
          <a:lstStyle/>
          <a:p>
            <a:pPr marL="27305" eaLnBrk="1" hangingPunct="1">
              <a:lnSpc>
                <a:spcPct val="80000"/>
              </a:lnSpc>
            </a:pPr>
            <a:r>
              <a:rPr lang="en-US" dirty="0">
                <a:solidFill>
                  <a:srgbClr val="320E04"/>
                </a:solidFill>
              </a:rPr>
              <a:t>Data Science Professional Practicum</a:t>
            </a:r>
          </a:p>
          <a:p>
            <a:pPr marL="27305" eaLnBrk="1" hangingPunct="1">
              <a:lnSpc>
                <a:spcPct val="80000"/>
              </a:lnSpc>
            </a:pPr>
            <a:endParaRPr lang="en-US" sz="2000" dirty="0">
              <a:solidFill>
                <a:srgbClr val="320E04"/>
              </a:solidFill>
            </a:endParaRPr>
          </a:p>
          <a:p>
            <a:pPr marL="27305" eaLnBrk="1" hangingPunct="1">
              <a:lnSpc>
                <a:spcPct val="80000"/>
              </a:lnSpc>
            </a:pPr>
            <a:r>
              <a:rPr lang="en-US" sz="2000" dirty="0">
                <a:solidFill>
                  <a:srgbClr val="320E04"/>
                </a:solidFill>
              </a:rPr>
              <a:t>Young Cho</a:t>
            </a:r>
          </a:p>
          <a:p>
            <a:pPr marL="27305" eaLnBrk="1" hangingPunct="1">
              <a:lnSpc>
                <a:spcPct val="80000"/>
              </a:lnSpc>
            </a:pPr>
            <a:r>
              <a:rPr lang="en-US" sz="2000" dirty="0">
                <a:solidFill>
                  <a:srgbClr val="320E04"/>
                </a:solidFill>
              </a:rPr>
              <a:t>Department of Computer Science</a:t>
            </a:r>
          </a:p>
          <a:p>
            <a:pPr marL="27305" eaLnBrk="1" hangingPunct="1">
              <a:lnSpc>
                <a:spcPct val="80000"/>
              </a:lnSpc>
            </a:pPr>
            <a:r>
              <a:rPr lang="en-US" sz="2000" dirty="0">
                <a:solidFill>
                  <a:srgbClr val="320E04"/>
                </a:solidFill>
              </a:rPr>
              <a:t>University of Southern California</a:t>
            </a:r>
          </a:p>
        </p:txBody>
      </p:sp>
      <p:sp>
        <p:nvSpPr>
          <p:cNvPr id="1331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766B5A8D-BAED-4C76-9A36-F42B3ECEC72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Goal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Solve A Real-World Problem</a:t>
            </a:r>
          </a:p>
          <a:p>
            <a:pPr lvl="1" eaLnBrk="1" hangingPunct="1"/>
            <a:r>
              <a:rPr lang="en-US" sz="2000" dirty="0"/>
              <a:t>Identify A Real-World Problem</a:t>
            </a:r>
          </a:p>
          <a:p>
            <a:pPr lvl="1" eaLnBrk="1" hangingPunct="1"/>
            <a:r>
              <a:rPr lang="en-US" sz="2000" dirty="0"/>
              <a:t>Plan Your Approach with Milestones</a:t>
            </a:r>
          </a:p>
          <a:p>
            <a:pPr lvl="1" eaLnBrk="1" hangingPunct="1"/>
            <a:r>
              <a:rPr lang="en-US" sz="2000" dirty="0"/>
              <a:t>Implement Your Solution</a:t>
            </a:r>
          </a:p>
          <a:p>
            <a:pPr lvl="1" eaLnBrk="1" hangingPunct="1"/>
            <a:r>
              <a:rPr lang="en-US" sz="2000" dirty="0"/>
              <a:t>Demonstrate/Evaluate Your Solution</a:t>
            </a:r>
          </a:p>
          <a:p>
            <a:pPr lvl="1" eaLnBrk="1" hangingPunct="1"/>
            <a:r>
              <a:rPr lang="en-US" sz="2000" dirty="0"/>
              <a:t>Present Your Solution</a:t>
            </a:r>
          </a:p>
          <a:p>
            <a:pPr eaLnBrk="1" hangingPunct="1"/>
            <a:r>
              <a:rPr lang="en-US" sz="2800" dirty="0"/>
              <a:t>Implementing Solution</a:t>
            </a:r>
          </a:p>
          <a:p>
            <a:pPr lvl="1" eaLnBrk="1" hangingPunct="1"/>
            <a:r>
              <a:rPr lang="en-US" sz="2000" dirty="0"/>
              <a:t>Plan your Approach with Mitigation Plan</a:t>
            </a:r>
          </a:p>
          <a:p>
            <a:pPr lvl="1" eaLnBrk="1" hangingPunct="1"/>
            <a:r>
              <a:rPr lang="en-US" sz="2000" dirty="0"/>
              <a:t>A Milestone at a Time</a:t>
            </a:r>
          </a:p>
          <a:p>
            <a:pPr lvl="1" eaLnBrk="1" hangingPunct="1"/>
            <a:r>
              <a:rPr lang="en-US" sz="2000" dirty="0"/>
              <a:t>Document Your System</a:t>
            </a:r>
          </a:p>
          <a:p>
            <a:pPr eaLnBrk="1" hangingPunct="1"/>
            <a:r>
              <a:rPr lang="en-US" sz="2800" dirty="0"/>
              <a:t>No Time to Waste</a:t>
            </a:r>
          </a:p>
        </p:txBody>
      </p:sp>
      <p:sp>
        <p:nvSpPr>
          <p:cNvPr id="14340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7BF2B548-D04D-4C40-A916-F7174D8303D4}" type="datetime1">
              <a:rPr lang="en-US" smtClean="0"/>
              <a:t>1/13/2026</a:t>
            </a:fld>
            <a:endParaRPr lang="en-US"/>
          </a:p>
        </p:txBody>
      </p:sp>
      <p:sp>
        <p:nvSpPr>
          <p:cNvPr id="14341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EE345BA3-E64E-4780-827A-2206C82A53DA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Logistics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/>
              <a:t>Lectures</a:t>
            </a:r>
          </a:p>
          <a:p>
            <a:pPr lvl="1" eaLnBrk="1" hangingPunct="1"/>
            <a:r>
              <a:rPr lang="en-US" sz="2000" dirty="0"/>
              <a:t>Tuesday and Thursday at 9 AM - 10:50 AM</a:t>
            </a:r>
          </a:p>
          <a:p>
            <a:pPr lvl="1" eaLnBrk="1" hangingPunct="1"/>
            <a:r>
              <a:rPr lang="en-US" sz="2000" dirty="0"/>
              <a:t>Attendance is Mandatory</a:t>
            </a:r>
          </a:p>
          <a:p>
            <a:pPr lvl="1" eaLnBrk="1" hangingPunct="1"/>
            <a:r>
              <a:rPr lang="en-US" sz="2000" dirty="0"/>
              <a:t>Check IN and Check OUT</a:t>
            </a:r>
          </a:p>
          <a:p>
            <a:pPr eaLnBrk="1" hangingPunct="1"/>
            <a:r>
              <a:rPr lang="en-US" sz="2400" dirty="0"/>
              <a:t>Instructor: Young Cho</a:t>
            </a:r>
          </a:p>
          <a:p>
            <a:pPr eaLnBrk="1" hangingPunct="1"/>
            <a:r>
              <a:rPr lang="en-US" sz="2400" dirty="0"/>
              <a:t>Teaching Assistant:  TBD</a:t>
            </a:r>
          </a:p>
          <a:p>
            <a:pPr eaLnBrk="1" hangingPunct="1"/>
            <a:r>
              <a:rPr lang="en-US" sz="2400" dirty="0"/>
              <a:t>Web Site: </a:t>
            </a:r>
            <a:r>
              <a:rPr lang="en-US" sz="2400" dirty="0" err="1"/>
              <a:t>Coursistant</a:t>
            </a:r>
            <a:endParaRPr lang="en-US" sz="2400" dirty="0"/>
          </a:p>
          <a:p>
            <a:pPr lvl="1" eaLnBrk="1" hangingPunct="1"/>
            <a:r>
              <a:rPr lang="en-US" sz="2000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https://usc.xlearnedu.com</a:t>
            </a:r>
            <a:endParaRPr lang="en-US" sz="2000" dirty="0">
              <a:solidFill>
                <a:srgbClr val="FF0000"/>
              </a:solidFill>
            </a:endParaRPr>
          </a:p>
          <a:p>
            <a:pPr lvl="1" eaLnBrk="1" hangingPunct="1"/>
            <a:r>
              <a:rPr lang="en-US" sz="2000" dirty="0"/>
              <a:t>Please log in for the assignments, announcements, and Q&amp;A</a:t>
            </a:r>
          </a:p>
          <a:p>
            <a:pPr lvl="1" eaLnBrk="1" hangingPunct="1"/>
            <a:r>
              <a:rPr lang="en-US" sz="2000" dirty="0"/>
              <a:t>Select Forgot Password</a:t>
            </a:r>
          </a:p>
        </p:txBody>
      </p:sp>
      <p:sp>
        <p:nvSpPr>
          <p:cNvPr id="15364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3FBAF593-A766-495F-B822-C5C6EF66F2AE}" type="datetime1">
              <a:rPr lang="en-US" smtClean="0"/>
              <a:t>1/13/2026</a:t>
            </a:fld>
            <a:endParaRPr lang="en-US"/>
          </a:p>
        </p:txBody>
      </p:sp>
      <p:sp>
        <p:nvSpPr>
          <p:cNvPr id="15365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90C3CE54-9A2F-4097-8CDE-B12BC003C4E4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Grading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Attendance</a:t>
            </a:r>
          </a:p>
          <a:p>
            <a:pPr eaLnBrk="1" hangingPunct="1"/>
            <a:r>
              <a:rPr lang="en-US" dirty="0"/>
              <a:t>Reading Assignment</a:t>
            </a:r>
          </a:p>
          <a:p>
            <a:pPr eaLnBrk="1" hangingPunct="1"/>
            <a:r>
              <a:rPr lang="en-US" dirty="0"/>
              <a:t>Laboratory Assignments</a:t>
            </a:r>
          </a:p>
          <a:p>
            <a:pPr eaLnBrk="1" hangingPunct="1"/>
            <a:r>
              <a:rPr lang="en-US" dirty="0"/>
              <a:t>Final Project</a:t>
            </a:r>
          </a:p>
        </p:txBody>
      </p:sp>
      <p:sp>
        <p:nvSpPr>
          <p:cNvPr id="17412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04D748A-6ABB-41B8-B766-95CE6A58583B}" type="datetime1">
              <a:rPr lang="en-US" smtClean="0"/>
              <a:t>1/13/2026</a:t>
            </a:fld>
            <a:endParaRPr lang="en-US"/>
          </a:p>
        </p:txBody>
      </p:sp>
      <p:sp>
        <p:nvSpPr>
          <p:cNvPr id="17413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1203B5D1-0743-4F62-819F-F4D6B6A4FFEC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Project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Laboratory Assignment</a:t>
            </a:r>
          </a:p>
          <a:p>
            <a:pPr lvl="1" eaLnBrk="1" hangingPunct="1"/>
            <a:r>
              <a:rPr lang="en-US" sz="2400" dirty="0"/>
              <a:t>Individual or Team</a:t>
            </a:r>
          </a:p>
          <a:p>
            <a:pPr lvl="1" eaLnBrk="1" hangingPunct="1"/>
            <a:r>
              <a:rPr lang="en-US" sz="2400"/>
              <a:t>YouTube </a:t>
            </a:r>
            <a:r>
              <a:rPr lang="en-US" sz="2400" dirty="0"/>
              <a:t>Video Recordings</a:t>
            </a:r>
          </a:p>
          <a:p>
            <a:pPr eaLnBrk="1" hangingPunct="1"/>
            <a:r>
              <a:rPr lang="en-US" sz="2800" dirty="0"/>
              <a:t>Tools</a:t>
            </a:r>
          </a:p>
          <a:p>
            <a:pPr lvl="1" eaLnBrk="1" hangingPunct="1"/>
            <a:r>
              <a:rPr lang="en-US" sz="2400" dirty="0"/>
              <a:t>VMWare</a:t>
            </a:r>
          </a:p>
          <a:p>
            <a:pPr lvl="1" eaLnBrk="1" hangingPunct="1"/>
            <a:r>
              <a:rPr lang="en-US" sz="2400" dirty="0"/>
              <a:t>Linux Tools</a:t>
            </a:r>
          </a:p>
          <a:p>
            <a:pPr lvl="1" eaLnBrk="1" hangingPunct="1"/>
            <a:r>
              <a:rPr lang="en-US" sz="2400" dirty="0"/>
              <a:t>Database</a:t>
            </a:r>
          </a:p>
          <a:p>
            <a:pPr lvl="1" eaLnBrk="1" hangingPunct="1"/>
            <a:r>
              <a:rPr lang="en-US" sz="2400" dirty="0"/>
              <a:t>Amazon Web Services</a:t>
            </a:r>
          </a:p>
          <a:p>
            <a:pPr lvl="1" eaLnBrk="1" hangingPunct="1"/>
            <a:r>
              <a:rPr lang="en-US" sz="2400" dirty="0"/>
              <a:t>Google Cloud</a:t>
            </a:r>
          </a:p>
          <a:p>
            <a:pPr lvl="1" eaLnBrk="1" hangingPunct="1"/>
            <a:r>
              <a:rPr lang="en-US" sz="2400" dirty="0"/>
              <a:t>GitHub</a:t>
            </a:r>
          </a:p>
        </p:txBody>
      </p:sp>
      <p:sp>
        <p:nvSpPr>
          <p:cNvPr id="18436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218B04CC-844F-48BA-95BE-B2556C989AB1}" type="datetime1">
              <a:rPr lang="en-US" smtClean="0"/>
              <a:t>1/13/2026</a:t>
            </a:fld>
            <a:endParaRPr lang="en-US"/>
          </a:p>
        </p:txBody>
      </p:sp>
      <p:sp>
        <p:nvSpPr>
          <p:cNvPr id="1843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F43DB752-AC42-40C4-B907-95C7D957CDD6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Online Course Tools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en-US" sz="2800" dirty="0"/>
              <a:t>Brightspace</a:t>
            </a:r>
          </a:p>
          <a:p>
            <a:pPr lvl="1"/>
            <a:r>
              <a:rPr lang="en-US" sz="2400" dirty="0"/>
              <a:t>Announcements</a:t>
            </a:r>
          </a:p>
          <a:p>
            <a:pPr lvl="1"/>
            <a:r>
              <a:rPr lang="en-US" sz="2400" dirty="0"/>
              <a:t>Laboratory Assignments</a:t>
            </a:r>
          </a:p>
          <a:p>
            <a:pPr lvl="1"/>
            <a:r>
              <a:rPr lang="en-US" sz="2400" dirty="0"/>
              <a:t>Reading Assignments</a:t>
            </a:r>
          </a:p>
          <a:p>
            <a:r>
              <a:rPr lang="en-US" sz="2800" dirty="0"/>
              <a:t>Piazza for Q&amp;A</a:t>
            </a:r>
          </a:p>
          <a:p>
            <a:pPr lvl="1"/>
            <a:r>
              <a:rPr lang="en-US" sz="2400" dirty="0"/>
              <a:t>Post all of your questions and answers</a:t>
            </a:r>
          </a:p>
          <a:p>
            <a:pPr lvl="1"/>
            <a:r>
              <a:rPr lang="en-US" sz="2400" dirty="0" err="1"/>
              <a:t>Coursistant</a:t>
            </a:r>
            <a:r>
              <a:rPr lang="en-US" sz="2400" dirty="0"/>
              <a:t> will answer as quickly as possible</a:t>
            </a:r>
          </a:p>
          <a:p>
            <a:pPr lvl="1"/>
            <a:r>
              <a:rPr lang="en-US" sz="2400" dirty="0"/>
              <a:t>Most of the time, it will give you sufficient assistant</a:t>
            </a:r>
          </a:p>
          <a:p>
            <a:pPr lvl="1"/>
            <a:r>
              <a:rPr lang="en-US" sz="2400" dirty="0"/>
              <a:t>However, it is still learning and sometimes needs corrections</a:t>
            </a:r>
          </a:p>
          <a:p>
            <a:pPr lvl="1"/>
            <a:endParaRPr lang="en-US" sz="2400" dirty="0"/>
          </a:p>
        </p:txBody>
      </p:sp>
      <p:sp>
        <p:nvSpPr>
          <p:cNvPr id="28676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FE1346DA-1F7F-4EA3-ABEE-CE78F506D161}" type="datetime1">
              <a:rPr lang="en-US" smtClean="0"/>
              <a:t>1/13/2026</a:t>
            </a:fld>
            <a:endParaRPr lang="en-US"/>
          </a:p>
        </p:txBody>
      </p:sp>
      <p:sp>
        <p:nvSpPr>
          <p:cNvPr id="2867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82E47C36-3D08-4152-A8D7-5C215BDDD58A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Laboratory Assignments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>
                <a:sym typeface="+mn-ea"/>
              </a:rPr>
              <a:t>Submit Archive of Laboratory Results</a:t>
            </a:r>
          </a:p>
          <a:p>
            <a:pPr lvl="1"/>
            <a:r>
              <a:rPr lang="en-US" sz="2000" dirty="0">
                <a:sym typeface="+mn-ea"/>
              </a:rPr>
              <a:t>Report with Snapshots and Results</a:t>
            </a:r>
          </a:p>
          <a:p>
            <a:pPr lvl="1"/>
            <a:r>
              <a:rPr lang="en-US" sz="2000" dirty="0">
                <a:sym typeface="+mn-ea"/>
              </a:rPr>
              <a:t>Source Code and README instructions for code</a:t>
            </a:r>
          </a:p>
          <a:p>
            <a:pPr lvl="1"/>
            <a:r>
              <a:rPr lang="en-US" sz="2000" dirty="0">
                <a:sym typeface="+mn-ea"/>
              </a:rPr>
              <a:t>Usually Saturday 11:59 PM</a:t>
            </a:r>
            <a:endParaRPr lang="en-US" sz="2000" dirty="0"/>
          </a:p>
          <a:p>
            <a:pPr lvl="0"/>
            <a:r>
              <a:rPr lang="en-US" sz="2400" dirty="0"/>
              <a:t>YouTube demonstration video</a:t>
            </a:r>
          </a:p>
          <a:p>
            <a:pPr lvl="1"/>
            <a:r>
              <a:rPr lang="en-US" sz="2000" dirty="0"/>
              <a:t>Usually, the following Monday 11:59 PM</a:t>
            </a:r>
          </a:p>
          <a:p>
            <a:r>
              <a:rPr lang="en-US" sz="2400" dirty="0"/>
              <a:t>Scoring</a:t>
            </a:r>
          </a:p>
          <a:p>
            <a:pPr lvl="1"/>
            <a:r>
              <a:rPr lang="en-US" sz="2000" dirty="0">
                <a:sym typeface="+mn-ea"/>
              </a:rPr>
              <a:t>On-time Submissions (no exceptions)</a:t>
            </a:r>
            <a:endParaRPr lang="en-US" sz="2000" dirty="0"/>
          </a:p>
          <a:p>
            <a:pPr lvl="1"/>
            <a:r>
              <a:rPr lang="en-US" sz="2000" dirty="0">
                <a:sym typeface="+mn-ea"/>
              </a:rPr>
              <a:t>Multiplied by 1.0 if on-time</a:t>
            </a:r>
            <a:endParaRPr lang="en-US" sz="2000" dirty="0"/>
          </a:p>
          <a:p>
            <a:pPr lvl="1"/>
            <a:r>
              <a:rPr lang="en-US" sz="2000" dirty="0">
                <a:sym typeface="+mn-ea"/>
              </a:rPr>
              <a:t>Multiplied by 0.5 if late</a:t>
            </a:r>
            <a:endParaRPr lang="en-US" sz="2000" dirty="0"/>
          </a:p>
          <a:p>
            <a:pPr lvl="1"/>
            <a:r>
              <a:rPr lang="en-US" sz="2000" dirty="0">
                <a:sym typeface="+mn-ea"/>
              </a:rPr>
              <a:t>Demonstration Videos on YouTube</a:t>
            </a:r>
            <a:endParaRPr lang="en-US" sz="2000" dirty="0"/>
          </a:p>
          <a:p>
            <a:pPr lvl="1"/>
            <a:r>
              <a:rPr lang="en-US" sz="2000" dirty="0">
                <a:sym typeface="+mn-ea"/>
              </a:rPr>
              <a:t>Internet Accessible Link to the Archive (ZIP) of all</a:t>
            </a:r>
            <a:endParaRPr lang="en-US" sz="2000" dirty="0"/>
          </a:p>
          <a:p>
            <a:pPr lvl="0"/>
            <a:endParaRPr lang="en-US" sz="2000" dirty="0"/>
          </a:p>
          <a:p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80F8221-013D-4592-A5BD-B9B1E110937F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A60365-60CA-4F79-A9CD-04729198622E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Incorporating Videos in Presentation/Demo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/>
              <a:t>Use Smartphone Camera</a:t>
            </a:r>
          </a:p>
          <a:p>
            <a:pPr lvl="1"/>
            <a:r>
              <a:rPr lang="en-US" sz="2100" dirty="0"/>
              <a:t>Capture your audio and video</a:t>
            </a:r>
          </a:p>
          <a:p>
            <a:pPr lvl="1"/>
            <a:r>
              <a:rPr lang="en-US" sz="2100" dirty="0"/>
              <a:t>Prove your work/progress</a:t>
            </a:r>
          </a:p>
          <a:p>
            <a:pPr lvl="0"/>
            <a:r>
              <a:rPr lang="en-US" sz="2400" dirty="0"/>
              <a:t>Screen Capture Software</a:t>
            </a:r>
            <a:endParaRPr lang="en-US" sz="2400" dirty="0">
              <a:hlinkClick r:id="rId2"/>
            </a:endParaRPr>
          </a:p>
          <a:p>
            <a:pPr lvl="1"/>
            <a:r>
              <a:rPr lang="en-US" sz="2100" dirty="0">
                <a:hlinkClick r:id="rId2"/>
              </a:rPr>
              <a:t>http://www.maartenbaert.be/simplescreenrecorder/</a:t>
            </a:r>
            <a:endParaRPr lang="en-US" sz="2100" dirty="0"/>
          </a:p>
          <a:p>
            <a:pPr lvl="1"/>
            <a:r>
              <a:rPr lang="en-US" sz="2100" dirty="0">
                <a:hlinkClick r:id="rId3"/>
              </a:rPr>
              <a:t>https://www.ispringsolutions.com/ispring-free-cam</a:t>
            </a:r>
            <a:endParaRPr lang="en-US" sz="2100" dirty="0"/>
          </a:p>
          <a:p>
            <a:pPr lvl="1"/>
            <a:r>
              <a:rPr lang="en-US" sz="2100" dirty="0">
                <a:hlinkClick r:id="rId4"/>
              </a:rPr>
              <a:t>https://getsharex.com/</a:t>
            </a:r>
            <a:endParaRPr lang="en-US" sz="2100" dirty="0"/>
          </a:p>
          <a:p>
            <a:pPr lvl="1"/>
            <a:r>
              <a:rPr lang="en-US" sz="2100" dirty="0"/>
              <a:t>Or other screen capture software</a:t>
            </a:r>
          </a:p>
          <a:p>
            <a:pPr lvl="0"/>
            <a:r>
              <a:rPr lang="en-US" sz="2400" dirty="0"/>
              <a:t>Content</a:t>
            </a:r>
          </a:p>
          <a:p>
            <a:pPr lvl="1"/>
            <a:r>
              <a:rPr lang="en-US" sz="2100" dirty="0"/>
              <a:t>Capture essential steps with result narrative</a:t>
            </a:r>
          </a:p>
          <a:p>
            <a:pPr lvl="1"/>
            <a:r>
              <a:rPr lang="en-US" sz="2100" dirty="0"/>
              <a:t>Show the completed result of the Lab</a:t>
            </a:r>
          </a:p>
          <a:p>
            <a:pPr lvl="1"/>
            <a:r>
              <a:rPr lang="en-US" sz="2100" dirty="0"/>
              <a:t>Include </a:t>
            </a:r>
            <a:r>
              <a:rPr lang="en-US" sz="2100" dirty="0" err="1"/>
              <a:t>Powerpoint</a:t>
            </a:r>
            <a:r>
              <a:rPr lang="en-US" sz="2100" dirty="0"/>
              <a:t> Slides for diagrams and tables, if needed</a:t>
            </a:r>
          </a:p>
          <a:p>
            <a:pPr marL="82550" indent="0">
              <a:buNone/>
            </a:pP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80F8221-013D-4592-A5BD-B9B1E110937F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A60365-60CA-4F79-A9CD-04729198622E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Reading Assignments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About 10 Assignments</a:t>
            </a:r>
          </a:p>
          <a:p>
            <a:pPr lvl="1"/>
            <a:r>
              <a:rPr lang="en-US" sz="2400" dirty="0"/>
              <a:t>Submit Summary Slides on Blackboard</a:t>
            </a:r>
          </a:p>
          <a:p>
            <a:r>
              <a:rPr lang="en-US" sz="2800" dirty="0"/>
              <a:t>Summary PowerPoint Slides</a:t>
            </a:r>
          </a:p>
          <a:p>
            <a:pPr lvl="1"/>
            <a:r>
              <a:rPr lang="en-US" sz="2400" dirty="0"/>
              <a:t>Summary slides of your understanding</a:t>
            </a:r>
          </a:p>
          <a:p>
            <a:pPr lvl="1"/>
            <a:r>
              <a:rPr lang="en-US" sz="2400" dirty="0"/>
              <a:t>At least one hand-drawn diagram</a:t>
            </a:r>
          </a:p>
          <a:p>
            <a:pPr lvl="1"/>
            <a:r>
              <a:rPr lang="en-US" sz="2400" dirty="0"/>
              <a:t>Summary tables, if possible</a:t>
            </a:r>
          </a:p>
          <a:p>
            <a:pPr lvl="1"/>
            <a:r>
              <a:rPr lang="en-US" sz="2400" dirty="0"/>
              <a:t>Create an intelligent Quiz Question and Answer for the paper</a:t>
            </a:r>
          </a:p>
          <a:p>
            <a:pPr lvl="1"/>
            <a:r>
              <a:rPr lang="en-US" sz="2400" dirty="0"/>
              <a:t>Usually, Due Tuesdays at 11:59 PM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80F8221-013D-4592-A5BD-B9B1E110937F}" type="datetime1">
              <a:rPr lang="en-US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Internet and Cloud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A60365-60CA-4F79-A9CD-04729198622E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D7F15-2974-B641-B548-A35108375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ACDEA3-F52A-CE42-8457-6FE1DDDAA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Apply principles studied in Data Informatics curriculum towards a real-world challenge</a:t>
            </a:r>
          </a:p>
          <a:p>
            <a:r>
              <a:rPr lang="en-US" sz="2800" dirty="0"/>
              <a:t>Understand the requirements and objectives of clients, how these vary, and how one must tailor a solution to the expectations of a customer.</a:t>
            </a:r>
          </a:p>
          <a:p>
            <a:r>
              <a:rPr lang="en-US" sz="2800" dirty="0"/>
              <a:t>Work in a team to accomplish a common goal</a:t>
            </a:r>
          </a:p>
          <a:p>
            <a:r>
              <a:rPr lang="en-US" sz="2800" dirty="0"/>
              <a:t>Meet aggressive deadlines in a team effort</a:t>
            </a:r>
          </a:p>
          <a:p>
            <a:r>
              <a:rPr lang="en-US" sz="2800" dirty="0"/>
              <a:t>Improve project-based presentation skills</a:t>
            </a:r>
          </a:p>
          <a:p>
            <a:r>
              <a:rPr lang="en-US" sz="2800" dirty="0"/>
              <a:t>Present and sell ideas to high-level management</a:t>
            </a:r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endParaRPr lang="en-US" sz="4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883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E6AA37B-B292-864C-8370-8661396792C4}"/>
              </a:ext>
            </a:extLst>
          </p:cNvPr>
          <p:cNvSpPr/>
          <p:nvPr/>
        </p:nvSpPr>
        <p:spPr>
          <a:xfrm>
            <a:off x="379585" y="1752600"/>
            <a:ext cx="4796146" cy="4375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A1D4CFB-5394-504F-B565-DFED670BC24D}"/>
              </a:ext>
            </a:extLst>
          </p:cNvPr>
          <p:cNvSpPr/>
          <p:nvPr/>
        </p:nvSpPr>
        <p:spPr>
          <a:xfrm>
            <a:off x="3352800" y="1752600"/>
            <a:ext cx="5392110" cy="4375350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C40ECC-9B34-3245-97E2-830629FB6446}"/>
              </a:ext>
            </a:extLst>
          </p:cNvPr>
          <p:cNvSpPr txBox="1"/>
          <p:nvPr/>
        </p:nvSpPr>
        <p:spPr>
          <a:xfrm>
            <a:off x="572658" y="3141027"/>
            <a:ext cx="25814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Data Science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Field focused on methods for extracting knowledge and insights from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EBC539-36A5-7D49-AD03-FD0722530276}"/>
              </a:ext>
            </a:extLst>
          </p:cNvPr>
          <p:cNvSpPr txBox="1"/>
          <p:nvPr/>
        </p:nvSpPr>
        <p:spPr>
          <a:xfrm>
            <a:off x="4902674" y="1954300"/>
            <a:ext cx="25814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Artificial intelligence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Methods for computers to perform human tasks</a:t>
            </a:r>
          </a:p>
          <a:p>
            <a:pPr algn="ctr"/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0931C71-1FAC-D846-B852-EF8F5761BBBD}"/>
              </a:ext>
            </a:extLst>
          </p:cNvPr>
          <p:cNvSpPr/>
          <p:nvPr/>
        </p:nvSpPr>
        <p:spPr>
          <a:xfrm>
            <a:off x="3378826" y="2917138"/>
            <a:ext cx="3046273" cy="2283106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B8734F-DF1D-AD40-803E-0CBA6006C08C}"/>
              </a:ext>
            </a:extLst>
          </p:cNvPr>
          <p:cNvSpPr txBox="1"/>
          <p:nvPr/>
        </p:nvSpPr>
        <p:spPr>
          <a:xfrm>
            <a:off x="3659158" y="3206758"/>
            <a:ext cx="25814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Machine Learning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Mathematical models to learn from data</a:t>
            </a:r>
          </a:p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D516140-0283-9C4D-8041-3F0B340A04E7}"/>
              </a:ext>
            </a:extLst>
          </p:cNvPr>
          <p:cNvSpPr/>
          <p:nvPr/>
        </p:nvSpPr>
        <p:spPr>
          <a:xfrm>
            <a:off x="4108584" y="3906604"/>
            <a:ext cx="1682605" cy="12046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8849A9-210E-E648-BFFC-8C61F3DAD56C}"/>
              </a:ext>
            </a:extLst>
          </p:cNvPr>
          <p:cNvSpPr txBox="1"/>
          <p:nvPr/>
        </p:nvSpPr>
        <p:spPr>
          <a:xfrm>
            <a:off x="4151969" y="4130178"/>
            <a:ext cx="15892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Deep Learning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C060C21-86A6-8E4B-ACEC-D52E9A943FC5}"/>
              </a:ext>
            </a:extLst>
          </p:cNvPr>
          <p:cNvSpPr/>
          <p:nvPr/>
        </p:nvSpPr>
        <p:spPr>
          <a:xfrm>
            <a:off x="6484992" y="3095516"/>
            <a:ext cx="2200023" cy="166573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1B53AB-C243-A74F-B0B5-FB397543B545}"/>
              </a:ext>
            </a:extLst>
          </p:cNvPr>
          <p:cNvSpPr txBox="1"/>
          <p:nvPr/>
        </p:nvSpPr>
        <p:spPr>
          <a:xfrm>
            <a:off x="6699579" y="3249405"/>
            <a:ext cx="18104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Expert Systems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Operate autonomously with human-specified rules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F850D661-CDCE-74B1-FE7C-CB57F0939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Science</a:t>
            </a:r>
          </a:p>
        </p:txBody>
      </p:sp>
    </p:spTree>
    <p:extLst>
      <p:ext uri="{BB962C8B-B14F-4D97-AF65-F5344CB8AC3E}">
        <p14:creationId xmlns:p14="http://schemas.microsoft.com/office/powerpoint/2010/main" val="3300249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3" grpId="0" animBg="1"/>
      <p:bldP spid="7" grpId="0"/>
      <p:bldP spid="8" grpId="0" animBg="1"/>
      <p:bldP spid="9" grpId="0"/>
      <p:bldP spid="10" grpId="0" animBg="1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FE47A-ED40-3047-9513-7CBAD3503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 Pipeline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A30DA7-197C-A643-90C1-A5BF2B30B739}"/>
              </a:ext>
            </a:extLst>
          </p:cNvPr>
          <p:cNvSpPr/>
          <p:nvPr/>
        </p:nvSpPr>
        <p:spPr>
          <a:xfrm>
            <a:off x="486137" y="5310610"/>
            <a:ext cx="1380281" cy="5729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Define the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9FBEAD-1006-324F-A5BE-86110DB952D9}"/>
              </a:ext>
            </a:extLst>
          </p:cNvPr>
          <p:cNvSpPr/>
          <p:nvPr/>
        </p:nvSpPr>
        <p:spPr>
          <a:xfrm>
            <a:off x="486137" y="4504722"/>
            <a:ext cx="1380281" cy="572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Gather Data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6EB034-19CE-0742-81F4-D6EFE83E0917}"/>
              </a:ext>
            </a:extLst>
          </p:cNvPr>
          <p:cNvCxnSpPr>
            <a:stCxn id="4" idx="0"/>
            <a:endCxn id="5" idx="2"/>
          </p:cNvCxnSpPr>
          <p:nvPr/>
        </p:nvCxnSpPr>
        <p:spPr>
          <a:xfrm flipV="1">
            <a:off x="1176278" y="5077669"/>
            <a:ext cx="0" cy="2329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9D2A339-D976-2E45-BAC0-90A655E8F570}"/>
              </a:ext>
            </a:extLst>
          </p:cNvPr>
          <p:cNvSpPr txBox="1"/>
          <p:nvPr/>
        </p:nvSpPr>
        <p:spPr>
          <a:xfrm>
            <a:off x="2286000" y="3600341"/>
            <a:ext cx="31569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Tx/>
              <a:buChar char="-"/>
            </a:pPr>
            <a:r>
              <a:rPr lang="en-US" dirty="0"/>
              <a:t>Collect your own data</a:t>
            </a:r>
          </a:p>
          <a:p>
            <a:pPr marL="557213" lvl="1" indent="-214313">
              <a:buFontTx/>
              <a:buChar char="-"/>
            </a:pPr>
            <a:r>
              <a:rPr lang="en-US" dirty="0"/>
              <a:t>Surveys</a:t>
            </a:r>
          </a:p>
          <a:p>
            <a:pPr marL="557213" lvl="1" indent="-214313">
              <a:buFontTx/>
              <a:buChar char="-"/>
            </a:pPr>
            <a:r>
              <a:rPr lang="en-US" dirty="0"/>
              <a:t>Experiment</a:t>
            </a:r>
          </a:p>
          <a:p>
            <a:pPr marL="557213" lvl="1" indent="-214313">
              <a:buFontTx/>
              <a:buChar char="-"/>
            </a:pPr>
            <a:r>
              <a:rPr lang="en-US" dirty="0"/>
              <a:t>Theory-based model</a:t>
            </a:r>
          </a:p>
          <a:p>
            <a:pPr marL="214313" indent="-214313">
              <a:buFontTx/>
              <a:buChar char="-"/>
            </a:pPr>
            <a:r>
              <a:rPr lang="en-US" dirty="0"/>
              <a:t>Search repositories</a:t>
            </a:r>
          </a:p>
        </p:txBody>
      </p:sp>
    </p:spTree>
    <p:extLst>
      <p:ext uri="{BB962C8B-B14F-4D97-AF65-F5344CB8AC3E}">
        <p14:creationId xmlns:p14="http://schemas.microsoft.com/office/powerpoint/2010/main" val="2381514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FE47A-ED40-3047-9513-7CBAD3503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 Pipeline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A30DA7-197C-A643-90C1-A5BF2B30B739}"/>
              </a:ext>
            </a:extLst>
          </p:cNvPr>
          <p:cNvSpPr/>
          <p:nvPr/>
        </p:nvSpPr>
        <p:spPr>
          <a:xfrm>
            <a:off x="486137" y="5310610"/>
            <a:ext cx="1380281" cy="5729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Define the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9FBEAD-1006-324F-A5BE-86110DB952D9}"/>
              </a:ext>
            </a:extLst>
          </p:cNvPr>
          <p:cNvSpPr/>
          <p:nvPr/>
        </p:nvSpPr>
        <p:spPr>
          <a:xfrm>
            <a:off x="486137" y="4504722"/>
            <a:ext cx="1380281" cy="572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Gather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745DD2-4CA1-694E-AC20-8E1301D37709}"/>
              </a:ext>
            </a:extLst>
          </p:cNvPr>
          <p:cNvSpPr/>
          <p:nvPr/>
        </p:nvSpPr>
        <p:spPr>
          <a:xfrm>
            <a:off x="2093572" y="4504722"/>
            <a:ext cx="1380281" cy="572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Exploratory Data Analysis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6EB034-19CE-0742-81F4-D6EFE83E0917}"/>
              </a:ext>
            </a:extLst>
          </p:cNvPr>
          <p:cNvCxnSpPr>
            <a:stCxn id="4" idx="0"/>
            <a:endCxn id="5" idx="2"/>
          </p:cNvCxnSpPr>
          <p:nvPr/>
        </p:nvCxnSpPr>
        <p:spPr>
          <a:xfrm flipV="1">
            <a:off x="1176278" y="5077669"/>
            <a:ext cx="0" cy="2329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D90EBD-CE57-304D-8CC5-67E0B7EE88A0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1866418" y="4791196"/>
            <a:ext cx="2271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9D2A339-D976-2E45-BAC0-90A655E8F570}"/>
              </a:ext>
            </a:extLst>
          </p:cNvPr>
          <p:cNvSpPr txBox="1"/>
          <p:nvPr/>
        </p:nvSpPr>
        <p:spPr>
          <a:xfrm>
            <a:off x="3886206" y="3155118"/>
            <a:ext cx="504824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Tx/>
              <a:buChar char="-"/>
            </a:pPr>
            <a:r>
              <a:rPr lang="en-US" dirty="0"/>
              <a:t>Check for missing data and other mistakes</a:t>
            </a:r>
          </a:p>
          <a:p>
            <a:pPr marL="214313" indent="-214313">
              <a:buFontTx/>
              <a:buChar char="-"/>
            </a:pPr>
            <a:r>
              <a:rPr lang="en-US" dirty="0"/>
              <a:t>Mapping and understanding the underlying structure of your data</a:t>
            </a:r>
          </a:p>
          <a:p>
            <a:pPr marL="214313" indent="-214313">
              <a:buFontTx/>
              <a:buChar char="-"/>
            </a:pPr>
            <a:r>
              <a:rPr lang="en-US" dirty="0"/>
              <a:t>Identify the most important variables in your dataset</a:t>
            </a:r>
          </a:p>
          <a:p>
            <a:pPr marL="214313" indent="-214313">
              <a:buFontTx/>
              <a:buChar char="-"/>
            </a:pPr>
            <a:r>
              <a:rPr lang="en-US" dirty="0"/>
              <a:t>Gain insight about your data:</a:t>
            </a:r>
          </a:p>
          <a:p>
            <a:pPr marL="557213" lvl="1" indent="-214313">
              <a:buFontTx/>
              <a:buChar char="-"/>
            </a:pPr>
            <a:r>
              <a:rPr lang="en-US" dirty="0"/>
              <a:t>Is the data appropriate for your question?</a:t>
            </a:r>
          </a:p>
          <a:p>
            <a:pPr marL="557213" lvl="1" indent="-214313">
              <a:buFontTx/>
              <a:buChar char="-"/>
            </a:pPr>
            <a:r>
              <a:rPr lang="en-US" dirty="0"/>
              <a:t>Are there any biases in the data?</a:t>
            </a:r>
          </a:p>
          <a:p>
            <a:pPr marL="214313" indent="-214313">
              <a:buFontTx/>
              <a:buChar char="-"/>
            </a:pPr>
            <a:r>
              <a:rPr lang="en-US" dirty="0"/>
              <a:t>Often involves visualizations</a:t>
            </a:r>
          </a:p>
        </p:txBody>
      </p:sp>
      <p:sp>
        <p:nvSpPr>
          <p:cNvPr id="12" name="5-Point Star 11">
            <a:extLst>
              <a:ext uri="{FF2B5EF4-FFF2-40B4-BE49-F238E27FC236}">
                <a16:creationId xmlns:a16="http://schemas.microsoft.com/office/drawing/2014/main" id="{7C16334B-7167-D549-A426-0DA0E465A0E7}"/>
              </a:ext>
            </a:extLst>
          </p:cNvPr>
          <p:cNvSpPr/>
          <p:nvPr/>
        </p:nvSpPr>
        <p:spPr>
          <a:xfrm>
            <a:off x="6777298" y="4069509"/>
            <a:ext cx="2140031" cy="181404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Critical data science step</a:t>
            </a:r>
          </a:p>
        </p:txBody>
      </p:sp>
    </p:spTree>
    <p:extLst>
      <p:ext uri="{BB962C8B-B14F-4D97-AF65-F5344CB8AC3E}">
        <p14:creationId xmlns:p14="http://schemas.microsoft.com/office/powerpoint/2010/main" val="998694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A30DA7-197C-A643-90C1-A5BF2B30B739}"/>
              </a:ext>
            </a:extLst>
          </p:cNvPr>
          <p:cNvSpPr/>
          <p:nvPr/>
        </p:nvSpPr>
        <p:spPr>
          <a:xfrm>
            <a:off x="486137" y="5310610"/>
            <a:ext cx="1380281" cy="5729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Define the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9FBEAD-1006-324F-A5BE-86110DB952D9}"/>
              </a:ext>
            </a:extLst>
          </p:cNvPr>
          <p:cNvSpPr/>
          <p:nvPr/>
        </p:nvSpPr>
        <p:spPr>
          <a:xfrm>
            <a:off x="486137" y="4504722"/>
            <a:ext cx="1380281" cy="572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Gather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745DD2-4CA1-694E-AC20-8E1301D37709}"/>
              </a:ext>
            </a:extLst>
          </p:cNvPr>
          <p:cNvSpPr/>
          <p:nvPr/>
        </p:nvSpPr>
        <p:spPr>
          <a:xfrm>
            <a:off x="2093572" y="4504722"/>
            <a:ext cx="1380281" cy="572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Exploratory Data Analysis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2075DD-2603-4F44-875F-B489027B668D}"/>
              </a:ext>
            </a:extLst>
          </p:cNvPr>
          <p:cNvSpPr/>
          <p:nvPr/>
        </p:nvSpPr>
        <p:spPr>
          <a:xfrm>
            <a:off x="2093572" y="3785646"/>
            <a:ext cx="1380281" cy="572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Preparation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4BCE6E-677D-374A-96F7-B05828640469}"/>
              </a:ext>
            </a:extLst>
          </p:cNvPr>
          <p:cNvSpPr/>
          <p:nvPr/>
        </p:nvSpPr>
        <p:spPr>
          <a:xfrm>
            <a:off x="3761773" y="3785646"/>
            <a:ext cx="1380281" cy="5729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Analysis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6EB034-19CE-0742-81F4-D6EFE83E0917}"/>
              </a:ext>
            </a:extLst>
          </p:cNvPr>
          <p:cNvCxnSpPr>
            <a:stCxn id="4" idx="0"/>
            <a:endCxn id="5" idx="2"/>
          </p:cNvCxnSpPr>
          <p:nvPr/>
        </p:nvCxnSpPr>
        <p:spPr>
          <a:xfrm flipV="1">
            <a:off x="1176278" y="5077669"/>
            <a:ext cx="0" cy="2329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D90EBD-CE57-304D-8CC5-67E0B7EE88A0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1866418" y="4791196"/>
            <a:ext cx="2271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7BC3B8D-F010-424F-AA2D-B11E72863B19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flipV="1">
            <a:off x="2783712" y="4358592"/>
            <a:ext cx="0" cy="1461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54B9F16-7A34-6149-85CA-1B04623FA2DC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3473853" y="4072119"/>
            <a:ext cx="2879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9D2A339-D976-2E45-BAC0-90A655E8F570}"/>
              </a:ext>
            </a:extLst>
          </p:cNvPr>
          <p:cNvSpPr txBox="1"/>
          <p:nvPr/>
        </p:nvSpPr>
        <p:spPr>
          <a:xfrm>
            <a:off x="5334000" y="3429000"/>
            <a:ext cx="36004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Tx/>
              <a:buChar char="-"/>
            </a:pPr>
            <a:r>
              <a:rPr lang="en-US" dirty="0"/>
              <a:t>Choose appropriate analysis for the question</a:t>
            </a:r>
          </a:p>
          <a:p>
            <a:pPr marL="214313" indent="-214313">
              <a:buFontTx/>
              <a:buChar char="-"/>
            </a:pPr>
            <a:r>
              <a:rPr lang="en-US" dirty="0"/>
              <a:t>If using ML and a trained model, is the training data similar to the data to be analyzed?</a:t>
            </a:r>
          </a:p>
          <a:p>
            <a:pPr marL="214313" indent="-214313">
              <a:buFontTx/>
              <a:buChar char="-"/>
            </a:pPr>
            <a:r>
              <a:rPr lang="en-US" dirty="0"/>
              <a:t>What are the pre-processing steps?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A5ED43C-A918-4D76-6712-DC8EB1899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 Pipeline</a:t>
            </a:r>
          </a:p>
        </p:txBody>
      </p:sp>
    </p:spTree>
    <p:extLst>
      <p:ext uri="{BB962C8B-B14F-4D97-AF65-F5344CB8AC3E}">
        <p14:creationId xmlns:p14="http://schemas.microsoft.com/office/powerpoint/2010/main" val="1150009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A30DA7-197C-A643-90C1-A5BF2B30B739}"/>
              </a:ext>
            </a:extLst>
          </p:cNvPr>
          <p:cNvSpPr/>
          <p:nvPr/>
        </p:nvSpPr>
        <p:spPr>
          <a:xfrm>
            <a:off x="486137" y="5310610"/>
            <a:ext cx="1380281" cy="5729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Define the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9FBEAD-1006-324F-A5BE-86110DB952D9}"/>
              </a:ext>
            </a:extLst>
          </p:cNvPr>
          <p:cNvSpPr/>
          <p:nvPr/>
        </p:nvSpPr>
        <p:spPr>
          <a:xfrm>
            <a:off x="486137" y="4504722"/>
            <a:ext cx="1380281" cy="572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Gather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745DD2-4CA1-694E-AC20-8E1301D37709}"/>
              </a:ext>
            </a:extLst>
          </p:cNvPr>
          <p:cNvSpPr/>
          <p:nvPr/>
        </p:nvSpPr>
        <p:spPr>
          <a:xfrm>
            <a:off x="2093572" y="4504722"/>
            <a:ext cx="1380281" cy="572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Exploratory Data Analysis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2075DD-2603-4F44-875F-B489027B668D}"/>
              </a:ext>
            </a:extLst>
          </p:cNvPr>
          <p:cNvSpPr/>
          <p:nvPr/>
        </p:nvSpPr>
        <p:spPr>
          <a:xfrm>
            <a:off x="2093572" y="3785646"/>
            <a:ext cx="1380281" cy="572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Preparation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4BCE6E-677D-374A-96F7-B05828640469}"/>
              </a:ext>
            </a:extLst>
          </p:cNvPr>
          <p:cNvSpPr/>
          <p:nvPr/>
        </p:nvSpPr>
        <p:spPr>
          <a:xfrm>
            <a:off x="3761773" y="3785646"/>
            <a:ext cx="1380281" cy="5729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Analysis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A10DFD-955C-D04E-AE83-25FCBA2D4E44}"/>
              </a:ext>
            </a:extLst>
          </p:cNvPr>
          <p:cNvSpPr/>
          <p:nvPr/>
        </p:nvSpPr>
        <p:spPr>
          <a:xfrm>
            <a:off x="5325802" y="3785645"/>
            <a:ext cx="1380281" cy="5729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Evaluation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6EB034-19CE-0742-81F4-D6EFE83E0917}"/>
              </a:ext>
            </a:extLst>
          </p:cNvPr>
          <p:cNvCxnSpPr>
            <a:stCxn id="4" idx="0"/>
            <a:endCxn id="5" idx="2"/>
          </p:cNvCxnSpPr>
          <p:nvPr/>
        </p:nvCxnSpPr>
        <p:spPr>
          <a:xfrm flipV="1">
            <a:off x="1176278" y="5077669"/>
            <a:ext cx="0" cy="2329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D90EBD-CE57-304D-8CC5-67E0B7EE88A0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1866418" y="4791196"/>
            <a:ext cx="2271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7BC3B8D-F010-424F-AA2D-B11E72863B19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flipV="1">
            <a:off x="2783712" y="4358592"/>
            <a:ext cx="0" cy="1461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54B9F16-7A34-6149-85CA-1B04623FA2DC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3473853" y="4072119"/>
            <a:ext cx="2879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F24DAAC-3120-A141-A276-597495E9FF69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5142054" y="4072119"/>
            <a:ext cx="183748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9D2A339-D976-2E45-BAC0-90A655E8F570}"/>
              </a:ext>
            </a:extLst>
          </p:cNvPr>
          <p:cNvSpPr txBox="1"/>
          <p:nvPr/>
        </p:nvSpPr>
        <p:spPr>
          <a:xfrm>
            <a:off x="5257799" y="4504722"/>
            <a:ext cx="34920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Tx/>
              <a:buChar char="-"/>
            </a:pPr>
            <a:r>
              <a:rPr lang="en-US" dirty="0"/>
              <a:t>Is my analysis performing as expected?</a:t>
            </a:r>
          </a:p>
          <a:p>
            <a:pPr marL="214313" indent="-214313">
              <a:buFontTx/>
              <a:buChar char="-"/>
            </a:pPr>
            <a:r>
              <a:rPr lang="en-US" dirty="0"/>
              <a:t>Is the analysis allowing me to address the problem?</a:t>
            </a:r>
          </a:p>
          <a:p>
            <a:pPr marL="214313" indent="-214313">
              <a:buFontTx/>
              <a:buChar char="-"/>
            </a:pPr>
            <a:r>
              <a:rPr lang="en-US" b="1" dirty="0"/>
              <a:t>IT IS NOT </a:t>
            </a:r>
            <a:r>
              <a:rPr lang="en-US" b="1" u="sng" dirty="0"/>
              <a:t>ONLY</a:t>
            </a:r>
            <a:r>
              <a:rPr lang="en-US" b="1" dirty="0"/>
              <a:t> ABOUT THE ACCURACY SCORE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2968E9F-9CD1-EEAE-FEFE-03B31AC6E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 Pipeline</a:t>
            </a:r>
          </a:p>
        </p:txBody>
      </p:sp>
    </p:spTree>
    <p:extLst>
      <p:ext uri="{BB962C8B-B14F-4D97-AF65-F5344CB8AC3E}">
        <p14:creationId xmlns:p14="http://schemas.microsoft.com/office/powerpoint/2010/main" val="552204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A30DA7-197C-A643-90C1-A5BF2B30B739}"/>
              </a:ext>
            </a:extLst>
          </p:cNvPr>
          <p:cNvSpPr/>
          <p:nvPr/>
        </p:nvSpPr>
        <p:spPr>
          <a:xfrm>
            <a:off x="486137" y="5310610"/>
            <a:ext cx="1380281" cy="5729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Define the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9FBEAD-1006-324F-A5BE-86110DB952D9}"/>
              </a:ext>
            </a:extLst>
          </p:cNvPr>
          <p:cNvSpPr/>
          <p:nvPr/>
        </p:nvSpPr>
        <p:spPr>
          <a:xfrm>
            <a:off x="486137" y="4504722"/>
            <a:ext cx="1380281" cy="572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Gather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745DD2-4CA1-694E-AC20-8E1301D37709}"/>
              </a:ext>
            </a:extLst>
          </p:cNvPr>
          <p:cNvSpPr/>
          <p:nvPr/>
        </p:nvSpPr>
        <p:spPr>
          <a:xfrm>
            <a:off x="2093572" y="4504722"/>
            <a:ext cx="1380281" cy="572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Exploratory Data Analysis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2075DD-2603-4F44-875F-B489027B668D}"/>
              </a:ext>
            </a:extLst>
          </p:cNvPr>
          <p:cNvSpPr/>
          <p:nvPr/>
        </p:nvSpPr>
        <p:spPr>
          <a:xfrm>
            <a:off x="2093572" y="3785646"/>
            <a:ext cx="1380281" cy="572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Preparation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4BCE6E-677D-374A-96F7-B05828640469}"/>
              </a:ext>
            </a:extLst>
          </p:cNvPr>
          <p:cNvSpPr/>
          <p:nvPr/>
        </p:nvSpPr>
        <p:spPr>
          <a:xfrm>
            <a:off x="3761773" y="3785646"/>
            <a:ext cx="1380281" cy="5729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Analysis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A10DFD-955C-D04E-AE83-25FCBA2D4E44}"/>
              </a:ext>
            </a:extLst>
          </p:cNvPr>
          <p:cNvSpPr/>
          <p:nvPr/>
        </p:nvSpPr>
        <p:spPr>
          <a:xfrm>
            <a:off x="5325802" y="3785645"/>
            <a:ext cx="1380281" cy="5729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Evaluation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5A8AD3-1833-CB4B-AF2D-AAA80A546FAA}"/>
              </a:ext>
            </a:extLst>
          </p:cNvPr>
          <p:cNvSpPr/>
          <p:nvPr/>
        </p:nvSpPr>
        <p:spPr>
          <a:xfrm>
            <a:off x="5325802" y="2927672"/>
            <a:ext cx="1380281" cy="5729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Interpretation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6EB034-19CE-0742-81F4-D6EFE83E0917}"/>
              </a:ext>
            </a:extLst>
          </p:cNvPr>
          <p:cNvCxnSpPr>
            <a:stCxn id="4" idx="0"/>
            <a:endCxn id="5" idx="2"/>
          </p:cNvCxnSpPr>
          <p:nvPr/>
        </p:nvCxnSpPr>
        <p:spPr>
          <a:xfrm flipV="1">
            <a:off x="1176278" y="5077669"/>
            <a:ext cx="0" cy="2329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D90EBD-CE57-304D-8CC5-67E0B7EE88A0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1866418" y="4791196"/>
            <a:ext cx="2271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7BC3B8D-F010-424F-AA2D-B11E72863B19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flipV="1">
            <a:off x="2783712" y="4358592"/>
            <a:ext cx="0" cy="1461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54B9F16-7A34-6149-85CA-1B04623FA2DC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3473853" y="4072119"/>
            <a:ext cx="2879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F24DAAC-3120-A141-A276-597495E9FF69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5142054" y="4072119"/>
            <a:ext cx="183748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8A9AA75-8F08-0F48-BD4A-8B751A19E210}"/>
              </a:ext>
            </a:extLst>
          </p:cNvPr>
          <p:cNvCxnSpPr>
            <a:cxnSpLocks/>
            <a:stCxn id="9" idx="0"/>
            <a:endCxn id="10" idx="2"/>
          </p:cNvCxnSpPr>
          <p:nvPr/>
        </p:nvCxnSpPr>
        <p:spPr>
          <a:xfrm flipV="1">
            <a:off x="6015942" y="3500619"/>
            <a:ext cx="0" cy="2850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0">
            <a:extLst>
              <a:ext uri="{FF2B5EF4-FFF2-40B4-BE49-F238E27FC236}">
                <a16:creationId xmlns:a16="http://schemas.microsoft.com/office/drawing/2014/main" id="{E93AB0CB-542D-2C87-846F-25AA5C015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 Pipeline</a:t>
            </a:r>
          </a:p>
        </p:txBody>
      </p:sp>
    </p:spTree>
    <p:extLst>
      <p:ext uri="{BB962C8B-B14F-4D97-AF65-F5344CB8AC3E}">
        <p14:creationId xmlns:p14="http://schemas.microsoft.com/office/powerpoint/2010/main" val="2888877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A30DA7-197C-A643-90C1-A5BF2B30B739}"/>
              </a:ext>
            </a:extLst>
          </p:cNvPr>
          <p:cNvSpPr/>
          <p:nvPr/>
        </p:nvSpPr>
        <p:spPr>
          <a:xfrm>
            <a:off x="486137" y="5310610"/>
            <a:ext cx="1380281" cy="5729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Define the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9FBEAD-1006-324F-A5BE-86110DB952D9}"/>
              </a:ext>
            </a:extLst>
          </p:cNvPr>
          <p:cNvSpPr/>
          <p:nvPr/>
        </p:nvSpPr>
        <p:spPr>
          <a:xfrm>
            <a:off x="486137" y="4504722"/>
            <a:ext cx="1380281" cy="572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Gather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745DD2-4CA1-694E-AC20-8E1301D37709}"/>
              </a:ext>
            </a:extLst>
          </p:cNvPr>
          <p:cNvSpPr/>
          <p:nvPr/>
        </p:nvSpPr>
        <p:spPr>
          <a:xfrm>
            <a:off x="2093572" y="4504722"/>
            <a:ext cx="1380281" cy="572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Exploratory Data Analysis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2075DD-2603-4F44-875F-B489027B668D}"/>
              </a:ext>
            </a:extLst>
          </p:cNvPr>
          <p:cNvSpPr/>
          <p:nvPr/>
        </p:nvSpPr>
        <p:spPr>
          <a:xfrm>
            <a:off x="2093572" y="3785646"/>
            <a:ext cx="1380281" cy="572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Preparation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4BCE6E-677D-374A-96F7-B05828640469}"/>
              </a:ext>
            </a:extLst>
          </p:cNvPr>
          <p:cNvSpPr/>
          <p:nvPr/>
        </p:nvSpPr>
        <p:spPr>
          <a:xfrm>
            <a:off x="3761773" y="3785646"/>
            <a:ext cx="1380281" cy="5729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Analysis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A10DFD-955C-D04E-AE83-25FCBA2D4E44}"/>
              </a:ext>
            </a:extLst>
          </p:cNvPr>
          <p:cNvSpPr/>
          <p:nvPr/>
        </p:nvSpPr>
        <p:spPr>
          <a:xfrm>
            <a:off x="5325802" y="3785645"/>
            <a:ext cx="1380281" cy="5729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Evaluation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5A8AD3-1833-CB4B-AF2D-AAA80A546FAA}"/>
              </a:ext>
            </a:extLst>
          </p:cNvPr>
          <p:cNvSpPr/>
          <p:nvPr/>
        </p:nvSpPr>
        <p:spPr>
          <a:xfrm>
            <a:off x="5325802" y="2927672"/>
            <a:ext cx="1380281" cy="5729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Interpretation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79039E-43FF-8149-BA88-E528D4DE0D1A}"/>
              </a:ext>
            </a:extLst>
          </p:cNvPr>
          <p:cNvSpPr/>
          <p:nvPr/>
        </p:nvSpPr>
        <p:spPr>
          <a:xfrm>
            <a:off x="7176304" y="2927671"/>
            <a:ext cx="1380281" cy="57294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Presentation of results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6EB034-19CE-0742-81F4-D6EFE83E0917}"/>
              </a:ext>
            </a:extLst>
          </p:cNvPr>
          <p:cNvCxnSpPr>
            <a:stCxn id="4" idx="0"/>
            <a:endCxn id="5" idx="2"/>
          </p:cNvCxnSpPr>
          <p:nvPr/>
        </p:nvCxnSpPr>
        <p:spPr>
          <a:xfrm flipV="1">
            <a:off x="1176278" y="5077669"/>
            <a:ext cx="0" cy="2329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D90EBD-CE57-304D-8CC5-67E0B7EE88A0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1866418" y="4791196"/>
            <a:ext cx="2271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7BC3B8D-F010-424F-AA2D-B11E72863B19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flipV="1">
            <a:off x="2783712" y="4358592"/>
            <a:ext cx="0" cy="1461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54B9F16-7A34-6149-85CA-1B04623FA2DC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3473853" y="4072119"/>
            <a:ext cx="2879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F24DAAC-3120-A141-A276-597495E9FF69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5142054" y="4072119"/>
            <a:ext cx="183748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8A9AA75-8F08-0F48-BD4A-8B751A19E210}"/>
              </a:ext>
            </a:extLst>
          </p:cNvPr>
          <p:cNvCxnSpPr>
            <a:cxnSpLocks/>
            <a:stCxn id="9" idx="0"/>
            <a:endCxn id="10" idx="2"/>
          </p:cNvCxnSpPr>
          <p:nvPr/>
        </p:nvCxnSpPr>
        <p:spPr>
          <a:xfrm flipV="1">
            <a:off x="6015942" y="3500619"/>
            <a:ext cx="0" cy="2850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080822E-32DA-9A46-8A77-AADA2FC4D536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6706082" y="3214145"/>
            <a:ext cx="470222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9D2A339-D976-2E45-BAC0-90A655E8F570}"/>
              </a:ext>
            </a:extLst>
          </p:cNvPr>
          <p:cNvSpPr txBox="1"/>
          <p:nvPr/>
        </p:nvSpPr>
        <p:spPr>
          <a:xfrm>
            <a:off x="6572732" y="4744016"/>
            <a:ext cx="26071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14313" indent="-214313">
              <a:buFontTx/>
              <a:buChar char="-"/>
            </a:pPr>
            <a:r>
              <a:rPr lang="en-US" dirty="0"/>
              <a:t>Who is my audience?</a:t>
            </a:r>
          </a:p>
          <a:p>
            <a:pPr marL="214313" indent="-214313">
              <a:buFontTx/>
              <a:buChar char="-"/>
            </a:pPr>
            <a:r>
              <a:rPr lang="en-US" dirty="0"/>
              <a:t>Visualization</a:t>
            </a:r>
          </a:p>
          <a:p>
            <a:pPr marL="214313" indent="-214313">
              <a:buFontTx/>
              <a:buChar char="-"/>
            </a:pPr>
            <a:r>
              <a:rPr lang="en-US" dirty="0"/>
              <a:t>Report</a:t>
            </a:r>
          </a:p>
          <a:p>
            <a:pPr marL="214313" indent="-214313">
              <a:buFontTx/>
              <a:buChar char="-"/>
            </a:pPr>
            <a:r>
              <a:rPr lang="en-US" dirty="0"/>
              <a:t>Oral briefing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652764B-3438-BF0A-B75C-89A83242B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 Pipeline</a:t>
            </a:r>
          </a:p>
        </p:txBody>
      </p:sp>
    </p:spTree>
    <p:extLst>
      <p:ext uri="{BB962C8B-B14F-4D97-AF65-F5344CB8AC3E}">
        <p14:creationId xmlns:p14="http://schemas.microsoft.com/office/powerpoint/2010/main" val="42430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A30DA7-197C-A643-90C1-A5BF2B30B739}"/>
              </a:ext>
            </a:extLst>
          </p:cNvPr>
          <p:cNvSpPr/>
          <p:nvPr/>
        </p:nvSpPr>
        <p:spPr>
          <a:xfrm>
            <a:off x="486137" y="5310610"/>
            <a:ext cx="1380281" cy="5729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Define the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9FBEAD-1006-324F-A5BE-86110DB952D9}"/>
              </a:ext>
            </a:extLst>
          </p:cNvPr>
          <p:cNvSpPr/>
          <p:nvPr/>
        </p:nvSpPr>
        <p:spPr>
          <a:xfrm>
            <a:off x="486137" y="4504722"/>
            <a:ext cx="1380281" cy="572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Gather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745DD2-4CA1-694E-AC20-8E1301D37709}"/>
              </a:ext>
            </a:extLst>
          </p:cNvPr>
          <p:cNvSpPr/>
          <p:nvPr/>
        </p:nvSpPr>
        <p:spPr>
          <a:xfrm>
            <a:off x="2093572" y="4504722"/>
            <a:ext cx="1380281" cy="572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Exploratory Data Analysis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2075DD-2603-4F44-875F-B489027B668D}"/>
              </a:ext>
            </a:extLst>
          </p:cNvPr>
          <p:cNvSpPr/>
          <p:nvPr/>
        </p:nvSpPr>
        <p:spPr>
          <a:xfrm>
            <a:off x="2093572" y="3785646"/>
            <a:ext cx="1380281" cy="572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Preparation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4BCE6E-677D-374A-96F7-B05828640469}"/>
              </a:ext>
            </a:extLst>
          </p:cNvPr>
          <p:cNvSpPr/>
          <p:nvPr/>
        </p:nvSpPr>
        <p:spPr>
          <a:xfrm>
            <a:off x="3761773" y="3785646"/>
            <a:ext cx="1380281" cy="5729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Analysis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A10DFD-955C-D04E-AE83-25FCBA2D4E44}"/>
              </a:ext>
            </a:extLst>
          </p:cNvPr>
          <p:cNvSpPr/>
          <p:nvPr/>
        </p:nvSpPr>
        <p:spPr>
          <a:xfrm>
            <a:off x="5325802" y="3785645"/>
            <a:ext cx="1380281" cy="5729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Evaluation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5A8AD3-1833-CB4B-AF2D-AAA80A546FAA}"/>
              </a:ext>
            </a:extLst>
          </p:cNvPr>
          <p:cNvSpPr/>
          <p:nvPr/>
        </p:nvSpPr>
        <p:spPr>
          <a:xfrm>
            <a:off x="5325802" y="2927672"/>
            <a:ext cx="1380281" cy="5729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Interpretation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79039E-43FF-8149-BA88-E528D4DE0D1A}"/>
              </a:ext>
            </a:extLst>
          </p:cNvPr>
          <p:cNvSpPr/>
          <p:nvPr/>
        </p:nvSpPr>
        <p:spPr>
          <a:xfrm>
            <a:off x="7176304" y="2927671"/>
            <a:ext cx="1380281" cy="57294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Presentation of results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6EB034-19CE-0742-81F4-D6EFE83E0917}"/>
              </a:ext>
            </a:extLst>
          </p:cNvPr>
          <p:cNvCxnSpPr>
            <a:stCxn id="4" idx="0"/>
            <a:endCxn id="5" idx="2"/>
          </p:cNvCxnSpPr>
          <p:nvPr/>
        </p:nvCxnSpPr>
        <p:spPr>
          <a:xfrm flipV="1">
            <a:off x="1176278" y="5077669"/>
            <a:ext cx="0" cy="2329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D90EBD-CE57-304D-8CC5-67E0B7EE88A0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1866418" y="4791196"/>
            <a:ext cx="2271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7BC3B8D-F010-424F-AA2D-B11E72863B19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flipV="1">
            <a:off x="2783712" y="4358592"/>
            <a:ext cx="0" cy="1461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54B9F16-7A34-6149-85CA-1B04623FA2DC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3473853" y="4072119"/>
            <a:ext cx="2879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F24DAAC-3120-A141-A276-597495E9FF69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5142054" y="4072119"/>
            <a:ext cx="183748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8A9AA75-8F08-0F48-BD4A-8B751A19E210}"/>
              </a:ext>
            </a:extLst>
          </p:cNvPr>
          <p:cNvCxnSpPr>
            <a:cxnSpLocks/>
            <a:stCxn id="9" idx="0"/>
            <a:endCxn id="10" idx="2"/>
          </p:cNvCxnSpPr>
          <p:nvPr/>
        </p:nvCxnSpPr>
        <p:spPr>
          <a:xfrm flipV="1">
            <a:off x="6015942" y="3500619"/>
            <a:ext cx="0" cy="2850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080822E-32DA-9A46-8A77-AADA2FC4D536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6706082" y="3214145"/>
            <a:ext cx="470222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9D2A339-D976-2E45-BAC0-90A655E8F570}"/>
              </a:ext>
            </a:extLst>
          </p:cNvPr>
          <p:cNvSpPr txBox="1"/>
          <p:nvPr/>
        </p:nvSpPr>
        <p:spPr>
          <a:xfrm>
            <a:off x="3713199" y="4978561"/>
            <a:ext cx="53899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Other considerations:</a:t>
            </a:r>
          </a:p>
          <a:p>
            <a:pPr marL="214313" indent="-214313">
              <a:buFontTx/>
              <a:buChar char="-"/>
            </a:pPr>
            <a:r>
              <a:rPr lang="en-US" dirty="0"/>
              <a:t>Is my work fully reproducible?</a:t>
            </a:r>
          </a:p>
          <a:p>
            <a:pPr marL="214313" indent="-214313">
              <a:buFontTx/>
              <a:buChar char="-"/>
            </a:pPr>
            <a:r>
              <a:rPr lang="en-US" dirty="0"/>
              <a:t>How should I report the data/software/workflow?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4EF1DB98-AF98-C8BA-1B06-5269E7B62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 Pipeline</a:t>
            </a:r>
          </a:p>
        </p:txBody>
      </p:sp>
    </p:spTree>
    <p:extLst>
      <p:ext uri="{BB962C8B-B14F-4D97-AF65-F5344CB8AC3E}">
        <p14:creationId xmlns:p14="http://schemas.microsoft.com/office/powerpoint/2010/main" val="2786834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1CAAE-B599-8A49-89FC-13F108166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Failure is the Mother of Success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A2F1C4-07D6-8B48-9BDD-DDC7963191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8188" y="1752600"/>
            <a:ext cx="4171012" cy="443484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Progress is rarely linear</a:t>
            </a:r>
          </a:p>
          <a:p>
            <a:r>
              <a:rPr lang="en-US" dirty="0"/>
              <a:t>Missing/flawed data</a:t>
            </a:r>
          </a:p>
          <a:p>
            <a:r>
              <a:rPr lang="en-US" dirty="0"/>
              <a:t>Problems need to be more refined</a:t>
            </a:r>
          </a:p>
          <a:p>
            <a:r>
              <a:rPr lang="en-US" dirty="0"/>
              <a:t>Initial approach didn’t work</a:t>
            </a:r>
          </a:p>
          <a:p>
            <a:r>
              <a:rPr lang="en-US" dirty="0"/>
              <a:t>Initial hypotheses invalidated</a:t>
            </a:r>
          </a:p>
          <a:p>
            <a:r>
              <a:rPr lang="en-US" b="1" dirty="0"/>
              <a:t>Your goal is to learn how to move forward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3C5D533-0FD1-1C45-9CD1-C0F36DB92E1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20" y="2514600"/>
            <a:ext cx="3599768" cy="256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3833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B23FE-1863-4D4A-BAF1-C33F55469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Debugging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B9ECC-C7E1-7C4C-87A4-35C0D03876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dirty="0"/>
              <a:t>List all the components involved. Think about where the weak link might be</a:t>
            </a:r>
          </a:p>
          <a:p>
            <a:r>
              <a:rPr lang="en-US" sz="2000" dirty="0"/>
              <a:t>Design a logical and simple troubleshooting process to find the problem</a:t>
            </a:r>
          </a:p>
          <a:p>
            <a:r>
              <a:rPr lang="en-US" sz="2000" dirty="0"/>
              <a:t>Ask for help. Ask the internet, ask your peers…</a:t>
            </a:r>
          </a:p>
          <a:p>
            <a:r>
              <a:rPr lang="en-US" sz="2000" b="1" u="sng" dirty="0"/>
              <a:t>Research on your own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D3655B5-CFBD-E44B-B236-D18C6FF6D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7642" y="2575340"/>
            <a:ext cx="3034337" cy="1707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6165EA8-95C8-8E4A-99C3-55C80D124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511838" y="4374263"/>
            <a:ext cx="2765947" cy="1555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1808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D0E4A-280E-1640-928B-DF12DE924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May Be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575FD-CB58-064C-A179-EB97CE5260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4114800"/>
            <a:ext cx="7790688" cy="2286000"/>
          </a:xfrm>
        </p:spPr>
        <p:txBody>
          <a:bodyPr>
            <a:normAutofit/>
          </a:bodyPr>
          <a:lstStyle/>
          <a:p>
            <a:r>
              <a:rPr lang="en-US" sz="2400" dirty="0"/>
              <a:t>Data Should be Representative of the Problem</a:t>
            </a:r>
          </a:p>
          <a:p>
            <a:r>
              <a:rPr lang="en-US" sz="2400" dirty="0"/>
              <a:t>Data Should be Qualitatively the Same as the Training data</a:t>
            </a:r>
          </a:p>
          <a:p>
            <a:r>
              <a:rPr lang="en-US" sz="2400" dirty="0"/>
              <a:t>Data Should be Without Bias, Sufficiently Large, and Spans All Interested Range</a:t>
            </a:r>
          </a:p>
          <a:p>
            <a:r>
              <a:rPr lang="en-US" sz="2400" b="1" dirty="0"/>
              <a:t>All Data Needs Cleaning before being Usable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1E00EB2-5819-9A4C-9DF7-AC885DEB494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9035" y="1669231"/>
            <a:ext cx="2798617" cy="214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37998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Product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solidFill>
            <a:srgbClr val="FFFFFF"/>
          </a:solidFill>
          <a:ln>
            <a:solidFill>
              <a:srgbClr val="94C600"/>
            </a:solidFill>
          </a:ln>
        </p:spPr>
        <p:txBody>
          <a:bodyPr>
            <a:normAutofit fontScale="70000" lnSpcReduction="20000"/>
          </a:bodyPr>
          <a:lstStyle/>
          <a:p>
            <a:r>
              <a:rPr lang="en-US" dirty="0"/>
              <a:t>Context</a:t>
            </a:r>
          </a:p>
          <a:p>
            <a:pPr lvl="1"/>
            <a:r>
              <a:rPr lang="en-US" dirty="0"/>
              <a:t>Company that has an on-line shopping site which would like to start to push products to customers as they browse the site</a:t>
            </a:r>
          </a:p>
          <a:p>
            <a:r>
              <a:rPr lang="en-US" dirty="0"/>
              <a:t>Data</a:t>
            </a:r>
          </a:p>
          <a:p>
            <a:pPr lvl="1"/>
            <a:r>
              <a:rPr lang="en-US" dirty="0"/>
              <a:t>Data about the on-line purchases of customers for the last 5 years</a:t>
            </a:r>
          </a:p>
          <a:p>
            <a:pPr lvl="1"/>
            <a:r>
              <a:rPr lang="en-US" dirty="0"/>
              <a:t>Profile data for some customers who are repeat customers: address, credit card, shipping preferences</a:t>
            </a:r>
          </a:p>
          <a:p>
            <a:pPr lvl="1"/>
            <a:r>
              <a:rPr lang="en-US" dirty="0"/>
              <a:t>Data about customers who recommended products to their friends in order to get a discount</a:t>
            </a:r>
          </a:p>
          <a:p>
            <a:pPr lvl="1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solidFill>
            <a:srgbClr val="FFFFFF"/>
          </a:solidFill>
          <a:ln>
            <a:solidFill>
              <a:srgbClr val="94C600"/>
            </a:solidFill>
          </a:ln>
        </p:spPr>
        <p:txBody>
          <a:bodyPr>
            <a:normAutofit fontScale="70000" lnSpcReduction="20000"/>
          </a:bodyPr>
          <a:lstStyle/>
          <a:p>
            <a:r>
              <a:rPr lang="en-US" dirty="0"/>
              <a:t>Cost</a:t>
            </a:r>
          </a:p>
          <a:p>
            <a:pPr lvl="1"/>
            <a:r>
              <a:rPr lang="en-US" dirty="0"/>
              <a:t>When you push random products, 10% of customers do not like what is pushed to them and they leave the site</a:t>
            </a:r>
          </a:p>
          <a:p>
            <a:r>
              <a:rPr lang="en-US" dirty="0"/>
              <a:t>Challenges</a:t>
            </a:r>
          </a:p>
          <a:p>
            <a:pPr lvl="1"/>
            <a:r>
              <a:rPr lang="en-US" dirty="0"/>
              <a:t>When you have a sale, many repeat customers buy many more items than usual</a:t>
            </a:r>
          </a:p>
          <a:p>
            <a:pPr lvl="1"/>
            <a:r>
              <a:rPr lang="en-US" dirty="0"/>
              <a:t>There is no profile data for many customers that pay through a third-party service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75016"/>
            <a:ext cx="1149545" cy="941607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204364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Bee Problem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solidFill>
            <a:srgbClr val="FFFFFF"/>
          </a:solidFill>
          <a:ln>
            <a:solidFill>
              <a:srgbClr val="94C600"/>
            </a:solidFill>
          </a:ln>
        </p:spPr>
        <p:txBody>
          <a:bodyPr>
            <a:normAutofit fontScale="70000" lnSpcReduction="20000"/>
          </a:bodyPr>
          <a:lstStyle/>
          <a:p>
            <a:r>
              <a:rPr lang="en-US" dirty="0"/>
              <a:t>Context</a:t>
            </a:r>
          </a:p>
          <a:p>
            <a:pPr lvl="1"/>
            <a:r>
              <a:rPr lang="en-US" dirty="0"/>
              <a:t>Government of an island who would like to investigate how to reduce the bees so tourism can thrive again</a:t>
            </a:r>
          </a:p>
          <a:p>
            <a:r>
              <a:rPr lang="en-US" dirty="0"/>
              <a:t>Data</a:t>
            </a:r>
          </a:p>
          <a:p>
            <a:pPr lvl="1"/>
            <a:r>
              <a:rPr lang="en-US" dirty="0"/>
              <a:t>Data available about the weekly water levels of all rivers and ponds for 30 years</a:t>
            </a:r>
          </a:p>
          <a:p>
            <a:pPr lvl="1"/>
            <a:r>
              <a:rPr lang="en-US" dirty="0"/>
              <a:t>Medical reports of bee bites and pollen allergies for the last 20 years</a:t>
            </a:r>
          </a:p>
          <a:p>
            <a:pPr lvl="1"/>
            <a:r>
              <a:rPr lang="en-US" dirty="0"/>
              <a:t>Climate data and population data, including rainfall and temperatures as well as pollen levels</a:t>
            </a:r>
          </a:p>
          <a:p>
            <a:pPr lvl="1"/>
            <a:r>
              <a:rPr lang="en-US" dirty="0"/>
              <a:t>A lot of data about population, pollution, pesticide use, and bird populations (bee predators)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solidFill>
            <a:srgbClr val="FFFFFF"/>
          </a:solidFill>
          <a:ln>
            <a:solidFill>
              <a:srgbClr val="94C600"/>
            </a:solidFill>
          </a:ln>
        </p:spPr>
        <p:txBody>
          <a:bodyPr>
            <a:normAutofit fontScale="70000" lnSpcReduction="20000"/>
          </a:bodyPr>
          <a:lstStyle/>
          <a:p>
            <a:r>
              <a:rPr lang="en-US" dirty="0"/>
              <a:t>Challenges</a:t>
            </a:r>
          </a:p>
          <a:p>
            <a:pPr lvl="1"/>
            <a:r>
              <a:rPr lang="en-US" dirty="0"/>
              <a:t>Two bee experts in the island, but they do not know anything about data science.  </a:t>
            </a:r>
          </a:p>
          <a:p>
            <a:pPr lvl="1"/>
            <a:r>
              <a:rPr lang="en-US" dirty="0"/>
              <a:t>What questions would you ask of them to help you figure out how to solve the problem?</a:t>
            </a:r>
          </a:p>
          <a:p>
            <a:pPr lvl="1"/>
            <a:r>
              <a:rPr lang="en-US" dirty="0"/>
              <a:t>May release pesticides on crops</a:t>
            </a:r>
          </a:p>
          <a:p>
            <a:pPr lvl="2"/>
            <a:r>
              <a:rPr lang="en-US" dirty="0"/>
              <a:t>Pesticides cost $1,000 per square kilometer</a:t>
            </a:r>
          </a:p>
          <a:p>
            <a:pPr lvl="2"/>
            <a:r>
              <a:rPr lang="en-US" dirty="0"/>
              <a:t>Pesticides reduce the bee population for 3 months</a:t>
            </a:r>
          </a:p>
          <a:p>
            <a:pPr lvl="1"/>
            <a:r>
              <a:rPr lang="en-US" dirty="0"/>
              <a:t>An environmental group that claims that the bee population can be reduced naturally by planting crops that have no flowers (</a:t>
            </a:r>
            <a:r>
              <a:rPr lang="en-US" dirty="0" err="1"/>
              <a:t>eg</a:t>
            </a:r>
            <a:r>
              <a:rPr lang="en-US" dirty="0"/>
              <a:t> corn, wheat,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7708" y="185144"/>
            <a:ext cx="1501367" cy="12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6067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Fraud Problem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solidFill>
            <a:schemeClr val="bg1"/>
          </a:solidFill>
          <a:ln>
            <a:solidFill>
              <a:srgbClr val="94C600"/>
            </a:solidFill>
          </a:ln>
        </p:spPr>
        <p:txBody>
          <a:bodyPr>
            <a:normAutofit fontScale="62500" lnSpcReduction="20000"/>
          </a:bodyPr>
          <a:lstStyle/>
          <a:p>
            <a:r>
              <a:rPr lang="en-US" dirty="0"/>
              <a:t>Context</a:t>
            </a:r>
          </a:p>
          <a:p>
            <a:pPr lvl="1"/>
            <a:r>
              <a:rPr lang="en-US" dirty="0"/>
              <a:t>A bank, interested in detecting fraudulent activity in credit card customers</a:t>
            </a:r>
          </a:p>
          <a:p>
            <a:r>
              <a:rPr lang="en-US" dirty="0"/>
              <a:t>Data</a:t>
            </a:r>
          </a:p>
          <a:p>
            <a:pPr lvl="1"/>
            <a:r>
              <a:rPr lang="en-US" dirty="0"/>
              <a:t>For each customer, there is detailed information from their card application about their address, salary and employment, and demographic</a:t>
            </a:r>
          </a:p>
          <a:p>
            <a:pPr lvl="1"/>
            <a:r>
              <a:rPr lang="en-US" dirty="0"/>
              <a:t>For each customer, there is a record of all their transactions (date, charges, and vendor) for the last 4 years</a:t>
            </a:r>
          </a:p>
          <a:p>
            <a:pPr lvl="1"/>
            <a:r>
              <a:rPr lang="en-US" dirty="0"/>
              <a:t>For 1% of customers, there is a flag that their credit card was reissued because of fraudulent use of their prior card</a:t>
            </a:r>
          </a:p>
          <a:p>
            <a:pPr lvl="1"/>
            <a:r>
              <a:rPr lang="en-US" dirty="0"/>
              <a:t>Additional data available with fee, like census data for any zip code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solidFill>
            <a:schemeClr val="bg1"/>
          </a:solidFill>
          <a:ln>
            <a:solidFill>
              <a:srgbClr val="94C600"/>
            </a:solidFill>
          </a:ln>
        </p:spPr>
        <p:txBody>
          <a:bodyPr>
            <a:normAutofit fontScale="62500" lnSpcReduction="20000"/>
          </a:bodyPr>
          <a:lstStyle/>
          <a:p>
            <a:r>
              <a:rPr lang="en-US" dirty="0"/>
              <a:t>Cost</a:t>
            </a:r>
          </a:p>
          <a:p>
            <a:pPr lvl="1"/>
            <a:r>
              <a:rPr lang="en-US" dirty="0"/>
              <a:t>When a fraud goes undetected, the average loss to the company is $3K</a:t>
            </a:r>
          </a:p>
          <a:p>
            <a:pPr lvl="1"/>
            <a:r>
              <a:rPr lang="en-US" dirty="0"/>
              <a:t>Reissuing a customer card costs $50</a:t>
            </a:r>
          </a:p>
          <a:p>
            <a:pPr lvl="1"/>
            <a:r>
              <a:rPr lang="en-US" dirty="0"/>
              <a:t>When card is reissued and there is no fraud, 0.5% of customers cancel their card</a:t>
            </a:r>
          </a:p>
          <a:p>
            <a:r>
              <a:rPr lang="en-US" dirty="0"/>
              <a:t>Challenges</a:t>
            </a:r>
          </a:p>
          <a:p>
            <a:pPr lvl="1"/>
            <a:r>
              <a:rPr lang="en-US" dirty="0"/>
              <a:t>Volume of the data</a:t>
            </a:r>
          </a:p>
          <a:p>
            <a:pPr lvl="2"/>
            <a:r>
              <a:rPr lang="en-US" dirty="0"/>
              <a:t>There are 100M customers, with 30K transactions on average</a:t>
            </a:r>
          </a:p>
          <a:p>
            <a:pPr lvl="1"/>
            <a:r>
              <a:rPr lang="en-US" dirty="0"/>
              <a:t>Some credit cards were reissued but no fraud took place once investigated</a:t>
            </a:r>
          </a:p>
          <a:p>
            <a:pPr lvl="1"/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1411067" cy="99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063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Disaster Relief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solidFill>
            <a:srgbClr val="FFFFFF"/>
          </a:solidFill>
          <a:ln>
            <a:solidFill>
              <a:srgbClr val="94C600"/>
            </a:solidFill>
          </a:ln>
        </p:spPr>
        <p:txBody>
          <a:bodyPr>
            <a:normAutofit fontScale="77500" lnSpcReduction="20000"/>
          </a:bodyPr>
          <a:lstStyle/>
          <a:p>
            <a:r>
              <a:rPr lang="en-US" dirty="0"/>
              <a:t>Context</a:t>
            </a:r>
          </a:p>
          <a:p>
            <a:pPr lvl="1"/>
            <a:r>
              <a:rPr lang="en-US" dirty="0"/>
              <a:t>A non-profit organization in a remote country who would like to understand where to send relief and in what form</a:t>
            </a:r>
          </a:p>
          <a:p>
            <a:r>
              <a:rPr lang="en-US" dirty="0"/>
              <a:t>Data</a:t>
            </a:r>
          </a:p>
          <a:p>
            <a:pPr lvl="1"/>
            <a:r>
              <a:rPr lang="en-US" dirty="0"/>
              <a:t>Microblog data (eg twitter), where people are posting issues with bridges, roads, and general access to remote locations</a:t>
            </a:r>
          </a:p>
          <a:p>
            <a:pPr lvl="1"/>
            <a:r>
              <a:rPr lang="en-US" dirty="0"/>
              <a:t>Many hospitals are emailing hourly reports, with number of beds occupied and available, medical inventory status, and medical personnel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solidFill>
            <a:srgbClr val="FFFFFF"/>
          </a:solidFill>
          <a:ln>
            <a:solidFill>
              <a:srgbClr val="94C600"/>
            </a:solidFill>
          </a:ln>
        </p:spPr>
        <p:txBody>
          <a:bodyPr>
            <a:normAutofit fontScale="77500" lnSpcReduction="20000"/>
          </a:bodyPr>
          <a:lstStyle/>
          <a:p>
            <a:r>
              <a:rPr lang="en-US" dirty="0"/>
              <a:t>Cost</a:t>
            </a:r>
          </a:p>
          <a:p>
            <a:pPr lvl="1"/>
            <a:r>
              <a:rPr lang="en-US" dirty="0"/>
              <a:t>A number of coders have contacted your headquarters to volunteer their time to help with data analysis and any data collection needed </a:t>
            </a:r>
          </a:p>
          <a:p>
            <a:r>
              <a:rPr lang="en-US" dirty="0"/>
              <a:t>Challenges</a:t>
            </a:r>
          </a:p>
          <a:p>
            <a:pPr lvl="1"/>
            <a:r>
              <a:rPr lang="en-US" dirty="0"/>
              <a:t>The remote country’s government seems open to take your advice for what roads need repair, what hospitals need more personnel, etc, but will ask for detailed justifications </a:t>
            </a:r>
            <a:r>
              <a:rPr lang="en-US"/>
              <a:t>of all </a:t>
            </a:r>
            <a:r>
              <a:rPr lang="en-US" dirty="0"/>
              <a:t>your recommendations</a:t>
            </a:r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655" t="26534" b="34329"/>
          <a:stretch/>
        </p:blipFill>
        <p:spPr>
          <a:xfrm>
            <a:off x="7107757" y="533400"/>
            <a:ext cx="1770888" cy="70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516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579</TotalTime>
  <Words>1481</Words>
  <Application>Microsoft Office PowerPoint</Application>
  <PresentationFormat>On-screen Show (4:3)</PresentationFormat>
  <Paragraphs>275</Paragraphs>
  <Slides>25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Gill Sans MT</vt:lpstr>
      <vt:lpstr>Verdana</vt:lpstr>
      <vt:lpstr>Wingdings 2</vt:lpstr>
      <vt:lpstr>Solstice</vt:lpstr>
      <vt:lpstr>DSCI-560 Lecture 1: Introduction</vt:lpstr>
      <vt:lpstr>The Goal</vt:lpstr>
      <vt:lpstr>Logistics</vt:lpstr>
      <vt:lpstr>Grading</vt:lpstr>
      <vt:lpstr>Project</vt:lpstr>
      <vt:lpstr>Online Course Tools</vt:lpstr>
      <vt:lpstr>Laboratory Assignments</vt:lpstr>
      <vt:lpstr>Incorporating Videos in Presentation/Demo</vt:lpstr>
      <vt:lpstr>Reading Assignments</vt:lpstr>
      <vt:lpstr>Objectives</vt:lpstr>
      <vt:lpstr>What is Data Science</vt:lpstr>
      <vt:lpstr>Data Science Pipeline</vt:lpstr>
      <vt:lpstr>Data Science Pipeline</vt:lpstr>
      <vt:lpstr>Data Science Pipeline</vt:lpstr>
      <vt:lpstr>Data Science Pipeline</vt:lpstr>
      <vt:lpstr>Data Science Pipeline</vt:lpstr>
      <vt:lpstr>Data Science Pipeline</vt:lpstr>
      <vt:lpstr>Data Science Pipeline</vt:lpstr>
      <vt:lpstr>Failure is the Mother of Success</vt:lpstr>
      <vt:lpstr>Debugging</vt:lpstr>
      <vt:lpstr>Data May Be the Problem</vt:lpstr>
      <vt:lpstr>Product Problem</vt:lpstr>
      <vt:lpstr>Bee Problem</vt:lpstr>
      <vt:lpstr>Fraud Problem</vt:lpstr>
      <vt:lpstr>Disaster Relief Problem</vt:lpstr>
    </vt:vector>
  </TitlesOfParts>
  <Company>Office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558L</dc:title>
  <dc:creator>User</dc:creator>
  <cp:lastModifiedBy>Young Cho</cp:lastModifiedBy>
  <cp:revision>87</cp:revision>
  <dcterms:created xsi:type="dcterms:W3CDTF">2010-01-11T18:33:00Z</dcterms:created>
  <dcterms:modified xsi:type="dcterms:W3CDTF">2026-01-13T17:04:18Z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1033-11.2.0.9635</vt:lpwstr>
  </property>
</Properties>
</file>